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910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9102A"/>
                </a:solidFill>
                <a:latin typeface="Arial"/>
              </a:rPr>
              <a:t>Marginal spread on the next peso (pp)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Marginal spread</c:v>
                </c:pt>
              </c:strCache>
            </c:strRef>
          </c:tx>
          <c:spPr>
            <a:solidFill>
              <a:srgbClr val="B01030"/>
            </a:solidFill>
            <a:effectLst/>
          </c:spPr>
          <c:invertIfNegative val="0"/>
          <c:dLbls>
            <c:numFmt formatCode="0.0&quot;pp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91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103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20AD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Today · 35% LDR</c:v>
                  </c:pt>
                  <c:pt idx="1">
                    <c:v>With income visibility · 60% LDR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</c:v>
                </c:pt>
                <c:pt idx="1">
                  <c:v>6.1</c:v>
                </c:pt>
              </c:numCache>
            </c:numRef>
          </c:val>
        </c:ser>
        <c:dLbls>
          <c:numFmt formatCode="0.0&quot;pp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91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4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2D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I have built a working pricing model and two clickable product flows rather than only slides. I will demo both, and every assumption in the model is a slider you can move while I am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Sixty seconds, warmly, then move. This is the credibility opener, not a gotcha. Stori has been a bank since 2023, Revolut since 2024. Every strategy for preparing for a licence is now a strategy for spending an advantage before it is competed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challenged on 25%, open the simulator here rather than defending it verbally. Say the word assumption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Critical: do NOT propose tiering, capping or behavioural gating as new ideas. Diego owned this product and all three already exist. The contribution is which gate and which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 seconds of clicking, then talk over it. Do not narrate the UI — narrate the number that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card is the strongest thing in the deck. Do not rush it. Both components already exist in the product — the only missing input is knowledge of payday, which is precisely what income landing provides. It also happens to improve Card’s P&amp;L rather than mine, which is what makes it tradeable.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stop talking. Do not add a summary after this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212848"/>
            <a:ext cx="137160" cy="137160"/>
          </a:xfrm>
          <a:prstGeom prst="ellipse">
            <a:avLst/>
          </a:prstGeom>
          <a:solidFill>
            <a:srgbClr val="B65C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214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 ·  PRODUCT DIRECTOR, CORE MÉXICO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542032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income lands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3075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D8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México is not deposit-constrained. It is constrained by how much income it can see.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029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5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Diego Sierra, Oscar Vargas, Amanda Legge, Ana Acosta, and global product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5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B65C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already past the starting line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2A1D3D"/>
          </a:solidFill>
          <a:ln w="12700">
            <a:solidFill>
              <a:srgbClr val="4732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JUL 2026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4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 and SHCP authorise the licence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0248" y="187452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2A1D3D"/>
          </a:solidFill>
          <a:ln w="12700">
            <a:solidFill>
              <a:srgbClr val="4732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AUG 2026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774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4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México begins operating as a full bank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73568" y="187452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2A1D3D"/>
          </a:solidFill>
          <a:ln w="12700">
            <a:solidFill>
              <a:srgbClr val="4732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SEP 2026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3774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4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days in. Mercado Pago and Klar still queuing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4015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BFB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asks how I would sequence the transition into a licensed bank. From the public record, that transition is done.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9136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question is not how to prepare for a licence.</a:t>
            </a:r>
            <a:endParaRPr lang="en-US" sz="25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what to do with a window that is already closing.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1389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B65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licence uniquely unlocks: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hosting  ·  IPAB insurance, up from ~US$12.6K to ~US$201K per person  ·  payroll portability  ·  higher deposit limits  ·  investments  ·  higher-value lending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that should be running the roadmap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55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22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~16.5% of Mexican adults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18688" y="1755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US$5.7B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218688" y="2322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deliberately shrinking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755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870448" y="2322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LOAN-TO-DEPOSIT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870448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thirds sits in CETES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22208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522208" y="23225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 EVEN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22208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years faster than Brazil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310128"/>
            <a:ext cx="5989320" cy="2240280"/>
          </a:xfrm>
          <a:prstGeom prst="roundRect">
            <a:avLst>
              <a:gd name="adj" fmla="val 2449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493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marginal peso of deposit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35% LDR    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 × 25% + 0.65 × 6.49%  =  13.0% asset yield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11.5% cost of funds   =  </a:t>
            </a:r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1.5pp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956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60% LDR the same peso earns  </a:t>
            </a:r>
            <a:pPr indent="0" marL="0">
              <a:buNone/>
            </a:pPr>
            <a:r>
              <a:rPr lang="en-US" sz="1600" b="1" dirty="0">
                <a:solidFill>
                  <a:srgbClr val="0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6.1pp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0" y="324612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57790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peso is not unprofitable. It earns about a quarter of what it should — a deployment problem, not a pricing problem.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 figure in this deck is my read of a public source, treated as an assumption and cited in the appendix — you have the real ones, so please correct any of them. Sources here: Q2 2026 results release, 13 Aug 2026. The 25% net credit yield is mine, and is a slider in the model.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2.1.1  CORE VALUE PROPOSITION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 your money arrives in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i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cuenta donde llega tu dinero.”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31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account it sits 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F3E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918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lands here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57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 · remesas · plataformas · recurring deposits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53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acquisition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0248" y="2852928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3017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2918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Relationship-priced yield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657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as a spread over CETES, premium attached to income landing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553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cost of funds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73568" y="2852928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3017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2918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and protection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657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on income we can actually see, not on a thin-file score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5537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35% LDR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9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“the best rate in Mexico”?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matchable in a week by any licensed competitor, and it selects for exactly the customers we least want. Income landing is a habit. A rate is a price. Habits are defensible.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2.1.1  MASS-MARKET BUNDLES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tiering already exists. Three things I would change.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37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rate card, in force 10 August to 7 October 2026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5760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051560"/>
                <a:gridCol w="3108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E64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E64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E64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1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Cajita 24/7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1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and CETES is 6.49%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20A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Cajita Turbo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20A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Capped at MX$25,000 · one card purchase a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1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Ahorro Congelado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1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6.55–6.80%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977640"/>
            <a:ext cx="5760720" cy="1737360"/>
          </a:xfrm>
          <a:prstGeom prst="roundRect">
            <a:avLst>
              <a:gd name="adj" fmla="val 3158"/>
            </a:avLst>
          </a:prstGeom>
          <a:solidFill>
            <a:srgbClr val="F3E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416052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tiering, the cap and the behavioural gate are already built.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4590288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tier already sits at the risk-free rate, and Turbo was already cut from 15% to 13% in January. The unsolved problem is not whether to have a premium tier. It is which gate and which cap.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37960" y="1737360"/>
            <a:ext cx="5102352" cy="3977640"/>
          </a:xfrm>
          <a:prstGeom prst="roundRect">
            <a:avLst>
              <a:gd name="adj" fmla="val 1379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93992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change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79399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114032" y="2313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gate.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114032" y="2606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purchase a month proves the customer is alive, not that they bank with us. It is nearly costless to satisfy and carries almost no information. Gate the premium on income landing instead.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793992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114032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cap.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114032" y="37216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MX$25,000 gives every customer an identical yield subsidy regardless of what they bring. Scale the cap with income deposited — roughly one month of it.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793992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114032" y="4544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quote.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114032" y="483717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“13% fija” forces us to announce every cut. January’s produced “ganarás menos por tus ahorros” and “pésimas noticias para clientes Nu”. A spread over CETES reprices silently as Banxico moves.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as published by Nu México, calculated 10 Aug 2026, in force to 7 Oct 2026 — read from public pages, so treat as my assumption. One tier, two doors: documented and observed income must reach identical terms.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2.1.2  STRATEGY AND SEQUENCING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months, ordered by what expires first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19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20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principle: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that expires is licence exclusivity. Anything a licensed competitor could also do goes later. Anything only we can do right now goes first.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3E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· MONTHS 0–6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funding thesis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0156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Re-quote yield as a spread over CETES — no headline cut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portability to the cohort already visible in our data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balance sensitivity by segment, via a geographic holdout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completed first salary landings — not sign-ups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0248" y="228600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2468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· MONTHS 7–12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anchor before the window closes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40156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B: consent flow, income estimator, same tier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lines sized on observed income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GA and protection attach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LDR, and cost of funds against TIIE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73568" y="228600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468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MONTHS 13–24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anchor into ARPAC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40156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— newly licensable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nómina and higher-value lending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Employer-side offer, only now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with an HR sales motion is how a challenger loses this market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Employer-side distribution is deliberately last: the incumbents have sold to HR for thirty years, and consumer pull is the only motion where a challenger starts ahead.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2.1.3  PRICING AND YIELD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moves, and the data behind each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01368"/>
            <a:ext cx="310896" cy="310896"/>
          </a:xfrm>
          <a:prstGeom prst="ellipse">
            <a:avLst/>
          </a:prstGeom>
          <a:solidFill>
            <a:srgbClr val="F3E8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83794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78308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a spread, not a number.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203704"/>
            <a:ext cx="3310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is “13% fija”, so every cut must be announced — January’s produced “ganarás menos por tus ahorros”. Quoted against CETES, funding cost falls as Banxico moves, with no headline.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1801368"/>
            <a:ext cx="310896" cy="310896"/>
          </a:xfrm>
          <a:prstGeom prst="ellipse">
            <a:avLst/>
          </a:prstGeom>
          <a:solidFill>
            <a:srgbClr val="F3E8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98848" y="183794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178308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gate, not the size of the premium.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919472" y="2203704"/>
            <a:ext cx="3310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cuts have diminishing returns and real brand cost. Re-point the 13% at income landing rather than at one card purchase a month, and it buys a relationship instead of a pulse.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282696"/>
            <a:ext cx="310896" cy="310896"/>
          </a:xfrm>
          <a:prstGeom prst="ellipse">
            <a:avLst/>
          </a:prstGeom>
          <a:solidFill>
            <a:srgbClr val="F3E8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3192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2644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balance sensitivity. Never blend it.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685032"/>
            <a:ext cx="3310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that leave per point of rate cut — not the pass-through “deposit beta”. The base is two populations: brand-acquired and near-insensitive, and rate-shoppers. Blending them makes every cut look safe until it is not.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98848" y="3282696"/>
            <a:ext cx="310896" cy="310896"/>
          </a:xfrm>
          <a:prstGeom prst="ellipse">
            <a:avLst/>
          </a:prstGeom>
          <a:solidFill>
            <a:srgbClr val="F3E8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98848" y="33192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19472" y="32644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“deposit growth” as a goal.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919472" y="3685032"/>
            <a:ext cx="3310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35% LDR it is a cost line wearing a growth metric’s clothes. Replace with deployable deposits and cost of funds against TIIE.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1783080"/>
            <a:ext cx="3410712" cy="3931920"/>
          </a:xfrm>
          <a:prstGeom prst="roundRect">
            <a:avLst>
              <a:gd name="adj" fmla="val 1609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85632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 would ask for in week one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85632" y="2542032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sensitivity by segment, from a geographic rate holdout — not a blended number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by acquisition source: yield-acquired vs. income-acquired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concentration — does the premium cap even bind?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elasticity vs. the competitor gap, not vs. our own rate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risk-adjusted credit yield — is deployment actually accretive?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8920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9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trade-off, said out loud: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is our biggest acquisition asset and our biggest cost line at the same time. That is exactly why I would not cut the headline — I would change what it is quoted against, and what it is attached to.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B65C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2.1.3  LIVE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pricing decision, not the pricing principle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“…including the actual trade-offs and data you would use to make a pricing decision, not just the strategic principles behind it.”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523744"/>
            <a:ext cx="365760" cy="365760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4871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2514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1.6pp on the next peso. The business as the public numbers describe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483864"/>
            <a:ext cx="365760" cy="365760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538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4472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rate only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improves — and we lose about a tenth of the balances. It works once.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443984"/>
            <a:ext cx="365760" cy="365760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4498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4074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24-month plan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75888" y="4434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rate. Never touched the yield slider. LDR to ~56%, spread to ~6pp.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2377440"/>
            <a:ext cx="3136392" cy="2651760"/>
          </a:xfrm>
          <a:prstGeom prst="roundRect">
            <a:avLst>
              <a:gd name="adj" fmla="val 2069"/>
            </a:avLst>
          </a:prstGeom>
          <a:solidFill>
            <a:srgbClr val="2A1D3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2377440"/>
            <a:ext cx="3136392" cy="2651760"/>
          </a:xfrm>
          <a:prstGeom prst="roundRect">
            <a:avLst>
              <a:gd name="adj" fmla="val 2069"/>
            </a:avLst>
          </a:prstGeom>
          <a:solidFill>
            <a:srgbClr val="2A1D3D"/>
          </a:solidFill>
          <a:ln w="12700">
            <a:solidFill>
              <a:srgbClr val="5439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59952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invite the attack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2" y="2907792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6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“Move any slider. The one I would move first is balance sensitivity — push it to 6 and the rate-cut story stops working. That asymmetry is the argument: a rate cut is a one-time harvest with rising risk. Income visibility compounds.”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623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5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model and both product flows:  claude.ai/code/artifact/93da0992-7c28-4c92-81cd-f67f16a3cfaa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2.1.4  PRODUCT · TRACK 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 tu nómina — the missing input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19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22.76M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860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JOBS (IMSS)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23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July 2026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355848" y="1719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22860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ADULTS HAVE ONE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2523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payroll account at all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719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22860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THOSE AT BIG BANKS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2523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incumbent moat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33688" y="17190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days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933688" y="22860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PORT ONE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933688" y="2523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by law, worker-initiated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200400"/>
            <a:ext cx="3566160" cy="2542032"/>
          </a:xfrm>
          <a:prstGeom prst="roundRect">
            <a:avLst>
              <a:gd name="adj" fmla="val 2158"/>
            </a:avLst>
          </a:prstGeom>
          <a:solidFill>
            <a:srgbClr val="F3E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49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de nómina is the worker’s legal right. Banks cannot charge for it and cannot refuse. No employer sale required.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 moat is a corporate contract signed years ago. Portability makes it irrelevant — the decision belongs to the worker.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3200400"/>
            <a:ext cx="3566160" cy="2542032"/>
          </a:xfrm>
          <a:prstGeom prst="roundRect">
            <a:avLst>
              <a:gd name="adj" fmla="val 2158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is already built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749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already debits the Nu account. The Turbo yield gate already requires monthly card activity. Nu+ points already route back into a Cajita. Customers already choose their own payment due date.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 is not a new business line. It is the missing input to a machine that is already running.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65008" y="3200400"/>
            <a:ext cx="3566160" cy="2542032"/>
          </a:xfrm>
          <a:prstGeom prst="roundRect">
            <a:avLst>
              <a:gd name="adj" fmla="val 2158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Payday-aligned autopay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749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autopay. We have a selectable due date. What we do not have is knowing when payday is — income landing supplies exactly that.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one day after the observed payday and delinquency falls. That is crédito de nómina economics without employer deduction — reached through data, not a corporate contract.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completed first salary landings, never requests. The 11-day gap is where the funnel leaks — naming a date is the retention mechanic, not polish.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2.1.4  PRODUCT · TRACK B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observado — same tier, different proof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218688" y="178308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Mexico’s workforce is informal — 33.1 million people with no payslip to port. A formal-only strategy serves 44.6% of workers, in a country where only 37.3% of adults can access formal credit at all.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8892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626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9184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rhythm and regularity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 — US$30.76B in H1 2026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gig payouts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deposit patterns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278892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35424" y="29626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 — by policy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3291840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model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trails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and messages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45537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predicts repayment. Every one is a proxy for class, region and ethnicity.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74152" y="278892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3E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0184" y="29626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estimate — and the path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32918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our income estimate back, with the reasoning and an appeal path, before we price anyone on it.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show what raises the line: a counterfactual — the specific, reachable actions that unlock the next level, surfaced before the customer has to ask.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shipped counterfactual line-progression at Tala México — same market, same thin-file segment — and it lifted retention 10% in the hardest and riskiest segments. Nu buys retention today with a 13% yield; progression buys it more cheaply, and unlike yield it compounds, because the customer who is climbing is the one who is repaying.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B65C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 RESPONSIBLE AI AND PERSONALISATION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rule, then the guardrails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47088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Personalisation may only move a price in the customer’s favour.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626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B65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 eligibility, limits, timing and experience. It never decides that this customer will tolerate a worse price.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56432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in mass-market pricing AI is not a biased model. It is a model working exactly as designed: price elasticity correlates with financial desperation, so a model optimising for willingness-to-pay charges the most to those least able to bear it. That is not a bug you catch in monitoring — it is the objective function. So constrain the objective rather than audit the outcome.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3401568"/>
            <a:ext cx="4873752" cy="2286000"/>
          </a:xfrm>
          <a:prstGeom prst="roundRect">
            <a:avLst>
              <a:gd name="adj" fmla="val 2400"/>
            </a:avLst>
          </a:prstGeom>
          <a:solidFill>
            <a:srgbClr val="2A1D3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3401568"/>
            <a:ext cx="4873752" cy="2286000"/>
          </a:xfrm>
          <a:prstGeom prst="roundRect">
            <a:avLst>
              <a:gd name="adj" fmla="val 2400"/>
            </a:avLst>
          </a:prstGeom>
          <a:solidFill>
            <a:srgbClr val="2A1D3D"/>
          </a:solidFill>
          <a:ln w="12700">
            <a:solidFill>
              <a:srgbClr val="473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22592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3895344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6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features by policy, not by review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6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tested on outcomes — approval, limit and price parity by gender and state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6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that costs nothing to decline. If declining raises your price, it is not consent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6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recourse — every capped or declined customer sees what would have to be different, not a reason code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6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governance under CNBV; reasons explainable to CONDUSEF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ENIF 2024 shows a 10 percentage-point gender gap in formal credit access — 28.2% of men against 18.3% of women. We should be closing that, not encoding it.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2.1.5  TEAM AND ORG DESIGN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the pod, not just staffing it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669280" cy="3566160"/>
          </a:xfrm>
          <a:prstGeom prst="roundRect">
            <a:avLst>
              <a:gd name="adj" fmla="val 1538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 I would build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18688" y="23591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proposition, bundles, pricing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43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· Income &amp; Onboarding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28437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 and B acquisition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PM/APM · Pricing &amp; Yield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18688" y="33284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the holdouts, the rate-committee interface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813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lead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18688" y="3813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open role — placed on Track B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18688" y="4297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analysts (pricing, credit-adjacent) + 1 data scientist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782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Dotted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218688" y="47823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· legal and regulatory · treasury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1783080"/>
            <a:ext cx="5148072" cy="3566160"/>
          </a:xfrm>
          <a:prstGeom prst="roundRect">
            <a:avLst>
              <a:gd name="adj" fmla="val 1538"/>
            </a:avLst>
          </a:prstGeom>
          <a:solidFill>
            <a:srgbClr val="F3E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org calls I would defend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48272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the pricing analyst before the second PM.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6700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here is decision quality, not shipping throughput.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748272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3364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ask to own Card or Account surfaces.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spec and the customer-level P&amp;L. Asking for org control costs six months and the relationship — and you lose anyway.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748272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43525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designer on Track B, not Track A.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059168" y="46451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is a known pattern. Track B’s consent and explanation flows are where craft decides whether it works at all.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two open roles on the team, and the first PM reporting into this structure — how the pod is shaped now is how it scales.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 CROSS-FUNCTIONAL ALIGNMENT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what we are arguing about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105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the Credit Card roadmap collides with a mass-market bundle on a regulatory clock. 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9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not try to win that argument on its own terms.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350008"/>
            <a:ext cx="292608" cy="292608"/>
          </a:xfrm>
          <a:prstGeom prst="ellipse">
            <a:avLst/>
          </a:prstGeom>
          <a:solidFill>
            <a:srgbClr val="F3E8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3774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one P&amp;L, not three roadmaps.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86207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does not own Card or GBA — so Core should own the currency. “My roadmap versus yours” cannot be won on evidence. “Which sequence makes this customer worth more” can.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0248" y="2350008"/>
            <a:ext cx="292608" cy="292608"/>
          </a:xfrm>
          <a:prstGeom prst="ellipse">
            <a:avLst/>
          </a:prstGeom>
          <a:solidFill>
            <a:srgbClr val="F3E8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70248" y="23774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assets, not favours.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86207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Concretely: payday-aligned autopay. Card has autopay and a selectable due date; what it lacks is knowing when payday is. Income landing supplies it, and the delinquency gain lands on their P&amp;L. They give me placement.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2350008"/>
            <a:ext cx="292608" cy="292608"/>
          </a:xfrm>
          <a:prstGeom prst="ellipse">
            <a:avLst/>
          </a:prstGeom>
          <a:solidFill>
            <a:srgbClr val="F3E8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73568" y="23774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let the regulatory date be my deadline.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86207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it is my launch date it is my problem and their favour. It is a shared compliance exposure — agreed with Legal before the conversation with Card, so it arrives as a fact.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041648"/>
            <a:ext cx="292608" cy="292608"/>
          </a:xfrm>
          <a:prstGeom prst="ellipse">
            <a:avLst/>
          </a:prstGeom>
          <a:solidFill>
            <a:srgbClr val="F3E8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40690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Pre-agree the escalation path before you need it.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69264" y="455371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Diego and the Card/GBA leads: what is mine, what is theirs, what goes up, and a time-box. Escalating without one wins a decision and costs the relationship.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70248" y="4041648"/>
            <a:ext cx="292608" cy="292608"/>
          </a:xfrm>
          <a:prstGeom prst="ellipse">
            <a:avLst/>
          </a:prstGeom>
          <a:solidFill>
            <a:srgbClr val="F3E8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70248" y="40690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672584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smaller ask.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672584" y="455371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Card genuinely cannot move, I ship without the card component and add it later. Shipping on time beats winning the argument.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 PRIORITISATION AND GLOBAL ALIGNMENT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priorities, and why in this order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1764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what we measure about deposits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350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1–6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47488" y="176479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β via a geographic holdout. Re-quote yield as a spread. Retire deposit growth in favour of deployable deposits and cost of funds against TIIE.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30768" y="176479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because it is nearly free, it is fast, and it is the evidence base for everything else. A new person with no credibility balance should spend month one producing evidence, not asking for headcount.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9169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28986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Track A to the cohort we can already detect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34838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4–16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047488" y="289864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for customers whose payroll pattern is already in our data. Measure completed first salary landings.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289864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because it is the expiring opportunity.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050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40325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Track B’s consent and estimate spine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25296" y="4617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E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10–26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403250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whole product — the consent flow, the estimator and the fairness harness, so H2 is an extension rather than a new build.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403250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because it has the longest lead time, so it has to start early even though it lands late.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230368"/>
            <a:ext cx="11073384" cy="1060704"/>
          </a:xfrm>
          <a:prstGeom prst="roundRect">
            <a:avLst>
              <a:gd name="adj" fmla="val 5172"/>
            </a:avLst>
          </a:prstGeom>
          <a:solidFill>
            <a:srgbClr val="F3E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54315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820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México globally: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is not “México is different”, it is “México is the proving ground”. Every market Nu enters next will arrive newly licensed, with a low LDR and no income visibility — exactly where México is now. Asks framed as local exceptions lose. Asks framed as reusable platform capability win.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RIGOUR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assumed, and what I would ask on day one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86400" cy="3931920"/>
          </a:xfrm>
          <a:prstGeom prst="roundRect">
            <a:avLst>
              <a:gd name="adj" fmla="val 1395"/>
            </a:avLst>
          </a:prstGeom>
          <a:solidFill>
            <a:srgbClr val="FAF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as assumptions — including your own numbers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59152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figures, read from public sources: 35% LDR and US$5.7B deposits (Q2 2026 release); the published rate card; Nu+ point value. I have treated all of these as assumptions rather than facts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Mine: 25% net credit yield after expected losses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Mine: 28% LDR floor with no income signal, 70% ceiling with it, reached at 45% attach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Mine: 8% income landing today — this calibrates to a 35.5% LDR against the 35% reported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Mine: balance sensitivity constant. It is not — it rises once a licensed competitor advertises against us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27648" y="1783080"/>
            <a:ext cx="5312664" cy="3931920"/>
          </a:xfrm>
          <a:prstGeom prst="roundRect">
            <a:avLst>
              <a:gd name="adj" fmla="val 1395"/>
            </a:avLst>
          </a:prstGeom>
          <a:solidFill>
            <a:srgbClr val="F3E8FD"/>
          </a:solidFill>
          <a:ln w="12700">
            <a:solidFill>
              <a:srgbClr val="E2DC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questions for week one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59152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balance sensitivity blended, or do you have it by segment?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the US$5.7B sits in the top decile of balances?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income-landing rate today? I assumed 8%.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real risk-adjusted marginal credit yield?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15→11.5 cut do to new acquisition, not just retention?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retention hold — brand, inertia, or switching cost? That answer changes the entire pricing strategy.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expect at least one of these assumptions to be wrong in a way that changes the plan. Finding out which is the first job.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9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286000"/>
            <a:ext cx="137160" cy="137160"/>
          </a:xfrm>
          <a:prstGeom prst="ellipse">
            <a:avLst/>
          </a:prstGeom>
          <a:solidFill>
            <a:srgbClr val="B65C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65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633472"/>
            <a:ext cx="11064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short of deposits.</a:t>
            </a:r>
            <a:endParaRPr lang="en-US" sz="31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short of visible income —</a:t>
            </a:r>
            <a:endParaRPr lang="en-US" sz="31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is a product problem before it is a pricing one.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120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model and both product flows:  claude.ai/code/artifact/93da0992-7c28-4c92-81cd-f67f16a3cfaa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0936"/>
            <a:ext cx="100584" cy="100584"/>
          </a:xfrm>
          <a:prstGeom prst="ellipse">
            <a:avLst/>
          </a:prstGeom>
          <a:solidFill>
            <a:srgbClr val="820AD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8096" y="54864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20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91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Holdings Q2 2026 results — </a:t>
            </a:r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 customers, US$5.7B Mexico deposits, 35% loan-to-deposit, ARPAC US$17.10, cost of deposits at 88% of interbank rates, Mexico break-even in Q1 2026.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CNBV / SHCP — </a:t>
            </a:r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licence authorised 10 July 2026; Nu México operating as a bank from 6 August 2026; SOFIPO conversion completed.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 vs. SOFIPO — </a:t>
            </a:r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insurance from roughly US$12,614 to roughly US$201,000 per person.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México — </a:t>
            </a:r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rate 6.50%; CETES 28-day 6.49% at the auction of 1 September 2026; remittances US$30.76B in H1 2026.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/ CNBV ENIF 2024 — </a:t>
            </a:r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of adults hold a formal product; 63% a savings account; 37.3% access to formal credit (men 28.2%, women 18.3%).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ENOE Q2 2026 — </a:t>
            </a:r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55.1% labour informality, 33.1 million workers. IMSS July 2026 — 22.76 million formal jobs.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 / Banxico — </a:t>
            </a:r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de nómina: worker-initiated, free of charge, begins within 11 business days, cancellable in 3.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México product pages, Sept 2026 — </a:t>
            </a:r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rate card (Cajita 24/7 6.50%, Cajita Turbo 13.00% capped MX$25,000 on one card purchase a month, Ahorro Congelado 6.55–6.80%); credit-card automatic payment, funded from the Nu debit account, on a customer-selected cut-off or due date; Nu+ rewards, 3% in points at MX$0.10 a point on a MX$33.34 minimum, redeemable into a Cajita.</a:t>
            </a:r>
            <a:endParaRPr lang="en-US" sz="12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— </a:t>
            </a:r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 licensed 2023, Revolut 2024; Mercado Pago and Klar applications pending with CNBV. BBVA México ~26.7% market share, strong in cards and payroll lending.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sources only. Every figure not attributed above is my assumption and is marked as such in the model.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Income Lands - Core Mexico Business Case</dc:title>
  <dc:subject>PptxGenJS Presentation</dc:subject>
  <dc:creator>Product Director candidate, Core Mexico</dc:creator>
  <cp:lastModifiedBy>Product Director candidate, Core Mexico</cp:lastModifiedBy>
  <cp:revision>1</cp:revision>
  <dcterms:created xsi:type="dcterms:W3CDTF">2026-09-02T17:11:39Z</dcterms:created>
  <dcterms:modified xsi:type="dcterms:W3CDTF">2026-09-02T17:11:39Z</dcterms:modified>
</cp:coreProperties>
</file>