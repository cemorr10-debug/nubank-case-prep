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0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9102A"/>
                </a:solidFill>
                <a:latin typeface="Arial"/>
              </a:rPr>
              <a:t>Marginal spread on the next peso (pp)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spread</c:v>
                </c:pt>
              </c:strCache>
            </c:strRef>
          </c:tx>
          <c:spPr>
            <a:solidFill>
              <a:srgbClr val="B01030"/>
            </a:solidFill>
            <a:effectLst/>
          </c:spPr>
          <c:invertIfNegative val="0"/>
          <c:dLbls>
            <c:numFmt formatCode="0.0&quot;pp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91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0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20AD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Today · 35% LDR</c:v>
                  </c:pt>
                  <c:pt idx="1">
                    <c:v>With income visibility · 60% LDR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</c:v>
                </c:pt>
                <c:pt idx="1">
                  <c:v>6.1</c:v>
                </c:pt>
              </c:numCache>
            </c:numRef>
          </c:val>
        </c:ser>
        <c:dLbls>
          <c:numFmt formatCode="0.0&quot;pp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91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4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 have built a working pricing model and two clickable product flows rather than only slides. I will demo both, and every assumption in the model is a slider you can move while I am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Sixty seconds, warmly, then move. This is the credibility opener, not a gotcha. Stori has been a bank since 2023, Revolut since 2024. Every strategy for preparing for a licence is now a strategy for spending an advantage before it is competed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on 25%, open the simulator here rather than defending it verbally. Say the word assumption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Critical: do NOT propose tiering, capping or behavioural gating as new ideas. Diego owned this product and all three already exist. The contribution is which gate and which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 seconds of clicking, then talk over it. Do not narrate the UI — narrate the number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card is the strongest thing in the deck. Do not rush it. Both components already exist in the product — the only missing input is knowledge of payday, which is precisely what income landing provides. It also happens to improve Card’s P&amp;L rather than mine, which is what makes it tradeable.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 talking. Do not add a summary after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12848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14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 ·  PRODUCT DIRECTOR, CORE MÉXICO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income lands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D8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is not deposit-constrained. It is constrained by how much income it can see.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Diego Sierra, Oscar Vargas, Amanda Legge, Ana Acosta, and global product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already past the starting line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JUL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and SHCP authorise the licence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7024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AUG 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begins operating as a full bank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2026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 in. Mercado Pago and Klar still queuing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01568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BFB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how I would sequence the transition into a licensed bank. From the public record, that transition is done.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not how to prepare for a licence.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to do with a window that is already closing.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389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licence uniquely unlocks: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hosting  ·  IPAB insurance, up from ~US$12.6K to ~US$201K per person  ·  payroll portability  ·  higher deposit limits  ·  investments  ·  higher-value lending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should be running the roadmap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~16.5% of Mexican adults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deliberately shrinking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LOAN-TO-DEPOSIT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sits in CETES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2208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EVEN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years faster than Brazil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989320" cy="2240280"/>
          </a:xfrm>
          <a:prstGeom prst="roundRect">
            <a:avLst>
              <a:gd name="adj" fmla="val 244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marginal peso of deposit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  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× 25% + 0.65 × 6.49%  =  13.0% asset yield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11.5% cost of funds   =  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B01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1.5pp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956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60% LDR the same peso earns  </a:t>
            </a:r>
            <a:pPr indent="0" marL="0">
              <a:buNone/>
            </a:pPr>
            <a:r>
              <a:rPr lang="en-US" sz="1600" b="1" dirty="0">
                <a:solidFill>
                  <a:srgbClr val="0E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6.1pp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32461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577900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peso is not unprofitable. It earns about a quarter of what it should — a deployment problem, not a pricing problem.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 figure in this deck is my read of a public source, treated as an assumption and cited in the appendix — you have the real ones, so please correct any of them. Sources here: Q2 2026 results release, 13 Aug 2026. The 25% net credit yield is mine, and is a slider in the model.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CORE VALUE PROPOSITION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 your money arrives in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i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cuenta donde llega tu dinero.”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31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account it sits 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lands here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· remesas · plataformas · recurring deposits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acquisition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7024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Relationship-priced yield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as a spread over CETES, premium attached to income landing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cost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and protection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on income we can actually see, not on a thin-file score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35% LDR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“the best rate in Mexico”?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is matchable in a week by any licensed competitor, and it selects for exactly the customers we least want. Income landing is a habit. A rate is a price. Habits are defensible.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MASS-MARKET BUNDLES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 already exists. Three things I would change.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card, in force 10 August to 7 October 2026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84832"/>
          <a:ext cx="5760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31089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24/7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and CETES is 6.49%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Turbo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Capped at MX$25,000 · one card purchase a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Congelado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6.55–6.80%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77640"/>
            <a:ext cx="5760720" cy="1737360"/>
          </a:xfrm>
          <a:prstGeom prst="roundRect">
            <a:avLst>
              <a:gd name="adj" fmla="val 3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160520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tiering, the cap and the behavioural gate are already built.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590288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tier already sits at the risk-free rate, and Turbo was already cut from 15% to 13% in January. The unsolved problem is not whether to have a premium tier. It is which gate and which cap.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1737360"/>
            <a:ext cx="5102352" cy="3977640"/>
          </a:xfrm>
          <a:prstGeom prst="roundRect">
            <a:avLst>
              <a:gd name="adj" fmla="val 137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93992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change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93992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114032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gate.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114032" y="2606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card purchase a month proves the customer is alive, not that they bank with us. It is nearly costless to satisfy and carries almost no information. Gate the premium on income landing instead.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793992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14032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cap.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14032" y="372160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MX$25,000 gives every customer an identical yield subsidy regardless of what they bring. Scale the cap with income deposited — roughly one month of it.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4032" y="45445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quote.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114032" y="483717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“13% fija” forces us to announce every cut. January’s produced “ganarás menos por tus ahorros” and “pésimas noticias para clientes Nu”. A spread over CETES reprices silently as Banxico moves.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as published by Nu México, calculated 10 Aug 2026, in force to 7 Oct 2026 — read from public pages, so treat as my assumption. One tier, two doors: documented and observed income must reach identical terms.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2.1.2  STRATEGY AND SEQUENCING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months, ordered by what expires first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principle: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that expires is licence exclusivity. Anything a licensed competitor could also do goes later. Anything only we can do right now goes first.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MONTHS 0–6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funding thesis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Re-quote yield as a spread over CETES — no headline cut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portability to the cohort already visible in our data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balance sensitivity by segment, via a geographic holdout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 — not sign-ups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024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MONTHS 7–12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anchor before the window closes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B: consent flow, income estimator, same tier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lines sized on observed income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GA and protection attach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LDR, and cost of funds against TIIE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MONTHS 13–24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anchor into ARPAC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 — newly licensable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nómina and higher-value lending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offer, only now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with an HR sales motion is how a challenger loses this market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ship the simple version first: when I tested this in México, a plain loan-number ladder captured about four fifths of what a fully personalised causal model achieved. Personalisation earns its place later.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PRICING AND YIELD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and the data behind each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a spread, not a number.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 is “13% fija”, so every cut must be announced — January’s produced “ganarás menos por tus ahorros”. Quoted against CETES, funding cost falls as Banxico moves, with no headline.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9884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9884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gate, not the size of the premium.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1947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cuts have diminishing returns and real brand cost. Re-point the 13% at income landing rather than at one card purchase a month, and it buys a relationship instead of a pulse.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balance sensitivity. Never blend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that leave per point of rate cut — not the pass-through “deposit beta”. The base is two populations: brand-acquired and near-insensitive, and rate-shoppers. Blending them makes every cut look safe until it is not.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9884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“deposit growth” as a goal.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it is a cost line wearing a growth metric’s clothes. Replace with deployable deposits and cost of funds against TIIE.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0" y="1783080"/>
            <a:ext cx="3410712" cy="3931920"/>
          </a:xfrm>
          <a:prstGeom prst="roundRect">
            <a:avLst>
              <a:gd name="adj" fmla="val 1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8563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test I would run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85632" y="23317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485632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randomised at the Turbo gate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85632" y="28803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85632" y="30632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gated on income landing, vs. on one card purchase, vs. control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85632" y="34290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485632" y="36118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retention · blended cost of funds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485632" y="397764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485632" y="4160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transaction volume — Card’s metric, agreed with them before launch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485632" y="45262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485632" y="47091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or positive contribution margin. Do no harm.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485632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FIRST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485632" y="52578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 and power before launch, never after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8920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trade-off, said out loud: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is our biggest acquisition asset and our biggest cost line at the same time. That is exactly why I would not cut the headline — I would change what it is quoted against, and what it is attached to.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LIVE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decision, not the pricing principle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8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“…including the actual trade-offs and data you would use to make a pricing decision, not just the strategic principles behind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2374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1.6pp on the next peso. The business as the public numbers describe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472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rate only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improves — and we lose about a tenth of the balances. It works once.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4074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24-month 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75888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rate. Never touched the yield slider. LDR to ~56%, spread to ~6pp.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5439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59952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invite the attack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907792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any slider. The one I would move first is balance sensitivity — push it to 6 and the rate-cut story stops working. That asymmetry is the argument: a rate cut is a one-time harvest with rising risk. Income visibility compounds.”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tu nómina — the missing input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JOBS (IMSS)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July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ADULTS HAVE ONE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payroll account at all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AT BIG BANKS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incumbent moat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17190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933688" y="22860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PORT ONE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by law, worker-initiated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 is the worker’s legal right. Banks cannot charge for it and cannot refuse. No employer sale required.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moat is a corporate contract signed years ago. Portability makes it irrelevant — the decision belongs to the worker.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1596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is already built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Autopay already debits the Nu account. The Turbo yield gate already requires monthly card activity. Nu+ points already route back into a Cajita. Customers already choose their own payment due date.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is not a new business line. It is the missing input to a machine that is already running.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6500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Payday-aligned autopay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autopay. We have a selectable due date. What we do not have is knowing when payday is — income landing supplies exactly that.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one day after the observed payday and delinquency falls. That is crédito de nómina economics without employer deduction — reached through data, not a corporate contract.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landings, never requests. The 11-day gap is where the funnel leaks — naming a date is the retention mechanic, not polish.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B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observado — same tier, different proof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18688" y="1783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Mexico’s workforce is informal — 33.1 million people with no payslip to port. A formal-only strategy serves 44.6% of workers, in a country where only 37.3% of adults can access formal credit at 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rhythm and regularity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Remittances — US$30.76B in H1 2026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 gig payouts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deposit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— by policy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91840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model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trails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and messages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45537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predicts repayment. Every one is a proxy for class, region and ethnicity.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29626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estimate — and the path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273552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customer as if they had repaid on time, then show the limit that unlocks — a commitment, not a score.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40233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MÉXICO, THIS SEGMENT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424281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−1.43%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30184" y="45720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rate, ITT, at 10 days pre-due. 95% CI −2.00 to −0.90. No significant move at 3 days.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on receiving the offer, 3 days performed the same as 10 (−2.31% vs −2.25%). Ten days won the diluted read because more customers received an offer at all — 56% of loans against 38%.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RESPONSIBLE AI AND PERSONALISATION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rule, then the guardrails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may only move a price in the customer’s favour.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626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decides eligibility, limits, timing and experience. It never decides that this customer will tolerate a worse price.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in mass-market pricing AI is not a biased model. It is a model working exactly as designed: price elasticity correlates with financial desperation, so a model optimising for willingness-to-pay charges the most to those least able to bear it. That is not a bug you catch in monitoring — it is the objective function. So constrain the objective rather than audit the outcome.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22592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895344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features by policy, not by review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 on outcomes — approval, limit and price parity by gender and state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that costs nothing to decline. If declining raises your price, it is not consent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recourse — every capped or declined customer sees what would have to be different, not a reason code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governance under CNBV; reasons explainable to CONDUSEF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ENIF 2024 shows a 10 percentage-point gender gap in formal credit access — 28.2% of men against 18.3% of women. We should be closing that, not encoding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2.1.5  TEAM AND ORG DESIGN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pod, not just staffing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I would build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2359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proposition, bundles, pricing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437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Income &amp; Onboarding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843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and B acquisition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28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PM/APM · Pricing &amp;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3328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the holdouts, the rate-committee interface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13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38130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open role — placed on Track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2976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18688" y="4297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analysts (pricing, credit-adjacent) + 1 data scientist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782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18688" y="47823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· legal and regulatory · treasury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1783080"/>
            <a:ext cx="5148072" cy="3566160"/>
          </a:xfrm>
          <a:prstGeom prst="roundRect">
            <a:avLst>
              <a:gd name="adj" fmla="val 153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org calls I would defend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48272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2377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the pricing analyst before the second PM.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6700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here is decision quality, not shipping throughput.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ask to own Card or Account surfaces.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36576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spec and the customer-level P&amp;L. Asking for org control costs six months and the relationship — and you lose anyway.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designer on Track B, not Track 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59168" y="46451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is a known pattern. Track B’s consent and explanation flows are where craft decides whether it works at all.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open roles on the team, and the first PM reporting into this structure — how the pod is shaped now is how it scales.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CROSS-FUNCTIONAL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what we are arguing about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the Credit Card roadmap collides with a mass-market bundle on a regulatory clock. 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not try to win that argument on its own terms.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one P&amp;L, not three roadmaps.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owns neither Card nor GBA, so Core should own the currency. At Tala my launch criterion was neutral-or-positive monthly credit margin — not my feature’s engagement, not Credit’s default rate. One number downstream of all of us.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024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7024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assets, not favours.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Concretely: payday-aligned autopay. Card has autopay and a selectable due date; what it lacks is knowing when payday is. Income landing supplies it, and the delinquency gain lands on their P&amp;L. They give me placement.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7356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let the regulatory date be my deadline.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is my launch date it is my problem and their favour. It is a shared compliance exposure — agreed with Legal before the conversation with Card, so it arrives as a fact.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Pre-agree the escalation path before you need it.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Diego and the Card/GBA leads: what is mine, what is theirs, what goes up, and a time-box. Escalating without one wins a decision and costs the relationship.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024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7024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smaller ask.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Card genuinely cannot move, I ship without the card component and add it later. Shipping on time beats winning the argument.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7356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7356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7590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disagreement in a test design.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to end a roadmap argument is to convert it into a testable question with a pre-agreed MDE and a guardrail metric the other team chooses. Then we argue about the design, which is solvable — instead of about priority, which is not.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PRIORITISATION AND GLOBAL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priorities, and why in this order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647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we measure about deposits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3500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76479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gate test above as a geographic holdout, with MDE and guardrails pre-registered. Re-quote yield as a spread. Retire deposit growth in favour of deployable deposits and cost of funds against TIIE.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30768" y="17647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because it is nearly free, it is fast, and it is the evidence base for everything else. A new person with no credibility balance should spend month one producing evidence, not asking for headcount.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169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8986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Track A to the cohort we can already detect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4838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4–16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89864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for customers whose payroll pattern is already in our data. Measure completed first salary landings.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9864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because it is the expiring opportunity.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50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4032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Track B’s consent and estimate spine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617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10–26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403250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product — the consent flow, the estimator and the fairness harness, so H2 is an extension rather than a new build.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032504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because it has the longest lead time, so it has to start early even though it lands late.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230368"/>
            <a:ext cx="11073384" cy="1060704"/>
          </a:xfrm>
          <a:prstGeom prst="roundRect">
            <a:avLst>
              <a:gd name="adj" fmla="val 5172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4315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México globally: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argument is not “México is different”, it is “México is the proving ground”. Every market Nu enters next will arrive newly licensed, with a low LDR and no income visibility — exactly where México is now. Asks framed as local exceptions lose. Asks framed as reusable platform capability win.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RIGOUR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assumed, and what I would ask on day one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as assumptions — including your own numbers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figures, read from public sources: 35% LDR and US$5.7B deposits (Q2 2026 release); the published rate card; Nu+ point value. I have treated all of these as assumptions rather than facts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25% net credit yield after expected losses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28% LDR floor with no income signal, 70% ceiling with it, reached at 45% attach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8% income landing today — this calibrates to a 35.5% LDR against the 35% reported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balance sensitivity constant. It is not — it rises once a licensed competitor advertises against us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312664" cy="3931920"/>
          </a:xfrm>
          <a:prstGeom prst="roundRect">
            <a:avLst>
              <a:gd name="adj" fmla="val 1395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 for week 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59152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balance sensitivity blended, or do you have it by segment?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the US$5.7B sits in the top decile of balances?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income-landing rate today? I assumed 8%.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real risk-adjusted marginal credit yield?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15→11.5 cut do to new acquisition, not just retention?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retention hold — brand, inertia, or switching cost? That answer changes the entire pricing strategy.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expect at least one of these assumptions to be wrong in a way that changes the plan. Finding out which is the first job.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33472"/>
            <a:ext cx="11064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short of deposits.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short of visible income —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a product problem before it is a pricing 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120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Holdings Q2 2026 results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customers, US$5.7B Mexico deposits, 35% loan-to-deposit, ARPAC US$17.10, cost of deposits at 88% of interbank rates, Mexico break-even in Q1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/ SHCP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licence authorised 10 July 2026; Nu México operating as a bank from 6 August 2026; SOFIPO conversion completed.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vs. SOFIPO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insurance from roughly US$12,614 to roughly US$201,000 per person.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México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rate 6.50%; CETES 28-day 6.49% at the auction of 1 September 2026; remittances US$30.76B in H1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/ CNBV ENIF 2024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of adults hold a formal product; 63% a savings account; 37.3% access to formal credit (men 28.2%, women 18.3%).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ENOE Q2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55.1% labour informality, 33.1 million workers. IMSS July 2026 — 22.76 million formal jobs.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 / Banxico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nómina: worker-initiated, free of charge, begins within 11 business days, cancellable in 3.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product pages, Sept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 (Cajita 24/7 6.50%, Cajita Turbo 13.00% capped MX$25,000 on one card purchase a month, Ahorro Congelado 6.55–6.80%); credit-card automatic payment, funded from the Nu debit account, on a customer-selected cut-off or due date; Nu+ rewards, 3% in points at MX$0.10 a point on a MX$33.34 minimum, redeemable into a Cajita.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 licensed 2023, Revolut 2024; Mercado Pago and Klar applications pending with CNBV. BBVA México ~26.7% market share, strong in cards and payroll lending.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 only. Every figure not attributed above is my assumption and is marked as such in the model.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Income Lands - Core Mexico Business Case</dc:title>
  <dc:subject>PptxGenJS Presentation</dc:subject>
  <dc:creator>Product Director candidate, Core Mexico</dc:creator>
  <cp:lastModifiedBy>Product Director candidate, Core Mexico</cp:lastModifiedBy>
  <cp:revision>1</cp:revision>
  <dcterms:created xsi:type="dcterms:W3CDTF">2026-09-02T17:29:39Z</dcterms:created>
  <dcterms:modified xsi:type="dcterms:W3CDTF">2026-09-02T17:29:39Z</dcterms:modified>
</cp:coreProperties>
</file>