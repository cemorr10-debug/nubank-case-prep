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9102A"/>
                </a:solidFill>
                <a:latin typeface="Arial"/>
              </a:defRPr>
            </a:pPr>
            <a:r>
              <a:rPr sz="1200" b="0" i="0" u="none" strike="noStrike">
                <a:solidFill>
                  <a:srgbClr val="19102A"/>
                </a:solidFill>
                <a:latin typeface="Arial"/>
              </a:rPr>
              <a:t>Marginal spread on the next peso (pp)</a:t>
            </a:r>
          </a:p>
        </c:rich>
      </c:tx>
      <c:layout/>
      <c:overlay val="0"/>
    </c:title>
    <c:autoTitleDeleted val="0"/>
    <c:plotArea>
      <c:layout/>
      <c:barChart>
        <c:barDir val="col"/>
        <c:grouping val="clustered"/>
        <c:varyColors val="0"/>
        <c:ser>
          <c:idx val="0"/>
          <c:order val="0"/>
          <c:tx>
            <c:strRef>
              <c:f>Sheet1!$B$1</c:f>
              <c:strCache>
                <c:ptCount val="1"/>
                <c:pt idx="0">
                  <c:v>Marginal spread</c:v>
                </c:pt>
              </c:strCache>
            </c:strRef>
          </c:tx>
          <c:spPr>
            <a:solidFill>
              <a:srgbClr val="B01030"/>
            </a:solidFill>
            <a:effectLst/>
          </c:spPr>
          <c:invertIfNegative val="0"/>
          <c:dLbls>
            <c:numFmt formatCode="0.0&quot;pp&quot;" sourceLinked="0"/>
            <c:txPr>
              <a:bodyPr/>
              <a:lstStyle/>
              <a:p>
                <a:pPr>
                  <a:defRPr b="0" i="0" strike="noStrike" sz="1300" u="none">
                    <a:solidFill>
                      <a:srgbClr val="19102A"/>
                    </a:solidFill>
                    <a:latin typeface="Arial"/>
                  </a:defRPr>
                </a:pPr>
              </a:p>
            </c:txPr>
            <c:showLegendKey val="0"/>
            <c:showVal val="1"/>
            <c:showCatName val="0"/>
            <c:showSerName val="0"/>
            <c:showPercent val="0"/>
            <c:showBubbleSize val="0"/>
            <c:showLeaderLines val="0"/>
          </c:dLbls>
          <c:dPt>
            <c:idx val="0"/>
            <c:invertIfNegative val="0"/>
            <c:bubble3D val="0"/>
            <c:spPr>
              <a:solidFill>
                <a:srgbClr val="B01030"/>
              </a:solidFill>
              <a:effectLst/>
            </c:spPr>
          </c:dPt>
          <c:dPt>
            <c:idx val="1"/>
            <c:invertIfNegative val="0"/>
            <c:bubble3D val="0"/>
            <c:spPr>
              <a:solidFill>
                <a:srgbClr val="820AD1"/>
              </a:solidFill>
              <a:effectLst/>
            </c:spPr>
          </c:dPt>
          <c:cat>
            <c:multiLvlStrRef>
              <c:f>Sheet1!$A$2:$A$3</c:f>
              <c:multiLvlStrCache>
                <c:ptCount val="2"/>
                <c:lvl>
                  <c:pt idx="0">
                    <c:v>Today · 35% LDR</c:v>
                  </c:pt>
                  <c:pt idx="1">
                    <c:v>With income visibility · 60% LDR</c:v>
                  </c:pt>
                </c:lvl>
              </c:multiLvlStrCache>
            </c:multiLvlStrRef>
          </c:cat>
          <c:val>
            <c:numRef>
              <c:f>Sheet1!$B$2:$B$3</c:f>
              <c:numCache>
                <c:formatCode>General</c:formatCode>
                <c:ptCount val="2"/>
                <c:pt idx="0">
                  <c:v>1.5</c:v>
                </c:pt>
                <c:pt idx="1">
                  <c:v>6.1</c:v>
                </c:pt>
              </c:numCache>
            </c:numRef>
          </c:val>
        </c:ser>
        <c:dLbls>
          <c:numFmt formatCode="0.0&quot;pp&quot;" sourceLinked="0"/>
          <c:txPr>
            <a:bodyPr/>
            <a:lstStyle/>
            <a:p>
              <a:pPr>
                <a:defRPr b="0" i="0" strike="noStrike" sz="1300" u="none">
                  <a:solidFill>
                    <a:srgbClr val="19102A"/>
                  </a:solidFill>
                  <a:latin typeface="Arial"/>
                </a:defRPr>
              </a:pPr>
            </a:p>
          </c:txPr>
          <c:showLegendKey val="0"/>
          <c:showVal val="1"/>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484"/>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12700" cap="flat">
              <a:solidFill>
                <a:srgbClr val="E2DC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 have built a working pricing model and two clickable product flows rather than only slides. I will demo both, and every assumption in the model is a slider you can move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Sixty seconds, warmly, then move. This is the credibility opener, not a gotcha. Stori has been a bank since 2023, Revolut since 2024. Every strategy for preparing for a licence is now a strategy for spending an advantage before it is competed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challenged on 25%, open the simulator here rather than defending it verbally. Say the word assumption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tiering, a cap or a behavioural gate as new ideas — Diego owned this product and all three exist. Lead by saying so. The contribution is the anchor: income landing rather than a card swipe, and a cap that scales with income rather than a flat one. Budget-neutral is the line that makes this sellable to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seconds of clicking, then talk over it. Do not narrate the UI — narrate the number that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card is the moat argument and the one to land: every mechanism downstream of the salary already exists in the product. Payday-aligned autopay needs one missing input, knowledge of payday, which income landing supplies. It improves Card’s P&amp;L rather than mine, which is what makes it tradeable on the alignment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the credibility move: it costs nothing and produces evidence inside two months. If asked how large the detected cohort is, say you cannot know from outside and it is the first query you would run — some share of 16M customers already show a payroll pattern in their inbound SPEI.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what the non-financial component looks like in México: not Netflix. Recargas — Cuenta Nu already processes mobile top-ups from 30+ carriers, so the rail exists and is simply not part of a bundle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stop talking. Do not add a summary after this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9102A"/>
        </a:solidFill>
      </p:bgPr>
    </p:bg>
    <p:spTree>
      <p:nvGrpSpPr>
        <p:cNvPr id="1" name=""/>
        <p:cNvGrpSpPr/>
        <p:nvPr/>
      </p:nvGrpSpPr>
      <p:grpSpPr>
        <a:xfrm>
          <a:off x="0" y="0"/>
          <a:ext cx="0" cy="0"/>
          <a:chOff x="0" y="0"/>
          <a:chExt cx="0" cy="0"/>
        </a:xfrm>
      </p:grpSpPr>
      <p:sp>
        <p:nvSpPr>
          <p:cNvPr id="2" name="Shape 0"/>
          <p:cNvSpPr/>
          <p:nvPr/>
        </p:nvSpPr>
        <p:spPr>
          <a:xfrm>
            <a:off x="566928" y="2212848"/>
            <a:ext cx="137160" cy="137160"/>
          </a:xfrm>
          <a:prstGeom prst="ellipse">
            <a:avLst/>
          </a:prstGeom>
          <a:solidFill>
            <a:srgbClr val="B65CE8"/>
          </a:solidFill>
          <a:ln/>
        </p:spPr>
      </p:sp>
      <p:sp>
        <p:nvSpPr>
          <p:cNvPr id="3" name="Text 1"/>
          <p:cNvSpPr txBox="1"/>
          <p:nvPr/>
        </p:nvSpPr>
        <p:spPr>
          <a:xfrm>
            <a:off x="822960" y="2121408"/>
            <a:ext cx="9144000" cy="274320"/>
          </a:xfrm>
          <a:prstGeom prst="rect">
            <a:avLst/>
          </a:prstGeom>
          <a:noFill/>
          <a:ln/>
        </p:spPr>
        <p:txBody>
          <a:bodyPr wrap="square" lIns="0" tIns="0" rIns="0" bIns="0" rtlCol="0" anchor="ctr"/>
          <a:lstStyle/>
          <a:p>
            <a:pPr indent="0" marL="0">
              <a:buNone/>
            </a:pPr>
            <a:r>
              <a:rPr lang="en-US" sz="1100" b="1" spc="200" kern="0" dirty="0">
                <a:solidFill>
                  <a:srgbClr val="B65CE8"/>
                </a:solidFill>
                <a:latin typeface="Arial" pitchFamily="34" charset="0"/>
                <a:ea typeface="Arial" pitchFamily="34" charset="-122"/>
                <a:cs typeface="Arial" pitchFamily="34" charset="-120"/>
              </a:rPr>
              <a:t>BUSINESS CASE  ·  PRODUCT DIRECTOR, CORE MÉXICO</a:t>
            </a:r>
            <a:endParaRPr lang="en-US" sz="1100" dirty="0"/>
          </a:p>
        </p:txBody>
      </p:sp>
      <p:sp>
        <p:nvSpPr>
          <p:cNvPr id="4" name="Text 2"/>
          <p:cNvSpPr txBox="1"/>
          <p:nvPr/>
        </p:nvSpPr>
        <p:spPr>
          <a:xfrm>
            <a:off x="566928" y="2542032"/>
            <a:ext cx="10424160" cy="114300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Where income lands</a:t>
            </a:r>
            <a:endParaRPr lang="en-US" sz="6000" dirty="0"/>
          </a:p>
        </p:txBody>
      </p:sp>
      <p:sp>
        <p:nvSpPr>
          <p:cNvPr id="5" name="Text 3"/>
          <p:cNvSpPr txBox="1"/>
          <p:nvPr/>
        </p:nvSpPr>
        <p:spPr>
          <a:xfrm>
            <a:off x="566928" y="3730752"/>
            <a:ext cx="9509760" cy="777240"/>
          </a:xfrm>
          <a:prstGeom prst="rect">
            <a:avLst/>
          </a:prstGeom>
          <a:noFill/>
          <a:ln/>
        </p:spPr>
        <p:txBody>
          <a:bodyPr wrap="square" lIns="0" tIns="0" rIns="0" bIns="0" rtlCol="0" anchor="ctr"/>
          <a:lstStyle/>
          <a:p>
            <a:pPr indent="0" marL="0">
              <a:lnSpc>
                <a:spcPts val="2600"/>
              </a:lnSpc>
              <a:buNone/>
            </a:pPr>
            <a:r>
              <a:rPr lang="en-US" sz="1900" dirty="0">
                <a:solidFill>
                  <a:srgbClr val="D8CEE8"/>
                </a:solidFill>
                <a:latin typeface="Calibri" pitchFamily="34" charset="0"/>
                <a:ea typeface="Calibri" pitchFamily="34" charset="-122"/>
                <a:cs typeface="Calibri" pitchFamily="34" charset="-120"/>
              </a:rPr>
              <a:t>Nu México is not deposit-constrained. It is constrained by how much income it can see.</a:t>
            </a:r>
            <a:endParaRPr lang="en-US" sz="1900" dirty="0"/>
          </a:p>
        </p:txBody>
      </p:sp>
      <p:sp>
        <p:nvSpPr>
          <p:cNvPr id="6" name="Text 4"/>
          <p:cNvSpPr txBox="1"/>
          <p:nvPr/>
        </p:nvSpPr>
        <p:spPr>
          <a:xfrm>
            <a:off x="566928" y="5029200"/>
            <a:ext cx="8229600" cy="914400"/>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latin typeface="Calibri" pitchFamily="34" charset="0"/>
                <a:ea typeface="Calibri" pitchFamily="34" charset="-122"/>
                <a:cs typeface="Calibri" pitchFamily="34" charset="-120"/>
              </a:rPr>
              <a:t>[Your name]</a:t>
            </a:r>
            <a:endParaRPr lang="en-US" sz="1250" dirty="0"/>
          </a:p>
          <a:p>
            <a:pPr indent="0" marL="0">
              <a:lnSpc>
                <a:spcPts val="1700"/>
              </a:lnSpc>
              <a:buNone/>
            </a:pPr>
            <a:r>
              <a:rPr lang="en-US" sz="1250" dirty="0">
                <a:solidFill>
                  <a:srgbClr val="A599BC"/>
                </a:solidFill>
                <a:latin typeface="Calibri" pitchFamily="34" charset="0"/>
                <a:ea typeface="Calibri" pitchFamily="34" charset="-122"/>
                <a:cs typeface="Calibri" pitchFamily="34" charset="-120"/>
              </a:rPr>
              <a:t>Prepared for Diego Sierra, Oscar Vargas, Amanda Legge, Ana Acosta, and global product</a:t>
            </a:r>
            <a:endParaRPr lang="en-US" sz="1250" dirty="0"/>
          </a:p>
          <a:p>
            <a:pPr indent="0" marL="0">
              <a:lnSpc>
                <a:spcPts val="1700"/>
              </a:lnSpc>
              <a:buNone/>
            </a:pPr>
            <a:r>
              <a:rPr lang="en-US" sz="1250" dirty="0">
                <a:solidFill>
                  <a:srgbClr val="A599BC"/>
                </a:solidFill>
                <a:latin typeface="Calibri" pitchFamily="34" charset="0"/>
                <a:ea typeface="Calibri" pitchFamily="34" charset="-122"/>
                <a:cs typeface="Calibri" pitchFamily="34" charset="-120"/>
              </a:rPr>
              <a:t>4 September 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9102A"/>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B65CE8"/>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B65CE8"/>
                </a:solidFill>
                <a:latin typeface="Arial" pitchFamily="34" charset="0"/>
                <a:ea typeface="Arial" pitchFamily="34" charset="-122"/>
                <a:cs typeface="Arial" pitchFamily="34" charset="-120"/>
              </a:rPr>
              <a:t>CONTEXT</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FFFFFF"/>
                </a:solidFill>
                <a:latin typeface="Arial" pitchFamily="34" charset="0"/>
                <a:ea typeface="Arial" pitchFamily="34" charset="-122"/>
                <a:cs typeface="Arial" pitchFamily="34" charset="-120"/>
              </a:rPr>
              <a:t>We are already past the starting line</a:t>
            </a:r>
            <a:endParaRPr lang="en-US" sz="3100" dirty="0"/>
          </a:p>
        </p:txBody>
      </p:sp>
      <p:sp>
        <p:nvSpPr>
          <p:cNvPr id="5" name="Shape 3"/>
          <p:cNvSpPr/>
          <p:nvPr/>
        </p:nvSpPr>
        <p:spPr>
          <a:xfrm>
            <a:off x="566928" y="1874520"/>
            <a:ext cx="3429000" cy="1298448"/>
          </a:xfrm>
          <a:prstGeom prst="roundRect">
            <a:avLst>
              <a:gd name="adj" fmla="val 4225"/>
            </a:avLst>
          </a:prstGeom>
          <a:solidFill>
            <a:srgbClr val="2A1D3D"/>
          </a:solidFill>
          <a:ln w="12700">
            <a:solidFill>
              <a:srgbClr val="473259"/>
            </a:solidFill>
            <a:prstDash val="solid"/>
          </a:ln>
        </p:spPr>
      </p:sp>
      <p:sp>
        <p:nvSpPr>
          <p:cNvPr id="6" name="Text 4"/>
          <p:cNvSpPr txBox="1"/>
          <p:nvPr/>
        </p:nvSpPr>
        <p:spPr>
          <a:xfrm>
            <a:off x="822960" y="2057400"/>
            <a:ext cx="2926080" cy="274320"/>
          </a:xfrm>
          <a:prstGeom prst="rect">
            <a:avLst/>
          </a:prstGeom>
          <a:noFill/>
          <a:ln/>
        </p:spPr>
        <p:txBody>
          <a:bodyPr wrap="square" lIns="0" tIns="0" rIns="0" bIns="0" rtlCol="0" anchor="ctr"/>
          <a:lstStyle/>
          <a:p>
            <a:pPr indent="0" marL="0">
              <a:buNone/>
            </a:pPr>
            <a:r>
              <a:rPr lang="en-US" sz="1150" b="1" spc="120" kern="0" dirty="0">
                <a:solidFill>
                  <a:srgbClr val="B65CE8"/>
                </a:solidFill>
                <a:latin typeface="Arial" pitchFamily="34" charset="0"/>
                <a:ea typeface="Arial" pitchFamily="34" charset="-122"/>
                <a:cs typeface="Arial" pitchFamily="34" charset="-120"/>
              </a:rPr>
              <a:t>10 JUL 2026</a:t>
            </a:r>
            <a:endParaRPr lang="en-US" sz="1150" dirty="0"/>
          </a:p>
        </p:txBody>
      </p:sp>
      <p:sp>
        <p:nvSpPr>
          <p:cNvPr id="7" name="Text 5"/>
          <p:cNvSpPr txBox="1"/>
          <p:nvPr/>
        </p:nvSpPr>
        <p:spPr>
          <a:xfrm>
            <a:off x="822960" y="2377440"/>
            <a:ext cx="2971800" cy="685800"/>
          </a:xfrm>
          <a:prstGeom prst="rect">
            <a:avLst/>
          </a:prstGeom>
          <a:noFill/>
          <a:ln/>
        </p:spPr>
        <p:txBody>
          <a:bodyPr wrap="square" lIns="0" tIns="0" rIns="0" bIns="0" rtlCol="0" anchor="ctr"/>
          <a:lstStyle/>
          <a:p>
            <a:pPr indent="0" marL="0">
              <a:lnSpc>
                <a:spcPts val="1800"/>
              </a:lnSpc>
              <a:buNone/>
            </a:pPr>
            <a:r>
              <a:rPr lang="en-US" sz="1350" dirty="0">
                <a:solidFill>
                  <a:srgbClr val="E4DCEF"/>
                </a:solidFill>
                <a:latin typeface="Calibri" pitchFamily="34" charset="0"/>
                <a:ea typeface="Calibri" pitchFamily="34" charset="-122"/>
                <a:cs typeface="Calibri" pitchFamily="34" charset="-120"/>
              </a:rPr>
              <a:t>CNBV and SHCP authorise the licence</a:t>
            </a:r>
            <a:endParaRPr lang="en-US" sz="1350" dirty="0"/>
          </a:p>
        </p:txBody>
      </p:sp>
      <p:sp>
        <p:nvSpPr>
          <p:cNvPr id="8" name="Shape 6"/>
          <p:cNvSpPr/>
          <p:nvPr/>
        </p:nvSpPr>
        <p:spPr>
          <a:xfrm>
            <a:off x="4270248" y="1874520"/>
            <a:ext cx="3429000" cy="1298448"/>
          </a:xfrm>
          <a:prstGeom prst="roundRect">
            <a:avLst>
              <a:gd name="adj" fmla="val 4225"/>
            </a:avLst>
          </a:prstGeom>
          <a:solidFill>
            <a:srgbClr val="2A1D3D"/>
          </a:solidFill>
          <a:ln w="12700">
            <a:solidFill>
              <a:srgbClr val="473259"/>
            </a:solidFill>
            <a:prstDash val="solid"/>
          </a:ln>
        </p:spPr>
      </p:sp>
      <p:sp>
        <p:nvSpPr>
          <p:cNvPr id="9" name="Text 7"/>
          <p:cNvSpPr txBox="1"/>
          <p:nvPr/>
        </p:nvSpPr>
        <p:spPr>
          <a:xfrm>
            <a:off x="4526280" y="2057400"/>
            <a:ext cx="2926080" cy="274320"/>
          </a:xfrm>
          <a:prstGeom prst="rect">
            <a:avLst/>
          </a:prstGeom>
          <a:noFill/>
          <a:ln/>
        </p:spPr>
        <p:txBody>
          <a:bodyPr wrap="square" lIns="0" tIns="0" rIns="0" bIns="0" rtlCol="0" anchor="ctr"/>
          <a:lstStyle/>
          <a:p>
            <a:pPr indent="0" marL="0">
              <a:buNone/>
            </a:pPr>
            <a:r>
              <a:rPr lang="en-US" sz="1150" b="1" spc="120" kern="0" dirty="0">
                <a:solidFill>
                  <a:srgbClr val="B65CE8"/>
                </a:solidFill>
                <a:latin typeface="Arial" pitchFamily="34" charset="0"/>
                <a:ea typeface="Arial" pitchFamily="34" charset="-122"/>
                <a:cs typeface="Arial" pitchFamily="34" charset="-120"/>
              </a:rPr>
              <a:t>6 AUG 2026</a:t>
            </a:r>
            <a:endParaRPr lang="en-US" sz="1150" dirty="0"/>
          </a:p>
        </p:txBody>
      </p:sp>
      <p:sp>
        <p:nvSpPr>
          <p:cNvPr id="10" name="Text 8"/>
          <p:cNvSpPr txBox="1"/>
          <p:nvPr/>
        </p:nvSpPr>
        <p:spPr>
          <a:xfrm>
            <a:off x="4526280" y="2377440"/>
            <a:ext cx="2971800" cy="685800"/>
          </a:xfrm>
          <a:prstGeom prst="rect">
            <a:avLst/>
          </a:prstGeom>
          <a:noFill/>
          <a:ln/>
        </p:spPr>
        <p:txBody>
          <a:bodyPr wrap="square" lIns="0" tIns="0" rIns="0" bIns="0" rtlCol="0" anchor="ctr"/>
          <a:lstStyle/>
          <a:p>
            <a:pPr indent="0" marL="0">
              <a:lnSpc>
                <a:spcPts val="1800"/>
              </a:lnSpc>
              <a:buNone/>
            </a:pPr>
            <a:r>
              <a:rPr lang="en-US" sz="1350" dirty="0">
                <a:solidFill>
                  <a:srgbClr val="E4DCEF"/>
                </a:solidFill>
                <a:latin typeface="Calibri" pitchFamily="34" charset="0"/>
                <a:ea typeface="Calibri" pitchFamily="34" charset="-122"/>
                <a:cs typeface="Calibri" pitchFamily="34" charset="-120"/>
              </a:rPr>
              <a:t>Nu México begins operating as a full bank</a:t>
            </a:r>
            <a:endParaRPr lang="en-US" sz="1350" dirty="0"/>
          </a:p>
        </p:txBody>
      </p:sp>
      <p:sp>
        <p:nvSpPr>
          <p:cNvPr id="11" name="Shape 9"/>
          <p:cNvSpPr/>
          <p:nvPr/>
        </p:nvSpPr>
        <p:spPr>
          <a:xfrm>
            <a:off x="7973568" y="1874520"/>
            <a:ext cx="3429000" cy="1298448"/>
          </a:xfrm>
          <a:prstGeom prst="roundRect">
            <a:avLst>
              <a:gd name="adj" fmla="val 4225"/>
            </a:avLst>
          </a:prstGeom>
          <a:solidFill>
            <a:srgbClr val="2A1D3D"/>
          </a:solidFill>
          <a:ln w="12700">
            <a:solidFill>
              <a:srgbClr val="473259"/>
            </a:solidFill>
            <a:prstDash val="solid"/>
          </a:ln>
        </p:spPr>
      </p:sp>
      <p:sp>
        <p:nvSpPr>
          <p:cNvPr id="12" name="Text 10"/>
          <p:cNvSpPr txBox="1"/>
          <p:nvPr/>
        </p:nvSpPr>
        <p:spPr>
          <a:xfrm>
            <a:off x="8229600" y="2057400"/>
            <a:ext cx="2926080" cy="274320"/>
          </a:xfrm>
          <a:prstGeom prst="rect">
            <a:avLst/>
          </a:prstGeom>
          <a:noFill/>
          <a:ln/>
        </p:spPr>
        <p:txBody>
          <a:bodyPr wrap="square" lIns="0" tIns="0" rIns="0" bIns="0" rtlCol="0" anchor="ctr"/>
          <a:lstStyle/>
          <a:p>
            <a:pPr indent="0" marL="0">
              <a:buNone/>
            </a:pPr>
            <a:r>
              <a:rPr lang="en-US" sz="1150" b="1" spc="120" kern="0" dirty="0">
                <a:solidFill>
                  <a:srgbClr val="B65CE8"/>
                </a:solidFill>
                <a:latin typeface="Arial" pitchFamily="34" charset="0"/>
                <a:ea typeface="Arial" pitchFamily="34" charset="-122"/>
                <a:cs typeface="Arial" pitchFamily="34" charset="-120"/>
              </a:rPr>
              <a:t>2 SEP 2026</a:t>
            </a:r>
            <a:endParaRPr lang="en-US" sz="1150" dirty="0"/>
          </a:p>
        </p:txBody>
      </p:sp>
      <p:sp>
        <p:nvSpPr>
          <p:cNvPr id="13" name="Text 11"/>
          <p:cNvSpPr txBox="1"/>
          <p:nvPr/>
        </p:nvSpPr>
        <p:spPr>
          <a:xfrm>
            <a:off x="8229600" y="2377440"/>
            <a:ext cx="2971800" cy="685800"/>
          </a:xfrm>
          <a:prstGeom prst="rect">
            <a:avLst/>
          </a:prstGeom>
          <a:noFill/>
          <a:ln/>
        </p:spPr>
        <p:txBody>
          <a:bodyPr wrap="square" lIns="0" tIns="0" rIns="0" bIns="0" rtlCol="0" anchor="ctr"/>
          <a:lstStyle/>
          <a:p>
            <a:pPr indent="0" marL="0">
              <a:lnSpc>
                <a:spcPts val="1800"/>
              </a:lnSpc>
              <a:buNone/>
            </a:pPr>
            <a:r>
              <a:rPr lang="en-US" sz="1350" dirty="0">
                <a:solidFill>
                  <a:srgbClr val="E4DCEF"/>
                </a:solidFill>
                <a:latin typeface="Calibri" pitchFamily="34" charset="0"/>
                <a:ea typeface="Calibri" pitchFamily="34" charset="-122"/>
                <a:cs typeface="Calibri" pitchFamily="34" charset="-120"/>
              </a:rPr>
              <a:t>27 days in. Mercado Pago and Klar still queuing</a:t>
            </a:r>
            <a:endParaRPr lang="en-US" sz="1350" dirty="0"/>
          </a:p>
        </p:txBody>
      </p:sp>
      <p:sp>
        <p:nvSpPr>
          <p:cNvPr id="14" name="Text 12"/>
          <p:cNvSpPr txBox="1"/>
          <p:nvPr/>
        </p:nvSpPr>
        <p:spPr>
          <a:xfrm>
            <a:off x="566928" y="3401568"/>
            <a:ext cx="10881360" cy="475488"/>
          </a:xfrm>
          <a:prstGeom prst="rect">
            <a:avLst/>
          </a:prstGeom>
          <a:noFill/>
          <a:ln/>
        </p:spPr>
        <p:txBody>
          <a:bodyPr wrap="square" lIns="0" tIns="0" rIns="0" bIns="0" rtlCol="0" anchor="ctr"/>
          <a:lstStyle/>
          <a:p>
            <a:pPr indent="0" marL="0">
              <a:lnSpc>
                <a:spcPts val="1900"/>
              </a:lnSpc>
              <a:buNone/>
            </a:pPr>
            <a:r>
              <a:rPr lang="en-US" sz="1450" dirty="0">
                <a:solidFill>
                  <a:srgbClr val="BFB3D2"/>
                </a:solidFill>
                <a:latin typeface="Calibri" pitchFamily="34" charset="0"/>
                <a:ea typeface="Calibri" pitchFamily="34" charset="-122"/>
                <a:cs typeface="Calibri" pitchFamily="34" charset="-120"/>
              </a:rPr>
              <a:t>The brief asks how I would sequence the transition into a licensed bank. From the public record, that transition is done.</a:t>
            </a:r>
            <a:endParaRPr lang="en-US" sz="1450" dirty="0"/>
          </a:p>
        </p:txBody>
      </p:sp>
      <p:sp>
        <p:nvSpPr>
          <p:cNvPr id="15" name="Text 13"/>
          <p:cNvSpPr txBox="1"/>
          <p:nvPr/>
        </p:nvSpPr>
        <p:spPr>
          <a:xfrm>
            <a:off x="566928" y="3913632"/>
            <a:ext cx="10515600" cy="914400"/>
          </a:xfrm>
          <a:prstGeom prst="rect">
            <a:avLst/>
          </a:prstGeom>
          <a:noFill/>
          <a:ln/>
        </p:spPr>
        <p:txBody>
          <a:bodyPr wrap="square" lIns="0" tIns="0" rIns="0" bIns="0" rtlCol="0" anchor="ctr"/>
          <a:lstStyle/>
          <a:p>
            <a:pPr indent="0" marL="0">
              <a:lnSpc>
                <a:spcPts val="3300"/>
              </a:lnSpc>
              <a:buNone/>
            </a:pPr>
            <a:r>
              <a:rPr lang="en-US" sz="2500" b="1" dirty="0">
                <a:solidFill>
                  <a:srgbClr val="FFFFFF"/>
                </a:solidFill>
                <a:latin typeface="Arial" pitchFamily="34" charset="0"/>
                <a:ea typeface="Arial" pitchFamily="34" charset="-122"/>
                <a:cs typeface="Arial" pitchFamily="34" charset="-120"/>
              </a:rPr>
              <a:t>So the question is not how to prepare for a licence.</a:t>
            </a:r>
            <a:endParaRPr lang="en-US" sz="2500" dirty="0"/>
          </a:p>
          <a:p>
            <a:pPr indent="0" marL="0">
              <a:lnSpc>
                <a:spcPts val="3300"/>
              </a:lnSpc>
              <a:buNone/>
            </a:pPr>
            <a:r>
              <a:rPr lang="en-US" sz="2500" b="1" dirty="0">
                <a:solidFill>
                  <a:srgbClr val="FFFFFF"/>
                </a:solidFill>
                <a:latin typeface="Arial" pitchFamily="34" charset="0"/>
                <a:ea typeface="Arial" pitchFamily="34" charset="-122"/>
                <a:cs typeface="Arial" pitchFamily="34" charset="-120"/>
              </a:rPr>
              <a:t>It is what to do with a window that is already closing.</a:t>
            </a:r>
            <a:endParaRPr lang="en-US" sz="2500" dirty="0"/>
          </a:p>
        </p:txBody>
      </p:sp>
      <p:sp>
        <p:nvSpPr>
          <p:cNvPr id="16" name="Text 14"/>
          <p:cNvSpPr txBox="1"/>
          <p:nvPr/>
        </p:nvSpPr>
        <p:spPr>
          <a:xfrm>
            <a:off x="566928" y="5138928"/>
            <a:ext cx="10881360" cy="548640"/>
          </a:xfrm>
          <a:prstGeom prst="rect">
            <a:avLst/>
          </a:prstGeom>
          <a:noFill/>
          <a:ln/>
        </p:spPr>
        <p:txBody>
          <a:bodyPr wrap="square" lIns="0" tIns="0" rIns="0" bIns="0" rtlCol="0" anchor="ctr"/>
          <a:lstStyle/>
          <a:p>
            <a:pPr indent="0" marL="0">
              <a:lnSpc>
                <a:spcPts val="1800"/>
              </a:lnSpc>
              <a:buNone/>
            </a:pPr>
            <a:r>
              <a:rPr lang="en-US" sz="1300" b="1" dirty="0">
                <a:solidFill>
                  <a:srgbClr val="B65CE8"/>
                </a:solidFill>
                <a:latin typeface="Calibri" pitchFamily="34" charset="0"/>
                <a:ea typeface="Calibri" pitchFamily="34" charset="-122"/>
                <a:cs typeface="Calibri" pitchFamily="34" charset="-120"/>
              </a:rPr>
              <a:t>What the licence uniquely unlocks:  </a:t>
            </a:r>
            <a:pPr indent="0" marL="0">
              <a:lnSpc>
                <a:spcPts val="1800"/>
              </a:lnSpc>
              <a:buNone/>
            </a:pPr>
            <a:r>
              <a:rPr lang="en-US" sz="1300" dirty="0">
                <a:solidFill>
                  <a:srgbClr val="C9BEDC"/>
                </a:solidFill>
                <a:latin typeface="Calibri" pitchFamily="34" charset="0"/>
                <a:ea typeface="Calibri" pitchFamily="34" charset="-122"/>
                <a:cs typeface="Calibri" pitchFamily="34" charset="-120"/>
              </a:rPr>
              <a:t>payroll hosting  ·  IPAB insurance, up from ~US$12.6K to ~US$201K per person  ·  payroll portability  ·  higher deposit limits  ·  investments  ·  higher-value lending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DIAGNOSIS</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The number that should be running the roadmap</a:t>
            </a:r>
            <a:endParaRPr lang="en-US" sz="3100" dirty="0"/>
          </a:p>
        </p:txBody>
      </p:sp>
      <p:sp>
        <p:nvSpPr>
          <p:cNvPr id="5" name="Text 3"/>
          <p:cNvSpPr txBox="1"/>
          <p:nvPr/>
        </p:nvSpPr>
        <p:spPr>
          <a:xfrm>
            <a:off x="566928" y="1755648"/>
            <a:ext cx="2286000" cy="566928"/>
          </a:xfrm>
          <a:prstGeom prst="rect">
            <a:avLst/>
          </a:prstGeom>
          <a:noFill/>
          <a:ln/>
        </p:spPr>
        <p:txBody>
          <a:bodyPr wrap="square" lIns="0" tIns="0" rIns="0" bIns="0" rtlCol="0" anchor="ctr"/>
          <a:lstStyle/>
          <a:p>
            <a:pPr indent="0" marL="0">
              <a:buNone/>
            </a:pPr>
            <a:r>
              <a:rPr lang="en-US" sz="3400" b="1" dirty="0">
                <a:solidFill>
                  <a:srgbClr val="820AD1"/>
                </a:solidFill>
                <a:latin typeface="Arial" pitchFamily="34" charset="0"/>
                <a:ea typeface="Arial" pitchFamily="34" charset="-122"/>
                <a:cs typeface="Arial" pitchFamily="34" charset="-120"/>
              </a:rPr>
              <a:t>16M</a:t>
            </a:r>
            <a:endParaRPr lang="en-US" sz="3400" dirty="0"/>
          </a:p>
        </p:txBody>
      </p:sp>
      <p:sp>
        <p:nvSpPr>
          <p:cNvPr id="6" name="Text 4"/>
          <p:cNvSpPr txBox="1"/>
          <p:nvPr/>
        </p:nvSpPr>
        <p:spPr>
          <a:xfrm>
            <a:off x="566928" y="2322576"/>
            <a:ext cx="2286000" cy="237744"/>
          </a:xfrm>
          <a:prstGeom prst="rect">
            <a:avLst/>
          </a:prstGeom>
          <a:noFill/>
          <a:ln/>
        </p:spPr>
        <p:txBody>
          <a:bodyPr wrap="square" lIns="0" tIns="0" rIns="0" bIns="0" rtlCol="0" anchor="ctr"/>
          <a:lstStyle/>
          <a:p>
            <a:pPr indent="0" marL="0">
              <a:buNone/>
            </a:pPr>
            <a:r>
              <a:rPr lang="en-US" sz="1000" b="1" spc="120" kern="0" dirty="0">
                <a:solidFill>
                  <a:srgbClr val="6E6484"/>
                </a:solidFill>
                <a:latin typeface="Arial" pitchFamily="34" charset="0"/>
                <a:ea typeface="Arial" pitchFamily="34" charset="-122"/>
                <a:cs typeface="Arial" pitchFamily="34" charset="-120"/>
              </a:rPr>
              <a:t>CUSTOMERS</a:t>
            </a:r>
            <a:endParaRPr lang="en-US" sz="1000" dirty="0"/>
          </a:p>
        </p:txBody>
      </p:sp>
      <p:sp>
        <p:nvSpPr>
          <p:cNvPr id="7" name="Text 5"/>
          <p:cNvSpPr txBox="1"/>
          <p:nvPr/>
        </p:nvSpPr>
        <p:spPr>
          <a:xfrm>
            <a:off x="566928" y="2560320"/>
            <a:ext cx="2286000" cy="457200"/>
          </a:xfrm>
          <a:prstGeom prst="rect">
            <a:avLst/>
          </a:prstGeom>
          <a:noFill/>
          <a:ln/>
        </p:spPr>
        <p:txBody>
          <a:bodyPr wrap="square" lIns="0" tIns="0" rIns="0" bIns="0" rtlCol="0" anchor="ctr"/>
          <a:lstStyle/>
          <a:p>
            <a:pPr indent="0" marL="0">
              <a:buNone/>
            </a:pPr>
            <a:r>
              <a:rPr lang="en-US" sz="1100" dirty="0">
                <a:solidFill>
                  <a:srgbClr val="2F2740"/>
                </a:solidFill>
                <a:latin typeface="Calibri" pitchFamily="34" charset="0"/>
                <a:ea typeface="Calibri" pitchFamily="34" charset="-122"/>
                <a:cs typeface="Calibri" pitchFamily="34" charset="-120"/>
              </a:rPr>
              <a:t>~16.5% of Mexican adults</a:t>
            </a:r>
            <a:endParaRPr lang="en-US" sz="1100" dirty="0"/>
          </a:p>
        </p:txBody>
      </p:sp>
      <p:sp>
        <p:nvSpPr>
          <p:cNvPr id="8" name="Text 6"/>
          <p:cNvSpPr txBox="1"/>
          <p:nvPr/>
        </p:nvSpPr>
        <p:spPr>
          <a:xfrm>
            <a:off x="3218688" y="1755648"/>
            <a:ext cx="2286000" cy="566928"/>
          </a:xfrm>
          <a:prstGeom prst="rect">
            <a:avLst/>
          </a:prstGeom>
          <a:noFill/>
          <a:ln/>
        </p:spPr>
        <p:txBody>
          <a:bodyPr wrap="square" lIns="0" tIns="0" rIns="0" bIns="0" rtlCol="0" anchor="ctr"/>
          <a:lstStyle/>
          <a:p>
            <a:pPr indent="0" marL="0">
              <a:buNone/>
            </a:pPr>
            <a:r>
              <a:rPr lang="en-US" sz="3400" b="1" dirty="0">
                <a:solidFill>
                  <a:srgbClr val="820AD1"/>
                </a:solidFill>
                <a:latin typeface="Arial" pitchFamily="34" charset="0"/>
                <a:ea typeface="Arial" pitchFamily="34" charset="-122"/>
                <a:cs typeface="Arial" pitchFamily="34" charset="-120"/>
              </a:rPr>
              <a:t>US$5.7B</a:t>
            </a:r>
            <a:endParaRPr lang="en-US" sz="3400" dirty="0"/>
          </a:p>
        </p:txBody>
      </p:sp>
      <p:sp>
        <p:nvSpPr>
          <p:cNvPr id="9" name="Text 7"/>
          <p:cNvSpPr txBox="1"/>
          <p:nvPr/>
        </p:nvSpPr>
        <p:spPr>
          <a:xfrm>
            <a:off x="3218688" y="2322576"/>
            <a:ext cx="2286000" cy="237744"/>
          </a:xfrm>
          <a:prstGeom prst="rect">
            <a:avLst/>
          </a:prstGeom>
          <a:noFill/>
          <a:ln/>
        </p:spPr>
        <p:txBody>
          <a:bodyPr wrap="square" lIns="0" tIns="0" rIns="0" bIns="0" rtlCol="0" anchor="ctr"/>
          <a:lstStyle/>
          <a:p>
            <a:pPr indent="0" marL="0">
              <a:buNone/>
            </a:pPr>
            <a:r>
              <a:rPr lang="en-US" sz="1000" b="1" spc="120" kern="0" dirty="0">
                <a:solidFill>
                  <a:srgbClr val="6E6484"/>
                </a:solidFill>
                <a:latin typeface="Arial" pitchFamily="34" charset="0"/>
                <a:ea typeface="Arial" pitchFamily="34" charset="-122"/>
                <a:cs typeface="Arial" pitchFamily="34" charset="-120"/>
              </a:rPr>
              <a:t>DEPOSITS</a:t>
            </a:r>
            <a:endParaRPr lang="en-US" sz="1000" dirty="0"/>
          </a:p>
        </p:txBody>
      </p:sp>
      <p:sp>
        <p:nvSpPr>
          <p:cNvPr id="10" name="Text 8"/>
          <p:cNvSpPr txBox="1"/>
          <p:nvPr/>
        </p:nvSpPr>
        <p:spPr>
          <a:xfrm>
            <a:off x="3218688" y="2560320"/>
            <a:ext cx="2286000" cy="457200"/>
          </a:xfrm>
          <a:prstGeom prst="rect">
            <a:avLst/>
          </a:prstGeom>
          <a:noFill/>
          <a:ln/>
        </p:spPr>
        <p:txBody>
          <a:bodyPr wrap="square" lIns="0" tIns="0" rIns="0" bIns="0" rtlCol="0" anchor="ctr"/>
          <a:lstStyle/>
          <a:p>
            <a:pPr indent="0" marL="0">
              <a:buNone/>
            </a:pPr>
            <a:r>
              <a:rPr lang="en-US" sz="1100" dirty="0">
                <a:solidFill>
                  <a:srgbClr val="2F2740"/>
                </a:solidFill>
                <a:latin typeface="Calibri" pitchFamily="34" charset="0"/>
                <a:ea typeface="Calibri" pitchFamily="34" charset="-122"/>
                <a:cs typeface="Calibri" pitchFamily="34" charset="-120"/>
              </a:rPr>
              <a:t>and deliberately shrinking</a:t>
            </a:r>
            <a:endParaRPr lang="en-US" sz="1100" dirty="0"/>
          </a:p>
        </p:txBody>
      </p:sp>
      <p:sp>
        <p:nvSpPr>
          <p:cNvPr id="11" name="Text 9"/>
          <p:cNvSpPr txBox="1"/>
          <p:nvPr/>
        </p:nvSpPr>
        <p:spPr>
          <a:xfrm>
            <a:off x="5870448" y="1755648"/>
            <a:ext cx="2286000" cy="566928"/>
          </a:xfrm>
          <a:prstGeom prst="rect">
            <a:avLst/>
          </a:prstGeom>
          <a:noFill/>
          <a:ln/>
        </p:spPr>
        <p:txBody>
          <a:bodyPr wrap="square" lIns="0" tIns="0" rIns="0" bIns="0" rtlCol="0" anchor="ctr"/>
          <a:lstStyle/>
          <a:p>
            <a:pPr indent="0" marL="0">
              <a:buNone/>
            </a:pPr>
            <a:r>
              <a:rPr lang="en-US" sz="3400" b="1" dirty="0">
                <a:solidFill>
                  <a:srgbClr val="820AD1"/>
                </a:solidFill>
                <a:latin typeface="Arial" pitchFamily="34" charset="0"/>
                <a:ea typeface="Arial" pitchFamily="34" charset="-122"/>
                <a:cs typeface="Arial" pitchFamily="34" charset="-120"/>
              </a:rPr>
              <a:t>35%</a:t>
            </a:r>
            <a:endParaRPr lang="en-US" sz="3400" dirty="0"/>
          </a:p>
        </p:txBody>
      </p:sp>
      <p:sp>
        <p:nvSpPr>
          <p:cNvPr id="12" name="Text 10"/>
          <p:cNvSpPr txBox="1"/>
          <p:nvPr/>
        </p:nvSpPr>
        <p:spPr>
          <a:xfrm>
            <a:off x="5870448" y="2322576"/>
            <a:ext cx="2286000" cy="237744"/>
          </a:xfrm>
          <a:prstGeom prst="rect">
            <a:avLst/>
          </a:prstGeom>
          <a:noFill/>
          <a:ln/>
        </p:spPr>
        <p:txBody>
          <a:bodyPr wrap="square" lIns="0" tIns="0" rIns="0" bIns="0" rtlCol="0" anchor="ctr"/>
          <a:lstStyle/>
          <a:p>
            <a:pPr indent="0" marL="0">
              <a:buNone/>
            </a:pPr>
            <a:r>
              <a:rPr lang="en-US" sz="1000" b="1" spc="120" kern="0" dirty="0">
                <a:solidFill>
                  <a:srgbClr val="6E6484"/>
                </a:solidFill>
                <a:latin typeface="Arial" pitchFamily="34" charset="0"/>
                <a:ea typeface="Arial" pitchFamily="34" charset="-122"/>
                <a:cs typeface="Arial" pitchFamily="34" charset="-120"/>
              </a:rPr>
              <a:t>LOAN-TO-DEPOSIT</a:t>
            </a:r>
            <a:endParaRPr lang="en-US" sz="1000" dirty="0"/>
          </a:p>
        </p:txBody>
      </p:sp>
      <p:sp>
        <p:nvSpPr>
          <p:cNvPr id="13" name="Text 11"/>
          <p:cNvSpPr txBox="1"/>
          <p:nvPr/>
        </p:nvSpPr>
        <p:spPr>
          <a:xfrm>
            <a:off x="5870448" y="2560320"/>
            <a:ext cx="2286000" cy="457200"/>
          </a:xfrm>
          <a:prstGeom prst="rect">
            <a:avLst/>
          </a:prstGeom>
          <a:noFill/>
          <a:ln/>
        </p:spPr>
        <p:txBody>
          <a:bodyPr wrap="square" lIns="0" tIns="0" rIns="0" bIns="0" rtlCol="0" anchor="ctr"/>
          <a:lstStyle/>
          <a:p>
            <a:pPr indent="0" marL="0">
              <a:buNone/>
            </a:pPr>
            <a:r>
              <a:rPr lang="en-US" sz="1100" dirty="0">
                <a:solidFill>
                  <a:srgbClr val="2F2740"/>
                </a:solidFill>
                <a:latin typeface="Calibri" pitchFamily="34" charset="0"/>
                <a:ea typeface="Calibri" pitchFamily="34" charset="-122"/>
                <a:cs typeface="Calibri" pitchFamily="34" charset="-120"/>
              </a:rPr>
              <a:t>two thirds sits in CETES</a:t>
            </a:r>
            <a:endParaRPr lang="en-US" sz="1100" dirty="0"/>
          </a:p>
        </p:txBody>
      </p:sp>
      <p:sp>
        <p:nvSpPr>
          <p:cNvPr id="14" name="Text 12"/>
          <p:cNvSpPr txBox="1"/>
          <p:nvPr/>
        </p:nvSpPr>
        <p:spPr>
          <a:xfrm>
            <a:off x="8522208" y="1755648"/>
            <a:ext cx="2377440" cy="566928"/>
          </a:xfrm>
          <a:prstGeom prst="rect">
            <a:avLst/>
          </a:prstGeom>
          <a:noFill/>
          <a:ln/>
        </p:spPr>
        <p:txBody>
          <a:bodyPr wrap="square" lIns="0" tIns="0" rIns="0" bIns="0" rtlCol="0" anchor="ctr"/>
          <a:lstStyle/>
          <a:p>
            <a:pPr indent="0" marL="0">
              <a:buNone/>
            </a:pPr>
            <a:r>
              <a:rPr lang="en-US" sz="3400" b="1" dirty="0">
                <a:solidFill>
                  <a:srgbClr val="0E7A54"/>
                </a:solidFill>
                <a:latin typeface="Arial" pitchFamily="34" charset="0"/>
                <a:ea typeface="Arial" pitchFamily="34" charset="-122"/>
                <a:cs typeface="Arial" pitchFamily="34" charset="-120"/>
              </a:rPr>
              <a:t>Q1 2026</a:t>
            </a:r>
            <a:endParaRPr lang="en-US" sz="3400" dirty="0"/>
          </a:p>
        </p:txBody>
      </p:sp>
      <p:sp>
        <p:nvSpPr>
          <p:cNvPr id="15" name="Text 13"/>
          <p:cNvSpPr txBox="1"/>
          <p:nvPr/>
        </p:nvSpPr>
        <p:spPr>
          <a:xfrm>
            <a:off x="8522208" y="2322576"/>
            <a:ext cx="2377440" cy="237744"/>
          </a:xfrm>
          <a:prstGeom prst="rect">
            <a:avLst/>
          </a:prstGeom>
          <a:noFill/>
          <a:ln/>
        </p:spPr>
        <p:txBody>
          <a:bodyPr wrap="square" lIns="0" tIns="0" rIns="0" bIns="0" rtlCol="0" anchor="ctr"/>
          <a:lstStyle/>
          <a:p>
            <a:pPr indent="0" marL="0">
              <a:buNone/>
            </a:pPr>
            <a:r>
              <a:rPr lang="en-US" sz="1000" b="1" spc="120" kern="0" dirty="0">
                <a:solidFill>
                  <a:srgbClr val="6E6484"/>
                </a:solidFill>
                <a:latin typeface="Arial" pitchFamily="34" charset="0"/>
                <a:ea typeface="Arial" pitchFamily="34" charset="-122"/>
                <a:cs typeface="Arial" pitchFamily="34" charset="-120"/>
              </a:rPr>
              <a:t>BROKE EVEN</a:t>
            </a:r>
            <a:endParaRPr lang="en-US" sz="1000" dirty="0"/>
          </a:p>
        </p:txBody>
      </p:sp>
      <p:sp>
        <p:nvSpPr>
          <p:cNvPr id="16" name="Text 14"/>
          <p:cNvSpPr txBox="1"/>
          <p:nvPr/>
        </p:nvSpPr>
        <p:spPr>
          <a:xfrm>
            <a:off x="8522208" y="2560320"/>
            <a:ext cx="2377440" cy="457200"/>
          </a:xfrm>
          <a:prstGeom prst="rect">
            <a:avLst/>
          </a:prstGeom>
          <a:noFill/>
          <a:ln/>
        </p:spPr>
        <p:txBody>
          <a:bodyPr wrap="square" lIns="0" tIns="0" rIns="0" bIns="0" rtlCol="0" anchor="ctr"/>
          <a:lstStyle/>
          <a:p>
            <a:pPr indent="0" marL="0">
              <a:buNone/>
            </a:pPr>
            <a:r>
              <a:rPr lang="en-US" sz="1100" dirty="0">
                <a:solidFill>
                  <a:srgbClr val="2F2740"/>
                </a:solidFill>
                <a:latin typeface="Calibri" pitchFamily="34" charset="0"/>
                <a:ea typeface="Calibri" pitchFamily="34" charset="-122"/>
                <a:cs typeface="Calibri" pitchFamily="34" charset="-120"/>
              </a:rPr>
              <a:t>~2 years faster than Brazil</a:t>
            </a:r>
            <a:endParaRPr lang="en-US" sz="1100" dirty="0"/>
          </a:p>
        </p:txBody>
      </p:sp>
      <p:sp>
        <p:nvSpPr>
          <p:cNvPr id="17" name="Shape 15"/>
          <p:cNvSpPr/>
          <p:nvPr/>
        </p:nvSpPr>
        <p:spPr>
          <a:xfrm>
            <a:off x="566928" y="3310128"/>
            <a:ext cx="5989320" cy="2240280"/>
          </a:xfrm>
          <a:prstGeom prst="roundRect">
            <a:avLst>
              <a:gd name="adj" fmla="val 2449"/>
            </a:avLst>
          </a:prstGeom>
          <a:solidFill>
            <a:srgbClr val="FAF8FD"/>
          </a:solidFill>
          <a:ln w="12700">
            <a:solidFill>
              <a:srgbClr val="E2DCEC"/>
            </a:solidFill>
            <a:prstDash val="solid"/>
          </a:ln>
        </p:spPr>
      </p:sp>
      <p:sp>
        <p:nvSpPr>
          <p:cNvPr id="18" name="Text 16"/>
          <p:cNvSpPr txBox="1"/>
          <p:nvPr/>
        </p:nvSpPr>
        <p:spPr>
          <a:xfrm>
            <a:off x="841248" y="3493008"/>
            <a:ext cx="5486400" cy="274320"/>
          </a:xfrm>
          <a:prstGeom prst="rect">
            <a:avLst/>
          </a:prstGeom>
          <a:noFill/>
          <a:ln/>
        </p:spPr>
        <p:txBody>
          <a:bodyPr wrap="square" lIns="0" tIns="0" rIns="0" bIns="0" rtlCol="0" anchor="ctr"/>
          <a:lstStyle/>
          <a:p>
            <a:pPr indent="0" marL="0">
              <a:buNone/>
            </a:pPr>
            <a:r>
              <a:rPr lang="en-US" sz="1400" b="1" dirty="0">
                <a:solidFill>
                  <a:srgbClr val="19102A"/>
                </a:solidFill>
                <a:latin typeface="Arial" pitchFamily="34" charset="0"/>
                <a:ea typeface="Arial" pitchFamily="34" charset="-122"/>
                <a:cs typeface="Arial" pitchFamily="34" charset="-120"/>
              </a:rPr>
              <a:t>The marginal peso of deposit</a:t>
            </a:r>
            <a:endParaRPr lang="en-US" sz="1400" dirty="0"/>
          </a:p>
        </p:txBody>
      </p:sp>
      <p:sp>
        <p:nvSpPr>
          <p:cNvPr id="19" name="Text 17"/>
          <p:cNvSpPr txBox="1"/>
          <p:nvPr/>
        </p:nvSpPr>
        <p:spPr>
          <a:xfrm>
            <a:off x="841248" y="3840480"/>
            <a:ext cx="5486400" cy="914400"/>
          </a:xfrm>
          <a:prstGeom prst="rect">
            <a:avLst/>
          </a:prstGeom>
          <a:noFill/>
          <a:ln/>
        </p:spPr>
        <p:txBody>
          <a:bodyPr wrap="square" lIns="0" tIns="0" rIns="0" bIns="0" rtlCol="0" anchor="ctr"/>
          <a:lstStyle/>
          <a:p>
            <a:pPr indent="0" marL="0">
              <a:lnSpc>
                <a:spcPts val="1900"/>
              </a:lnSpc>
              <a:buNone/>
            </a:pPr>
            <a:r>
              <a:rPr lang="en-US" sz="1300" dirty="0">
                <a:solidFill>
                  <a:srgbClr val="6E6484"/>
                </a:solidFill>
                <a:latin typeface="Calibri" pitchFamily="34" charset="0"/>
                <a:ea typeface="Calibri" pitchFamily="34" charset="-122"/>
                <a:cs typeface="Calibri" pitchFamily="34" charset="-120"/>
              </a:rPr>
              <a:t>At 35% LDR    </a:t>
            </a:r>
            <a:endParaRPr lang="en-US" sz="1300" dirty="0"/>
          </a:p>
          <a:p>
            <a:pPr indent="0" marL="0">
              <a:lnSpc>
                <a:spcPts val="1900"/>
              </a:lnSpc>
              <a:buNone/>
            </a:pPr>
            <a:r>
              <a:rPr lang="en-US" sz="1300" dirty="0">
                <a:solidFill>
                  <a:srgbClr val="2F2740"/>
                </a:solidFill>
                <a:latin typeface="Calibri" pitchFamily="34" charset="0"/>
                <a:ea typeface="Calibri" pitchFamily="34" charset="-122"/>
                <a:cs typeface="Calibri" pitchFamily="34" charset="-120"/>
              </a:rPr>
              <a:t>0.35 × 25% + 0.65 × 6.49%  =  13.0% asset yield</a:t>
            </a:r>
            <a:endParaRPr lang="en-US" sz="1300" dirty="0"/>
          </a:p>
          <a:p>
            <a:pPr indent="0" marL="0">
              <a:lnSpc>
                <a:spcPts val="1900"/>
              </a:lnSpc>
              <a:buNone/>
            </a:pPr>
            <a:r>
              <a:rPr lang="en-US" sz="1300" dirty="0">
                <a:solidFill>
                  <a:srgbClr val="2F2740"/>
                </a:solidFill>
                <a:latin typeface="Calibri" pitchFamily="34" charset="0"/>
                <a:ea typeface="Calibri" pitchFamily="34" charset="-122"/>
                <a:cs typeface="Calibri" pitchFamily="34" charset="-120"/>
              </a:rPr>
              <a:t>less 11.5% cost of funds   =  </a:t>
            </a:r>
            <a:pPr indent="0" marL="0">
              <a:lnSpc>
                <a:spcPts val="1900"/>
              </a:lnSpc>
              <a:buNone/>
            </a:pPr>
            <a:r>
              <a:rPr lang="en-US" sz="1600" b="1" dirty="0">
                <a:solidFill>
                  <a:srgbClr val="B01030"/>
                </a:solidFill>
                <a:latin typeface="Calibri" pitchFamily="34" charset="0"/>
                <a:ea typeface="Calibri" pitchFamily="34" charset="-122"/>
                <a:cs typeface="Calibri" pitchFamily="34" charset="-120"/>
              </a:rPr>
              <a:t>1.5pp</a:t>
            </a:r>
            <a:endParaRPr lang="en-US" sz="1300" dirty="0"/>
          </a:p>
        </p:txBody>
      </p:sp>
      <p:sp>
        <p:nvSpPr>
          <p:cNvPr id="20" name="Text 18"/>
          <p:cNvSpPr txBox="1"/>
          <p:nvPr/>
        </p:nvSpPr>
        <p:spPr>
          <a:xfrm>
            <a:off x="841248" y="4956048"/>
            <a:ext cx="5486400" cy="365760"/>
          </a:xfrm>
          <a:prstGeom prst="rect">
            <a:avLst/>
          </a:prstGeom>
          <a:noFill/>
          <a:ln/>
        </p:spPr>
        <p:txBody>
          <a:bodyPr wrap="square" lIns="0" tIns="0" rIns="0" bIns="0" rtlCol="0" anchor="ctr"/>
          <a:lstStyle/>
          <a:p>
            <a:pPr indent="0" marL="0">
              <a:buNone/>
            </a:pPr>
            <a:r>
              <a:rPr lang="en-US" sz="1300" dirty="0">
                <a:solidFill>
                  <a:srgbClr val="2F2740"/>
                </a:solidFill>
                <a:latin typeface="Calibri" pitchFamily="34" charset="0"/>
                <a:ea typeface="Calibri" pitchFamily="34" charset="-122"/>
                <a:cs typeface="Calibri" pitchFamily="34" charset="-120"/>
              </a:rPr>
              <a:t>At 60% LDR the same peso earns  </a:t>
            </a:r>
            <a:pPr indent="0" marL="0">
              <a:buNone/>
            </a:pPr>
            <a:r>
              <a:rPr lang="en-US" sz="1600" b="1" dirty="0">
                <a:solidFill>
                  <a:srgbClr val="0E7A54"/>
                </a:solidFill>
                <a:latin typeface="Calibri" pitchFamily="34" charset="0"/>
                <a:ea typeface="Calibri" pitchFamily="34" charset="-122"/>
                <a:cs typeface="Calibri" pitchFamily="34" charset="-120"/>
              </a:rPr>
              <a:t>6.1pp</a:t>
            </a:r>
            <a:endParaRPr lang="en-US" sz="1300" dirty="0"/>
          </a:p>
        </p:txBody>
      </p:sp>
      <p:graphicFrame>
        <p:nvGraphicFramePr>
          <p:cNvPr id="21" name="Chart 0" descr=""/>
          <p:cNvGraphicFramePr/>
          <p:nvPr/>
        </p:nvGraphicFramePr>
        <p:xfrm>
          <a:off x="6858000" y="3246120"/>
          <a:ext cx="4754880" cy="237744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66928" y="5779008"/>
            <a:ext cx="10881360" cy="502920"/>
          </a:xfrm>
          <a:prstGeom prst="rect">
            <a:avLst/>
          </a:prstGeom>
          <a:noFill/>
          <a:ln/>
        </p:spPr>
        <p:txBody>
          <a:bodyPr wrap="square" lIns="0" tIns="0" rIns="0" bIns="0" rtlCol="0" anchor="ctr"/>
          <a:lstStyle/>
          <a:p>
            <a:pPr indent="0" marL="0">
              <a:lnSpc>
                <a:spcPts val="2000"/>
              </a:lnSpc>
              <a:buNone/>
            </a:pPr>
            <a:r>
              <a:rPr lang="en-US" sz="1500" b="1" dirty="0">
                <a:solidFill>
                  <a:srgbClr val="19102A"/>
                </a:solidFill>
                <a:latin typeface="Arial" pitchFamily="34" charset="0"/>
                <a:ea typeface="Arial" pitchFamily="34" charset="-122"/>
                <a:cs typeface="Arial" pitchFamily="34" charset="-120"/>
              </a:rPr>
              <a:t>The peso is not unprofitable. It earns about a quarter of what it should — a deployment problem, not a pricing problem.</a:t>
            </a:r>
            <a:endParaRPr lang="en-US" sz="1500" dirty="0"/>
          </a:p>
        </p:txBody>
      </p:sp>
      <p:sp>
        <p:nvSpPr>
          <p:cNvPr id="23" name="Text 20"/>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Every Nu figure in this deck is my read of a public source, treated as an assumption and cited in the appendix — you have the real ones, so please correct any of them. Sources here: Q2 2026 results release, 13 Aug 2026. The 25% net credit yield is mine, and is a slider in the model.</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2.1.1  CORE VALUE PROPOSITION</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The account your money arrives in</a:t>
            </a:r>
            <a:endParaRPr lang="en-US" sz="3100" dirty="0"/>
          </a:p>
        </p:txBody>
      </p:sp>
      <p:sp>
        <p:nvSpPr>
          <p:cNvPr id="5" name="Text 3"/>
          <p:cNvSpPr txBox="1"/>
          <p:nvPr/>
        </p:nvSpPr>
        <p:spPr>
          <a:xfrm>
            <a:off x="566928" y="1783080"/>
            <a:ext cx="10881360" cy="548640"/>
          </a:xfrm>
          <a:prstGeom prst="rect">
            <a:avLst/>
          </a:prstGeom>
          <a:noFill/>
          <a:ln/>
        </p:spPr>
        <p:txBody>
          <a:bodyPr wrap="square" lIns="0" tIns="0" rIns="0" bIns="0" rtlCol="0" anchor="ctr"/>
          <a:lstStyle/>
          <a:p>
            <a:pPr indent="0" marL="0">
              <a:buNone/>
            </a:pPr>
            <a:r>
              <a:rPr lang="en-US" sz="2700" b="1" i="1" dirty="0">
                <a:solidFill>
                  <a:srgbClr val="820AD1"/>
                </a:solidFill>
                <a:latin typeface="Arial" pitchFamily="34" charset="0"/>
                <a:ea typeface="Arial" pitchFamily="34" charset="-122"/>
                <a:cs typeface="Arial" pitchFamily="34" charset="-120"/>
              </a:rPr>
              <a:t>“La cuenta donde llega tu dinero.”</a:t>
            </a:r>
            <a:endParaRPr lang="en-US" sz="2700" dirty="0"/>
          </a:p>
        </p:txBody>
      </p:sp>
      <p:sp>
        <p:nvSpPr>
          <p:cNvPr id="6" name="Text 4"/>
          <p:cNvSpPr txBox="1"/>
          <p:nvPr/>
        </p:nvSpPr>
        <p:spPr>
          <a:xfrm>
            <a:off x="566928" y="2331720"/>
            <a:ext cx="10881360" cy="320040"/>
          </a:xfrm>
          <a:prstGeom prst="rect">
            <a:avLst/>
          </a:prstGeom>
          <a:noFill/>
          <a:ln/>
        </p:spPr>
        <p:txBody>
          <a:bodyPr wrap="square" lIns="0" tIns="0" rIns="0" bIns="0" rtlCol="0" anchor="ctr"/>
          <a:lstStyle/>
          <a:p>
            <a:pPr indent="0" marL="0">
              <a:buNone/>
            </a:pPr>
            <a:r>
              <a:rPr lang="en-US" sz="1500" dirty="0">
                <a:solidFill>
                  <a:srgbClr val="6E6484"/>
                </a:solidFill>
                <a:latin typeface="Calibri" pitchFamily="34" charset="0"/>
                <a:ea typeface="Calibri" pitchFamily="34" charset="-122"/>
                <a:cs typeface="Calibri" pitchFamily="34" charset="-120"/>
              </a:rPr>
              <a:t>Not the account it sits in.</a:t>
            </a:r>
            <a:endParaRPr lang="en-US" sz="1500" dirty="0"/>
          </a:p>
        </p:txBody>
      </p:sp>
      <p:sp>
        <p:nvSpPr>
          <p:cNvPr id="7" name="Shape 5"/>
          <p:cNvSpPr/>
          <p:nvPr/>
        </p:nvSpPr>
        <p:spPr>
          <a:xfrm>
            <a:off x="566928" y="2852928"/>
            <a:ext cx="3429000" cy="2103120"/>
          </a:xfrm>
          <a:prstGeom prst="roundRect">
            <a:avLst>
              <a:gd name="adj" fmla="val 2609"/>
            </a:avLst>
          </a:prstGeom>
          <a:solidFill>
            <a:srgbClr val="F3E8FD"/>
          </a:solidFill>
          <a:ln w="12700">
            <a:solidFill>
              <a:srgbClr val="E2DCEC"/>
            </a:solidFill>
            <a:prstDash val="solid"/>
          </a:ln>
        </p:spPr>
      </p:sp>
      <p:sp>
        <p:nvSpPr>
          <p:cNvPr id="8" name="Text 6"/>
          <p:cNvSpPr txBox="1"/>
          <p:nvPr/>
        </p:nvSpPr>
        <p:spPr>
          <a:xfrm>
            <a:off x="822960" y="3017520"/>
            <a:ext cx="2926080" cy="237744"/>
          </a:xfrm>
          <a:prstGeom prst="rect">
            <a:avLst/>
          </a:prstGeom>
          <a:noFill/>
          <a:ln/>
        </p:spPr>
        <p:txBody>
          <a:bodyPr wrap="square" lIns="0" tIns="0" rIns="0" bIns="0" rtlCol="0" anchor="ctr"/>
          <a:lstStyle/>
          <a:p>
            <a:pPr indent="0" marL="0">
              <a:buNone/>
            </a:pPr>
            <a:r>
              <a:rPr lang="en-US" sz="1000" b="1" spc="150" kern="0" dirty="0">
                <a:solidFill>
                  <a:srgbClr val="820AD1"/>
                </a:solidFill>
                <a:latin typeface="Arial" pitchFamily="34" charset="0"/>
                <a:ea typeface="Arial" pitchFamily="34" charset="-122"/>
                <a:cs typeface="Arial" pitchFamily="34" charset="-120"/>
              </a:rPr>
              <a:t>ANCHOR</a:t>
            </a:r>
            <a:endParaRPr lang="en-US" sz="1000" dirty="0"/>
          </a:p>
        </p:txBody>
      </p:sp>
      <p:sp>
        <p:nvSpPr>
          <p:cNvPr id="9" name="Text 7"/>
          <p:cNvSpPr txBox="1"/>
          <p:nvPr/>
        </p:nvSpPr>
        <p:spPr>
          <a:xfrm>
            <a:off x="822960" y="3291840"/>
            <a:ext cx="2971800" cy="310896"/>
          </a:xfrm>
          <a:prstGeom prst="rect">
            <a:avLst/>
          </a:prstGeom>
          <a:noFill/>
          <a:ln/>
        </p:spPr>
        <p:txBody>
          <a:bodyPr wrap="square" lIns="0" tIns="0" rIns="0" bIns="0" rtlCol="0" anchor="ctr"/>
          <a:lstStyle/>
          <a:p>
            <a:pPr indent="0" marL="0">
              <a:buNone/>
            </a:pPr>
            <a:r>
              <a:rPr lang="en-US" sz="1550" b="1" dirty="0">
                <a:solidFill>
                  <a:srgbClr val="19102A"/>
                </a:solidFill>
                <a:latin typeface="Arial" pitchFamily="34" charset="0"/>
                <a:ea typeface="Arial" pitchFamily="34" charset="-122"/>
                <a:cs typeface="Arial" pitchFamily="34" charset="-120"/>
              </a:rPr>
              <a:t>Income lands here</a:t>
            </a:r>
            <a:endParaRPr lang="en-US" sz="1550" dirty="0"/>
          </a:p>
        </p:txBody>
      </p:sp>
      <p:sp>
        <p:nvSpPr>
          <p:cNvPr id="10" name="Text 8"/>
          <p:cNvSpPr txBox="1"/>
          <p:nvPr/>
        </p:nvSpPr>
        <p:spPr>
          <a:xfrm>
            <a:off x="822960" y="3657600"/>
            <a:ext cx="2971800" cy="822960"/>
          </a:xfrm>
          <a:prstGeom prst="rect">
            <a:avLst/>
          </a:prstGeom>
          <a:noFill/>
          <a:ln/>
        </p:spPr>
        <p:txBody>
          <a:bodyPr wrap="square" lIns="0" tIns="0" rIns="0" bIns="0" rtlCol="0" anchor="ctr"/>
          <a:lstStyle/>
          <a:p>
            <a:pPr indent="0" marL="0">
              <a:lnSpc>
                <a:spcPts val="1700"/>
              </a:lnSpc>
              <a:buNone/>
            </a:pPr>
            <a:r>
              <a:rPr lang="en-US" sz="1250" dirty="0">
                <a:solidFill>
                  <a:srgbClr val="2F2740"/>
                </a:solidFill>
                <a:latin typeface="Calibri" pitchFamily="34" charset="0"/>
                <a:ea typeface="Calibri" pitchFamily="34" charset="-122"/>
                <a:cs typeface="Calibri" pitchFamily="34" charset="-120"/>
              </a:rPr>
              <a:t>Nómina · remesas · plataformas · recurring deposits</a:t>
            </a:r>
            <a:endParaRPr lang="en-US" sz="1250" dirty="0"/>
          </a:p>
        </p:txBody>
      </p:sp>
      <p:sp>
        <p:nvSpPr>
          <p:cNvPr id="11" name="Text 9"/>
          <p:cNvSpPr txBox="1"/>
          <p:nvPr/>
        </p:nvSpPr>
        <p:spPr>
          <a:xfrm>
            <a:off x="822960" y="4553712"/>
            <a:ext cx="2971800" cy="256032"/>
          </a:xfrm>
          <a:prstGeom prst="rect">
            <a:avLst/>
          </a:prstGeom>
          <a:noFill/>
          <a:ln/>
        </p:spPr>
        <p:txBody>
          <a:bodyPr wrap="square" lIns="0" tIns="0" rIns="0" bIns="0" rtlCol="0" anchor="ctr"/>
          <a:lstStyle/>
          <a:p>
            <a:pPr indent="0" marL="0">
              <a:buNone/>
            </a:pPr>
            <a:r>
              <a:rPr lang="en-US" sz="1100" i="1" dirty="0">
                <a:solidFill>
                  <a:srgbClr val="B45309"/>
                </a:solidFill>
                <a:latin typeface="Calibri" pitchFamily="34" charset="0"/>
                <a:ea typeface="Calibri" pitchFamily="34" charset="-122"/>
                <a:cs typeface="Calibri" pitchFamily="34" charset="-120"/>
              </a:rPr>
              <a:t>fixes acquisition</a:t>
            </a:r>
            <a:endParaRPr lang="en-US" sz="1100" dirty="0"/>
          </a:p>
        </p:txBody>
      </p:sp>
      <p:sp>
        <p:nvSpPr>
          <p:cNvPr id="12" name="Shape 10"/>
          <p:cNvSpPr/>
          <p:nvPr/>
        </p:nvSpPr>
        <p:spPr>
          <a:xfrm>
            <a:off x="4270248" y="2852928"/>
            <a:ext cx="3429000" cy="2103120"/>
          </a:xfrm>
          <a:prstGeom prst="roundRect">
            <a:avLst>
              <a:gd name="adj" fmla="val 2609"/>
            </a:avLst>
          </a:prstGeom>
          <a:solidFill>
            <a:srgbClr val="FAF8FD"/>
          </a:solidFill>
          <a:ln w="12700">
            <a:solidFill>
              <a:srgbClr val="E2DCEC"/>
            </a:solidFill>
            <a:prstDash val="solid"/>
          </a:ln>
        </p:spPr>
      </p:sp>
      <p:sp>
        <p:nvSpPr>
          <p:cNvPr id="13" name="Text 11"/>
          <p:cNvSpPr txBox="1"/>
          <p:nvPr/>
        </p:nvSpPr>
        <p:spPr>
          <a:xfrm>
            <a:off x="4526280" y="3017520"/>
            <a:ext cx="2926080" cy="237744"/>
          </a:xfrm>
          <a:prstGeom prst="rect">
            <a:avLst/>
          </a:prstGeom>
          <a:noFill/>
          <a:ln/>
        </p:spPr>
        <p:txBody>
          <a:bodyPr wrap="square" lIns="0" tIns="0" rIns="0" bIns="0" rtlCol="0" anchor="ctr"/>
          <a:lstStyle/>
          <a:p>
            <a:pPr indent="0" marL="0">
              <a:buNone/>
            </a:pPr>
            <a:r>
              <a:rPr lang="en-US" sz="1000" b="1" spc="150" kern="0" dirty="0">
                <a:solidFill>
                  <a:srgbClr val="820AD1"/>
                </a:solidFill>
                <a:latin typeface="Arial" pitchFamily="34" charset="0"/>
                <a:ea typeface="Arial" pitchFamily="34" charset="-122"/>
                <a:cs typeface="Arial" pitchFamily="34" charset="-120"/>
              </a:rPr>
              <a:t>ENGINE</a:t>
            </a:r>
            <a:endParaRPr lang="en-US" sz="1000" dirty="0"/>
          </a:p>
        </p:txBody>
      </p:sp>
      <p:sp>
        <p:nvSpPr>
          <p:cNvPr id="14" name="Text 12"/>
          <p:cNvSpPr txBox="1"/>
          <p:nvPr/>
        </p:nvSpPr>
        <p:spPr>
          <a:xfrm>
            <a:off x="4526280" y="3291840"/>
            <a:ext cx="2971800" cy="310896"/>
          </a:xfrm>
          <a:prstGeom prst="rect">
            <a:avLst/>
          </a:prstGeom>
          <a:noFill/>
          <a:ln/>
        </p:spPr>
        <p:txBody>
          <a:bodyPr wrap="square" lIns="0" tIns="0" rIns="0" bIns="0" rtlCol="0" anchor="ctr"/>
          <a:lstStyle/>
          <a:p>
            <a:pPr indent="0" marL="0">
              <a:buNone/>
            </a:pPr>
            <a:r>
              <a:rPr lang="en-US" sz="1550" b="1" dirty="0">
                <a:solidFill>
                  <a:srgbClr val="19102A"/>
                </a:solidFill>
                <a:latin typeface="Arial" pitchFamily="34" charset="0"/>
                <a:ea typeface="Arial" pitchFamily="34" charset="-122"/>
                <a:cs typeface="Arial" pitchFamily="34" charset="-120"/>
              </a:rPr>
              <a:t>Relationship-priced yield</a:t>
            </a:r>
            <a:endParaRPr lang="en-US" sz="1550" dirty="0"/>
          </a:p>
        </p:txBody>
      </p:sp>
      <p:sp>
        <p:nvSpPr>
          <p:cNvPr id="15" name="Text 13"/>
          <p:cNvSpPr txBox="1"/>
          <p:nvPr/>
        </p:nvSpPr>
        <p:spPr>
          <a:xfrm>
            <a:off x="4526280" y="3657600"/>
            <a:ext cx="2971800" cy="822960"/>
          </a:xfrm>
          <a:prstGeom prst="rect">
            <a:avLst/>
          </a:prstGeom>
          <a:noFill/>
          <a:ln/>
        </p:spPr>
        <p:txBody>
          <a:bodyPr wrap="square" lIns="0" tIns="0" rIns="0" bIns="0" rtlCol="0" anchor="ctr"/>
          <a:lstStyle/>
          <a:p>
            <a:pPr indent="0" marL="0">
              <a:lnSpc>
                <a:spcPts val="1700"/>
              </a:lnSpc>
              <a:buNone/>
            </a:pPr>
            <a:r>
              <a:rPr lang="en-US" sz="1250" dirty="0">
                <a:solidFill>
                  <a:srgbClr val="2F2740"/>
                </a:solidFill>
                <a:latin typeface="Calibri" pitchFamily="34" charset="0"/>
                <a:ea typeface="Calibri" pitchFamily="34" charset="-122"/>
                <a:cs typeface="Calibri" pitchFamily="34" charset="-120"/>
              </a:rPr>
              <a:t>Quoted as a spread over CETES, premium attached to income landing</a:t>
            </a:r>
            <a:endParaRPr lang="en-US" sz="1250" dirty="0"/>
          </a:p>
        </p:txBody>
      </p:sp>
      <p:sp>
        <p:nvSpPr>
          <p:cNvPr id="16" name="Text 14"/>
          <p:cNvSpPr txBox="1"/>
          <p:nvPr/>
        </p:nvSpPr>
        <p:spPr>
          <a:xfrm>
            <a:off x="4526280" y="4553712"/>
            <a:ext cx="2971800" cy="256032"/>
          </a:xfrm>
          <a:prstGeom prst="rect">
            <a:avLst/>
          </a:prstGeom>
          <a:noFill/>
          <a:ln/>
        </p:spPr>
        <p:txBody>
          <a:bodyPr wrap="square" lIns="0" tIns="0" rIns="0" bIns="0" rtlCol="0" anchor="ctr"/>
          <a:lstStyle/>
          <a:p>
            <a:pPr indent="0" marL="0">
              <a:buNone/>
            </a:pPr>
            <a:r>
              <a:rPr lang="en-US" sz="1100" i="1" dirty="0">
                <a:solidFill>
                  <a:srgbClr val="B45309"/>
                </a:solidFill>
                <a:latin typeface="Calibri" pitchFamily="34" charset="0"/>
                <a:ea typeface="Calibri" pitchFamily="34" charset="-122"/>
                <a:cs typeface="Calibri" pitchFamily="34" charset="-120"/>
              </a:rPr>
              <a:t>fixes cost of funds</a:t>
            </a:r>
            <a:endParaRPr lang="en-US" sz="1100" dirty="0"/>
          </a:p>
        </p:txBody>
      </p:sp>
      <p:sp>
        <p:nvSpPr>
          <p:cNvPr id="17" name="Shape 15"/>
          <p:cNvSpPr/>
          <p:nvPr/>
        </p:nvSpPr>
        <p:spPr>
          <a:xfrm>
            <a:off x="7973568" y="2852928"/>
            <a:ext cx="3429000" cy="2103120"/>
          </a:xfrm>
          <a:prstGeom prst="roundRect">
            <a:avLst>
              <a:gd name="adj" fmla="val 2609"/>
            </a:avLst>
          </a:prstGeom>
          <a:solidFill>
            <a:srgbClr val="FAF8FD"/>
          </a:solidFill>
          <a:ln w="12700">
            <a:solidFill>
              <a:srgbClr val="E2DCEC"/>
            </a:solidFill>
            <a:prstDash val="solid"/>
          </a:ln>
        </p:spPr>
      </p:sp>
      <p:sp>
        <p:nvSpPr>
          <p:cNvPr id="18" name="Text 16"/>
          <p:cNvSpPr txBox="1"/>
          <p:nvPr/>
        </p:nvSpPr>
        <p:spPr>
          <a:xfrm>
            <a:off x="8229600" y="3017520"/>
            <a:ext cx="2926080" cy="237744"/>
          </a:xfrm>
          <a:prstGeom prst="rect">
            <a:avLst/>
          </a:prstGeom>
          <a:noFill/>
          <a:ln/>
        </p:spPr>
        <p:txBody>
          <a:bodyPr wrap="square" lIns="0" tIns="0" rIns="0" bIns="0" rtlCol="0" anchor="ctr"/>
          <a:lstStyle/>
          <a:p>
            <a:pPr indent="0" marL="0">
              <a:buNone/>
            </a:pPr>
            <a:r>
              <a:rPr lang="en-US" sz="1000" b="1" spc="150" kern="0" dirty="0">
                <a:solidFill>
                  <a:srgbClr val="820AD1"/>
                </a:solidFill>
                <a:latin typeface="Arial" pitchFamily="34" charset="0"/>
                <a:ea typeface="Arial" pitchFamily="34" charset="-122"/>
                <a:cs typeface="Arial" pitchFamily="34" charset="-120"/>
              </a:rPr>
              <a:t>MULTIPLIER</a:t>
            </a:r>
            <a:endParaRPr lang="en-US" sz="1000" dirty="0"/>
          </a:p>
        </p:txBody>
      </p:sp>
      <p:sp>
        <p:nvSpPr>
          <p:cNvPr id="19" name="Text 17"/>
          <p:cNvSpPr txBox="1"/>
          <p:nvPr/>
        </p:nvSpPr>
        <p:spPr>
          <a:xfrm>
            <a:off x="8229600" y="3291840"/>
            <a:ext cx="2971800" cy="310896"/>
          </a:xfrm>
          <a:prstGeom prst="rect">
            <a:avLst/>
          </a:prstGeom>
          <a:noFill/>
          <a:ln/>
        </p:spPr>
        <p:txBody>
          <a:bodyPr wrap="square" lIns="0" tIns="0" rIns="0" bIns="0" rtlCol="0" anchor="ctr"/>
          <a:lstStyle/>
          <a:p>
            <a:pPr indent="0" marL="0">
              <a:buNone/>
            </a:pPr>
            <a:r>
              <a:rPr lang="en-US" sz="1550" b="1" dirty="0">
                <a:solidFill>
                  <a:srgbClr val="19102A"/>
                </a:solidFill>
                <a:latin typeface="Arial" pitchFamily="34" charset="0"/>
                <a:ea typeface="Arial" pitchFamily="34" charset="-122"/>
                <a:cs typeface="Arial" pitchFamily="34" charset="-120"/>
              </a:rPr>
              <a:t>Credit and protection</a:t>
            </a:r>
            <a:endParaRPr lang="en-US" sz="1550" dirty="0"/>
          </a:p>
        </p:txBody>
      </p:sp>
      <p:sp>
        <p:nvSpPr>
          <p:cNvPr id="20" name="Text 18"/>
          <p:cNvSpPr txBox="1"/>
          <p:nvPr/>
        </p:nvSpPr>
        <p:spPr>
          <a:xfrm>
            <a:off x="8229600" y="3657600"/>
            <a:ext cx="2971800" cy="822960"/>
          </a:xfrm>
          <a:prstGeom prst="rect">
            <a:avLst/>
          </a:prstGeom>
          <a:noFill/>
          <a:ln/>
        </p:spPr>
        <p:txBody>
          <a:bodyPr wrap="square" lIns="0" tIns="0" rIns="0" bIns="0" rtlCol="0" anchor="ctr"/>
          <a:lstStyle/>
          <a:p>
            <a:pPr indent="0" marL="0">
              <a:lnSpc>
                <a:spcPts val="1700"/>
              </a:lnSpc>
              <a:buNone/>
            </a:pPr>
            <a:r>
              <a:rPr lang="en-US" sz="1250" dirty="0">
                <a:solidFill>
                  <a:srgbClr val="2F2740"/>
                </a:solidFill>
                <a:latin typeface="Calibri" pitchFamily="34" charset="0"/>
                <a:ea typeface="Calibri" pitchFamily="34" charset="-122"/>
                <a:cs typeface="Calibri" pitchFamily="34" charset="-120"/>
              </a:rPr>
              <a:t>Sized on income we can actually see, not on a thin-file score</a:t>
            </a:r>
            <a:endParaRPr lang="en-US" sz="1250" dirty="0"/>
          </a:p>
        </p:txBody>
      </p:sp>
      <p:sp>
        <p:nvSpPr>
          <p:cNvPr id="21" name="Text 19"/>
          <p:cNvSpPr txBox="1"/>
          <p:nvPr/>
        </p:nvSpPr>
        <p:spPr>
          <a:xfrm>
            <a:off x="8229600" y="4553712"/>
            <a:ext cx="2971800" cy="256032"/>
          </a:xfrm>
          <a:prstGeom prst="rect">
            <a:avLst/>
          </a:prstGeom>
          <a:noFill/>
          <a:ln/>
        </p:spPr>
        <p:txBody>
          <a:bodyPr wrap="square" lIns="0" tIns="0" rIns="0" bIns="0" rtlCol="0" anchor="ctr"/>
          <a:lstStyle/>
          <a:p>
            <a:pPr indent="0" marL="0">
              <a:buNone/>
            </a:pPr>
            <a:r>
              <a:rPr lang="en-US" sz="1100" i="1" dirty="0">
                <a:solidFill>
                  <a:srgbClr val="B45309"/>
                </a:solidFill>
                <a:latin typeface="Calibri" pitchFamily="34" charset="0"/>
                <a:ea typeface="Calibri" pitchFamily="34" charset="-122"/>
                <a:cs typeface="Calibri" pitchFamily="34" charset="-120"/>
              </a:rPr>
              <a:t>fixes the 35% LDR</a:t>
            </a:r>
            <a:endParaRPr lang="en-US" sz="1100" dirty="0"/>
          </a:p>
        </p:txBody>
      </p:sp>
      <p:sp>
        <p:nvSpPr>
          <p:cNvPr id="22" name="Text 20"/>
          <p:cNvSpPr txBox="1"/>
          <p:nvPr/>
        </p:nvSpPr>
        <p:spPr>
          <a:xfrm>
            <a:off x="566928" y="525780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9102A"/>
                </a:solidFill>
                <a:latin typeface="Calibri" pitchFamily="34" charset="0"/>
                <a:ea typeface="Calibri" pitchFamily="34" charset="-122"/>
                <a:cs typeface="Calibri" pitchFamily="34" charset="-120"/>
              </a:rPr>
              <a:t>Why not “the best rate in Mexico”?  </a:t>
            </a:r>
            <a:pPr indent="0" marL="0">
              <a:lnSpc>
                <a:spcPts val="1900"/>
              </a:lnSpc>
              <a:buNone/>
            </a:pPr>
            <a:r>
              <a:rPr lang="en-US" sz="1400" dirty="0">
                <a:solidFill>
                  <a:srgbClr val="2F2740"/>
                </a:solidFill>
                <a:latin typeface="Calibri" pitchFamily="34" charset="0"/>
                <a:ea typeface="Calibri" pitchFamily="34" charset="-122"/>
                <a:cs typeface="Calibri" pitchFamily="34" charset="-120"/>
              </a:rPr>
              <a:t>Because it is matchable in a week by any licensed competitor, and it selects for exactly the customers we least want. Income landing is a habit. A rate is a price. Habits are defensible.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2.1.1  MASS-MARKET BUNDLES</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One bundle, two tiers, two doors into the same tier</a:t>
            </a:r>
            <a:endParaRPr lang="en-US" sz="3100" dirty="0"/>
          </a:p>
        </p:txBody>
      </p:sp>
      <p:sp>
        <p:nvSpPr>
          <p:cNvPr id="5" name="Text 3"/>
          <p:cNvSpPr txBox="1"/>
          <p:nvPr/>
        </p:nvSpPr>
        <p:spPr>
          <a:xfrm>
            <a:off x="566928" y="1700784"/>
            <a:ext cx="11073384" cy="457200"/>
          </a:xfrm>
          <a:prstGeom prst="rect">
            <a:avLst/>
          </a:prstGeom>
          <a:noFill/>
          <a:ln/>
        </p:spPr>
        <p:txBody>
          <a:bodyPr wrap="square" lIns="0" tIns="0" rIns="0" bIns="0" rtlCol="0" anchor="ctr"/>
          <a:lstStyle/>
          <a:p>
            <a:pPr indent="0" marL="0">
              <a:lnSpc>
                <a:spcPts val="1700"/>
              </a:lnSpc>
              <a:buNone/>
            </a:pPr>
            <a:r>
              <a:rPr lang="en-US" sz="1250" dirty="0">
                <a:solidFill>
                  <a:srgbClr val="6E6484"/>
                </a:solidFill>
                <a:latin typeface="Calibri" pitchFamily="34" charset="0"/>
                <a:ea typeface="Calibri" pitchFamily="34" charset="-122"/>
                <a:cs typeface="Calibri" pitchFamily="34" charset="-120"/>
              </a:rPr>
              <a:t>You already price by tier — Cajita 24/7 at 6.50% and Cajita Turbo at 13% capped at MX$25,000 on one card purchase a month. </a:t>
            </a:r>
            <a:pPr indent="0" marL="0">
              <a:lnSpc>
                <a:spcPts val="1700"/>
              </a:lnSpc>
              <a:buNone/>
            </a:pPr>
            <a:r>
              <a:rPr lang="en-US" sz="1250" b="1" dirty="0">
                <a:solidFill>
                  <a:srgbClr val="19102A"/>
                </a:solidFill>
                <a:latin typeface="Calibri" pitchFamily="34" charset="0"/>
                <a:ea typeface="Calibri" pitchFamily="34" charset="-122"/>
                <a:cs typeface="Calibri" pitchFamily="34" charset="-120"/>
              </a:rPr>
              <a:t>This is that architecture, re-anchored on income. Budget-neutral at launch: both tiers reproduce today’s published rates.</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6675120" cy="914400"/>
        </p:xfrm>
        <a:graphic>
          <a:graphicData uri="http://schemas.openxmlformats.org/drawingml/2006/table">
            <a:tbl>
              <a:tblPr/>
              <a:tblGrid>
                <a:gridCol w="1554480"/>
                <a:gridCol w="2103120"/>
                <a:gridCol w="3017520"/>
              </a:tblGrid>
              <a:tr h="365760">
                <a:tc>
                  <a:txBody>
                    <a:bodyPr/>
                    <a:lstStyle/>
                    <a:p>
                      <a:pPr indent="0" marL="0">
                        <a:buNone/>
                      </a:pPr>
                      <a:endParaRPr lang="en-US" sz="120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400" b="1" dirty="0">
                          <a:solidFill>
                            <a:srgbClr val="19102A"/>
                          </a:solidFill>
                          <a:latin typeface="Arial" pitchFamily="34" charset="0"/>
                          <a:ea typeface="Arial" pitchFamily="34" charset="-122"/>
                          <a:cs typeface="Arial" pitchFamily="34" charset="-120"/>
                        </a:rPr>
                        <a:t>Nu</a:t>
                      </a:r>
                      <a:endParaRPr lang="en-US" sz="1400" dirty="0">
                        <a:latin typeface="Arial" charset="0"/>
                        <a:ea typeface="Arial" charset="0"/>
                        <a:cs typeface="Arial"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400" b="1" dirty="0">
                          <a:solidFill>
                            <a:srgbClr val="820AD1"/>
                          </a:solidFill>
                          <a:latin typeface="Arial" pitchFamily="34" charset="0"/>
                          <a:ea typeface="Arial" pitchFamily="34" charset="-122"/>
                          <a:cs typeface="Arial" pitchFamily="34" charset="-120"/>
                        </a:rPr>
                        <a:t>Nu Nómina</a:t>
                      </a:r>
                      <a:endParaRPr lang="en-US" sz="1400" dirty="0">
                        <a:latin typeface="Arial" charset="0"/>
                        <a:ea typeface="Arial" charset="0"/>
                        <a:cs typeface="Arial"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6E6484"/>
                          </a:solidFill>
                          <a:latin typeface="Calibri" pitchFamily="34" charset="0"/>
                          <a:ea typeface="Calibri" pitchFamily="34" charset="-122"/>
                          <a:cs typeface="Calibri" pitchFamily="34" charset="-120"/>
                        </a:rPr>
                        <a:t>How you qualify</a:t>
                      </a:r>
                      <a:endParaRPr lang="en-US" sz="110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dirty="0">
                          <a:solidFill>
                            <a:srgbClr val="2F2740"/>
                          </a:solidFill>
                          <a:latin typeface="Calibri" pitchFamily="34" charset="0"/>
                          <a:ea typeface="Calibri" pitchFamily="34" charset="-122"/>
                          <a:cs typeface="Calibri" pitchFamily="34" charset="-120"/>
                        </a:rPr>
                        <a:t>Anyone</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b="1" dirty="0">
                          <a:solidFill>
                            <a:srgbClr val="19102A"/>
                          </a:solidFill>
                          <a:latin typeface="Calibri" pitchFamily="34" charset="0"/>
                          <a:ea typeface="Calibri" pitchFamily="34" charset="-122"/>
                          <a:cs typeface="Calibri" pitchFamily="34" charset="-120"/>
                        </a:rPr>
                        <a:t>Income lands here — payslip or observed</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6E6484"/>
                          </a:solidFill>
                          <a:latin typeface="Calibri" pitchFamily="34" charset="0"/>
                          <a:ea typeface="Calibri" pitchFamily="34" charset="-122"/>
                          <a:cs typeface="Calibri" pitchFamily="34" charset="-120"/>
                        </a:rPr>
                        <a:t>Yield</a:t>
                      </a:r>
                      <a:endParaRPr lang="en-US" sz="110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dirty="0">
                          <a:solidFill>
                            <a:srgbClr val="2F2740"/>
                          </a:solidFill>
                          <a:latin typeface="Calibri" pitchFamily="34" charset="0"/>
                          <a:ea typeface="Calibri" pitchFamily="34" charset="-122"/>
                          <a:cs typeface="Calibri" pitchFamily="34" charset="-120"/>
                        </a:rPr>
                        <a:t>CETES, matched</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b="1" dirty="0">
                          <a:solidFill>
                            <a:srgbClr val="19102A"/>
                          </a:solidFill>
                          <a:latin typeface="Calibri" pitchFamily="34" charset="0"/>
                          <a:ea typeface="Calibri" pitchFamily="34" charset="-122"/>
                          <a:cs typeface="Calibri" pitchFamily="34" charset="-120"/>
                        </a:rPr>
                        <a:t>CETES + 6.5, capped at one month of income</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6E6484"/>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dirty="0">
                          <a:solidFill>
                            <a:srgbClr val="2F2740"/>
                          </a:solidFill>
                          <a:latin typeface="Calibri" pitchFamily="34" charset="0"/>
                          <a:ea typeface="Calibri" pitchFamily="34" charset="-122"/>
                          <a:cs typeface="Calibri" pitchFamily="34" charset="-120"/>
                        </a:rPr>
                        <a:t>Bureau-thin, score-based</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b="1" dirty="0">
                          <a:solidFill>
                            <a:srgbClr val="19102A"/>
                          </a:solidFill>
                          <a:latin typeface="Calibri" pitchFamily="34" charset="0"/>
                          <a:ea typeface="Calibri" pitchFamily="34" charset="-122"/>
                          <a:cs typeface="Calibri" pitchFamily="34" charset="-120"/>
                        </a:rPr>
                        <a:t>Sized on the income we can see</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6E6484"/>
                          </a:solidFill>
                          <a:latin typeface="Calibri" pitchFamily="34" charset="0"/>
                          <a:ea typeface="Calibri" pitchFamily="34" charset="-122"/>
                          <a:cs typeface="Calibri" pitchFamily="34" charset="-120"/>
                        </a:rPr>
                        <a:t>Card payment</a:t>
                      </a:r>
                      <a:endParaRPr lang="en-US" sz="110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dirty="0">
                          <a:solidFill>
                            <a:srgbClr val="2F2740"/>
                          </a:solidFill>
                          <a:latin typeface="Calibri" pitchFamily="34" charset="0"/>
                          <a:ea typeface="Calibri" pitchFamily="34" charset="-122"/>
                          <a:cs typeface="Calibri" pitchFamily="34" charset="-120"/>
                        </a:rPr>
                        <a:t>Autopay available</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b="1" dirty="0">
                          <a:solidFill>
                            <a:srgbClr val="19102A"/>
                          </a:solidFill>
                          <a:latin typeface="Calibri" pitchFamily="34" charset="0"/>
                          <a:ea typeface="Calibri" pitchFamily="34" charset="-122"/>
                          <a:cs typeface="Calibri" pitchFamily="34" charset="-120"/>
                        </a:rPr>
                        <a:t>Payday-aligned autopay</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6E6484"/>
                          </a:solidFill>
                          <a:latin typeface="Calibri" pitchFamily="34" charset="0"/>
                          <a:ea typeface="Calibri" pitchFamily="34" charset="-122"/>
                          <a:cs typeface="Calibri" pitchFamily="34" charset="-120"/>
                        </a:rPr>
                        <a:t>Rewards</a:t>
                      </a:r>
                      <a:endParaRPr lang="en-US" sz="110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dirty="0">
                          <a:solidFill>
                            <a:srgbClr val="2F2740"/>
                          </a:solidFill>
                          <a:latin typeface="Calibri" pitchFamily="34" charset="0"/>
                          <a:ea typeface="Calibri" pitchFamily="34" charset="-122"/>
                          <a:cs typeface="Calibri" pitchFamily="34" charset="-120"/>
                        </a:rPr>
                        <a:t>Nu+ as today</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b="1" dirty="0">
                          <a:solidFill>
                            <a:srgbClr val="19102A"/>
                          </a:solidFill>
                          <a:latin typeface="Calibri" pitchFamily="34" charset="0"/>
                          <a:ea typeface="Calibri" pitchFamily="34" charset="-122"/>
                          <a:cs typeface="Calibri" pitchFamily="34" charset="-120"/>
                        </a:rPr>
                        <a:t>Nu+ doubled on recargas and basic services</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6E6484"/>
                          </a:solidFill>
                          <a:latin typeface="Calibri" pitchFamily="34" charset="0"/>
                          <a:ea typeface="Calibri" pitchFamily="34" charset="-122"/>
                          <a:cs typeface="Calibri" pitchFamily="34" charset="-120"/>
                        </a:rPr>
                        <a:t>Protection</a:t>
                      </a:r>
                      <a:endParaRPr lang="en-US" sz="110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dirty="0">
                          <a:solidFill>
                            <a:srgbClr val="2F274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b="1" dirty="0">
                          <a:solidFill>
                            <a:srgbClr val="19102A"/>
                          </a:solidFill>
                          <a:latin typeface="Calibri" pitchFamily="34" charset="0"/>
                          <a:ea typeface="Calibri" pitchFamily="34" charset="-122"/>
                          <a:cs typeface="Calibri" pitchFamily="34" charset="-120"/>
                        </a:rPr>
                        <a:t>Micro life and unemployment cover</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6E6484"/>
                          </a:solidFill>
                          <a:latin typeface="Calibri" pitchFamily="34" charset="0"/>
                          <a:ea typeface="Calibri" pitchFamily="34" charset="-122"/>
                          <a:cs typeface="Calibri" pitchFamily="34" charset="-120"/>
                        </a:rPr>
                        <a:t>Fees, minimums</a:t>
                      </a:r>
                      <a:endParaRPr lang="en-US" sz="110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dirty="0">
                          <a:solidFill>
                            <a:srgbClr val="2F2740"/>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c>
                  <a:txBody>
                    <a:bodyPr/>
                    <a:lstStyle/>
                    <a:p>
                      <a:pPr indent="0" marL="0">
                        <a:buNone/>
                      </a:pPr>
                      <a:r>
                        <a:rPr lang="en-US" sz="1150" dirty="0">
                          <a:solidFill>
                            <a:srgbClr val="2F2740"/>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73152" marR="73152" marT="73152" marB="73152" anchor="ctr">
                    <a:lnL w="12700" cap="flat" cmpd="sng" algn="ctr">
                      <a:solidFill>
                        <a:srgbClr val="E2DCEC"/>
                      </a:solidFill>
                      <a:prstDash val="solid"/>
                      <a:round/>
                      <a:headEnd type="none" w="med" len="med"/>
                      <a:tailEnd type="none" w="med" len="med"/>
                    </a:lnL>
                    <a:lnR w="12700" cap="flat" cmpd="sng" algn="ctr">
                      <a:solidFill>
                        <a:srgbClr val="E2DCEC"/>
                      </a:solidFill>
                      <a:prstDash val="solid"/>
                      <a:round/>
                      <a:headEnd type="none" w="med" len="med"/>
                      <a:tailEnd type="none" w="med" len="med"/>
                    </a:lnR>
                    <a:lnT w="12700" cap="flat" cmpd="sng" algn="ctr">
                      <a:solidFill>
                        <a:srgbClr val="E2DCEC"/>
                      </a:solidFill>
                      <a:prstDash val="solid"/>
                      <a:round/>
                      <a:headEnd type="none" w="med" len="med"/>
                      <a:tailEnd type="none" w="med" len="med"/>
                    </a:lnT>
                    <a:lnB w="12700" cap="flat" cmpd="sng" algn="ctr">
                      <a:solidFill>
                        <a:srgbClr val="E2DCEC"/>
                      </a:solidFill>
                      <a:prstDash val="solid"/>
                      <a:round/>
                      <a:headEnd type="none" w="med" len="med"/>
                      <a:tailEnd type="none" w="med" len="med"/>
                    </a:lnB>
                    <a:solidFill>
                      <a:srgbClr val="FFFFFF"/>
                    </a:solidFill>
                  </a:tcPr>
                </a:tc>
              </a:tr>
            </a:tbl>
          </a:graphicData>
        </a:graphic>
      </p:graphicFrame>
      <p:sp>
        <p:nvSpPr>
          <p:cNvPr id="7" name="Shape 4"/>
          <p:cNvSpPr/>
          <p:nvPr/>
        </p:nvSpPr>
        <p:spPr>
          <a:xfrm>
            <a:off x="7452360" y="2286000"/>
            <a:ext cx="4187952" cy="3200400"/>
          </a:xfrm>
          <a:prstGeom prst="roundRect">
            <a:avLst>
              <a:gd name="adj" fmla="val 1714"/>
            </a:avLst>
          </a:prstGeom>
          <a:solidFill>
            <a:srgbClr val="FAF8FD"/>
          </a:solidFill>
          <a:ln w="12700">
            <a:solidFill>
              <a:srgbClr val="E2DCEC"/>
            </a:solidFill>
            <a:prstDash val="solid"/>
          </a:ln>
        </p:spPr>
      </p:sp>
      <p:sp>
        <p:nvSpPr>
          <p:cNvPr id="8" name="Text 5"/>
          <p:cNvSpPr txBox="1"/>
          <p:nvPr/>
        </p:nvSpPr>
        <p:spPr>
          <a:xfrm>
            <a:off x="7708392" y="2468880"/>
            <a:ext cx="3657600" cy="274320"/>
          </a:xfrm>
          <a:prstGeom prst="rect">
            <a:avLst/>
          </a:prstGeom>
          <a:noFill/>
          <a:ln/>
        </p:spPr>
        <p:txBody>
          <a:bodyPr wrap="square" lIns="0" tIns="0" rIns="0" bIns="0" rtlCol="0" anchor="ctr"/>
          <a:lstStyle/>
          <a:p>
            <a:pPr indent="0" marL="0">
              <a:buNone/>
            </a:pPr>
            <a:r>
              <a:rPr lang="en-US" sz="1500" b="1" dirty="0">
                <a:solidFill>
                  <a:srgbClr val="19102A"/>
                </a:solidFill>
                <a:latin typeface="Arial" pitchFamily="34" charset="0"/>
                <a:ea typeface="Arial" pitchFamily="34" charset="-122"/>
                <a:cs typeface="Arial" pitchFamily="34" charset="-120"/>
              </a:rPr>
              <a:t>Assembled, not built</a:t>
            </a:r>
            <a:endParaRPr lang="en-US" sz="1500" dirty="0"/>
          </a:p>
        </p:txBody>
      </p:sp>
      <p:sp>
        <p:nvSpPr>
          <p:cNvPr id="9" name="Text 6"/>
          <p:cNvSpPr txBox="1"/>
          <p:nvPr/>
        </p:nvSpPr>
        <p:spPr>
          <a:xfrm>
            <a:off x="7708392" y="2816352"/>
            <a:ext cx="3657600" cy="219456"/>
          </a:xfrm>
          <a:prstGeom prst="rect">
            <a:avLst/>
          </a:prstGeom>
          <a:noFill/>
          <a:ln/>
        </p:spPr>
        <p:txBody>
          <a:bodyPr wrap="square" lIns="0" tIns="0" rIns="0" bIns="0" rtlCol="0" anchor="ctr"/>
          <a:lstStyle/>
          <a:p>
            <a:pPr indent="0" marL="0">
              <a:buNone/>
            </a:pPr>
            <a:r>
              <a:rPr lang="en-US" sz="900" b="1" spc="110" kern="0" dirty="0">
                <a:solidFill>
                  <a:srgbClr val="6E6484"/>
                </a:solidFill>
                <a:latin typeface="Arial" pitchFamily="34" charset="0"/>
                <a:ea typeface="Arial" pitchFamily="34" charset="-122"/>
                <a:cs typeface="Arial" pitchFamily="34" charset="-120"/>
              </a:rPr>
              <a:t>ALREADY IN THE APP</a:t>
            </a:r>
            <a:endParaRPr lang="en-US" sz="900" dirty="0"/>
          </a:p>
        </p:txBody>
      </p:sp>
      <p:sp>
        <p:nvSpPr>
          <p:cNvPr id="10" name="Text 7"/>
          <p:cNvSpPr txBox="1"/>
          <p:nvPr/>
        </p:nvSpPr>
        <p:spPr>
          <a:xfrm>
            <a:off x="7708392" y="3017520"/>
            <a:ext cx="3657600" cy="685800"/>
          </a:xfrm>
          <a:prstGeom prst="rect">
            <a:avLst/>
          </a:prstGeom>
          <a:noFill/>
          <a:ln/>
        </p:spPr>
        <p:txBody>
          <a:bodyPr wrap="square" lIns="0" tIns="0" rIns="0" bIns="0" rtlCol="0" anchor="ctr"/>
          <a:lstStyle/>
          <a:p>
            <a:pPr indent="0" marL="0">
              <a:lnSpc>
                <a:spcPts val="1450"/>
              </a:lnSpc>
              <a:buNone/>
            </a:pPr>
            <a:r>
              <a:rPr lang="en-US" sz="1100" dirty="0">
                <a:solidFill>
                  <a:srgbClr val="2F2740"/>
                </a:solidFill>
                <a:latin typeface="Calibri" pitchFamily="34" charset="0"/>
                <a:ea typeface="Calibri" pitchFamily="34" charset="-122"/>
                <a:cs typeface="Calibri" pitchFamily="34" charset="-120"/>
              </a:rPr>
              <a:t>Cuenta Nu and debit · Cajitas · credit and secured cards · personal loans · Nu+ points · recargas from 30+ carriers · card autopay</a:t>
            </a:r>
            <a:endParaRPr lang="en-US" sz="1100" dirty="0"/>
          </a:p>
        </p:txBody>
      </p:sp>
      <p:sp>
        <p:nvSpPr>
          <p:cNvPr id="11" name="Text 8"/>
          <p:cNvSpPr txBox="1"/>
          <p:nvPr/>
        </p:nvSpPr>
        <p:spPr>
          <a:xfrm>
            <a:off x="7708392" y="3767328"/>
            <a:ext cx="3657600" cy="219456"/>
          </a:xfrm>
          <a:prstGeom prst="rect">
            <a:avLst/>
          </a:prstGeom>
          <a:noFill/>
          <a:ln/>
        </p:spPr>
        <p:txBody>
          <a:bodyPr wrap="square" lIns="0" tIns="0" rIns="0" bIns="0" rtlCol="0" anchor="ctr"/>
          <a:lstStyle/>
          <a:p>
            <a:pPr indent="0" marL="0">
              <a:buNone/>
            </a:pPr>
            <a:r>
              <a:rPr lang="en-US" sz="900" b="1" spc="110" kern="0" dirty="0">
                <a:solidFill>
                  <a:srgbClr val="820AD1"/>
                </a:solidFill>
                <a:latin typeface="Arial" pitchFamily="34" charset="0"/>
                <a:ea typeface="Arial" pitchFamily="34" charset="-122"/>
                <a:cs typeface="Arial" pitchFamily="34" charset="-120"/>
              </a:rPr>
              <a:t>UNLOCKED BY THE LICENCE</a:t>
            </a:r>
            <a:endParaRPr lang="en-US" sz="900" dirty="0"/>
          </a:p>
        </p:txBody>
      </p:sp>
      <p:sp>
        <p:nvSpPr>
          <p:cNvPr id="12" name="Text 9"/>
          <p:cNvSpPr txBox="1"/>
          <p:nvPr/>
        </p:nvSpPr>
        <p:spPr>
          <a:xfrm>
            <a:off x="7708392" y="3968496"/>
            <a:ext cx="3657600" cy="457200"/>
          </a:xfrm>
          <a:prstGeom prst="rect">
            <a:avLst/>
          </a:prstGeom>
          <a:noFill/>
          <a:ln/>
        </p:spPr>
        <p:txBody>
          <a:bodyPr wrap="square" lIns="0" tIns="0" rIns="0" bIns="0" rtlCol="0" anchor="ctr"/>
          <a:lstStyle/>
          <a:p>
            <a:pPr indent="0" marL="0">
              <a:lnSpc>
                <a:spcPts val="1450"/>
              </a:lnSpc>
              <a:buNone/>
            </a:pPr>
            <a:r>
              <a:rPr lang="en-US" sz="1100" dirty="0">
                <a:solidFill>
                  <a:srgbClr val="2F2740"/>
                </a:solidFill>
                <a:latin typeface="Calibri" pitchFamily="34" charset="0"/>
                <a:ea typeface="Calibri" pitchFamily="34" charset="-122"/>
                <a:cs typeface="Calibri" pitchFamily="34" charset="-120"/>
              </a:rPr>
              <a:t>Payroll hosting · portability · IPAB cover · higher deposit limits · investments</a:t>
            </a:r>
            <a:endParaRPr lang="en-US" sz="1100" dirty="0"/>
          </a:p>
        </p:txBody>
      </p:sp>
      <p:sp>
        <p:nvSpPr>
          <p:cNvPr id="13" name="Text 10"/>
          <p:cNvSpPr txBox="1"/>
          <p:nvPr/>
        </p:nvSpPr>
        <p:spPr>
          <a:xfrm>
            <a:off x="7708392" y="4526280"/>
            <a:ext cx="3703320" cy="868680"/>
          </a:xfrm>
          <a:prstGeom prst="rect">
            <a:avLst/>
          </a:prstGeom>
          <a:noFill/>
          <a:ln/>
        </p:spPr>
        <p:txBody>
          <a:bodyPr wrap="square" lIns="0" tIns="0" rIns="0" bIns="0" rtlCol="0" anchor="ctr"/>
          <a:lstStyle/>
          <a:p>
            <a:pPr indent="0" marL="0">
              <a:lnSpc>
                <a:spcPts val="1500"/>
              </a:lnSpc>
              <a:buNone/>
            </a:pPr>
            <a:r>
              <a:rPr lang="en-US" sz="1150" dirty="0">
                <a:solidFill>
                  <a:srgbClr val="19102A"/>
                </a:solidFill>
                <a:latin typeface="Calibri" pitchFamily="34" charset="0"/>
                <a:ea typeface="Calibri" pitchFamily="34" charset="-122"/>
                <a:cs typeface="Calibri" pitchFamily="34" charset="-120"/>
              </a:rPr>
              <a:t>Every component of the base tier already exists. The bundle is an assembly and a re-anchoring, not a build — which is why it can ship inside the licence window.</a:t>
            </a:r>
            <a:endParaRPr lang="en-US" sz="1150" dirty="0"/>
          </a:p>
        </p:txBody>
      </p:sp>
      <p:sp>
        <p:nvSpPr>
          <p:cNvPr id="14" name="Text 11"/>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Derived: US$5.7B across 16M customers averages ~US$355 a head, so a flat MX$25,000 cap binds only on the high-balance tail — precisely the money we least want to pay 13% for.</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2.1.2  STRATEGY AND SEQUENCING</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24 months, ordered by what expires first</a:t>
            </a:r>
            <a:endParaRPr lang="en-US" sz="3100" dirty="0"/>
          </a:p>
        </p:txBody>
      </p:sp>
      <p:sp>
        <p:nvSpPr>
          <p:cNvPr id="5" name="Text 3"/>
          <p:cNvSpPr txBox="1"/>
          <p:nvPr/>
        </p:nvSpPr>
        <p:spPr>
          <a:xfrm>
            <a:off x="566928" y="1719072"/>
            <a:ext cx="10881360" cy="502920"/>
          </a:xfrm>
          <a:prstGeom prst="rect">
            <a:avLst/>
          </a:prstGeom>
          <a:noFill/>
          <a:ln/>
        </p:spPr>
        <p:txBody>
          <a:bodyPr wrap="square" lIns="0" tIns="0" rIns="0" bIns="0" rtlCol="0" anchor="ctr"/>
          <a:lstStyle/>
          <a:p>
            <a:pPr indent="0" marL="0">
              <a:lnSpc>
                <a:spcPts val="1900"/>
              </a:lnSpc>
              <a:buNone/>
            </a:pPr>
            <a:r>
              <a:rPr lang="en-US" sz="1400" b="1" dirty="0">
                <a:solidFill>
                  <a:srgbClr val="820AD1"/>
                </a:solidFill>
                <a:latin typeface="Calibri" pitchFamily="34" charset="0"/>
                <a:ea typeface="Calibri" pitchFamily="34" charset="-122"/>
                <a:cs typeface="Calibri" pitchFamily="34" charset="-120"/>
              </a:rPr>
              <a:t>Ordering principle:  </a:t>
            </a:r>
            <a:pPr indent="0" marL="0">
              <a:lnSpc>
                <a:spcPts val="1900"/>
              </a:lnSpc>
              <a:buNone/>
            </a:pPr>
            <a:r>
              <a:rPr lang="en-US" sz="1400" dirty="0">
                <a:solidFill>
                  <a:srgbClr val="2F2740"/>
                </a:solidFill>
                <a:latin typeface="Calibri" pitchFamily="34" charset="0"/>
                <a:ea typeface="Calibri" pitchFamily="34" charset="-122"/>
                <a:cs typeface="Calibri" pitchFamily="34" charset="-120"/>
              </a:rPr>
              <a:t>the only thing that expires is licence exclusivity. Anything a licensed competitor could also do goes later. Anything only we can do right now goes first.</a:t>
            </a:r>
            <a:endParaRPr lang="en-US" sz="1400" dirty="0"/>
          </a:p>
        </p:txBody>
      </p:sp>
      <p:sp>
        <p:nvSpPr>
          <p:cNvPr id="6" name="Shape 4"/>
          <p:cNvSpPr/>
          <p:nvPr/>
        </p:nvSpPr>
        <p:spPr>
          <a:xfrm>
            <a:off x="566928" y="2286000"/>
            <a:ext cx="3429000" cy="3246120"/>
          </a:xfrm>
          <a:prstGeom prst="roundRect">
            <a:avLst>
              <a:gd name="adj" fmla="val 1690"/>
            </a:avLst>
          </a:prstGeom>
          <a:solidFill>
            <a:srgbClr val="F3E8FD"/>
          </a:solidFill>
          <a:ln w="12700">
            <a:solidFill>
              <a:srgbClr val="E2DCEC"/>
            </a:solidFill>
            <a:prstDash val="solid"/>
          </a:ln>
        </p:spPr>
      </p:sp>
      <p:sp>
        <p:nvSpPr>
          <p:cNvPr id="7" name="Text 5"/>
          <p:cNvSpPr txBox="1"/>
          <p:nvPr/>
        </p:nvSpPr>
        <p:spPr>
          <a:xfrm>
            <a:off x="822960" y="2468880"/>
            <a:ext cx="3017520" cy="237744"/>
          </a:xfrm>
          <a:prstGeom prst="rect">
            <a:avLst/>
          </a:prstGeom>
          <a:noFill/>
          <a:ln/>
        </p:spPr>
        <p:txBody>
          <a:bodyPr wrap="square" lIns="0" tIns="0" rIns="0" bIns="0" rtlCol="0" anchor="ctr"/>
          <a:lstStyle/>
          <a:p>
            <a:pPr indent="0" marL="0">
              <a:buNone/>
            </a:pPr>
            <a:r>
              <a:rPr lang="en-US" sz="1000" b="1" spc="130" kern="0" dirty="0">
                <a:solidFill>
                  <a:srgbClr val="820AD1"/>
                </a:solidFill>
                <a:latin typeface="Arial" pitchFamily="34" charset="0"/>
                <a:ea typeface="Arial" pitchFamily="34" charset="-122"/>
                <a:cs typeface="Arial" pitchFamily="34" charset="-120"/>
              </a:rPr>
              <a:t>H1 · MONTHS 0–6</a:t>
            </a:r>
            <a:endParaRPr lang="en-US" sz="1000" dirty="0"/>
          </a:p>
        </p:txBody>
      </p:sp>
      <p:sp>
        <p:nvSpPr>
          <p:cNvPr id="8" name="Text 6"/>
          <p:cNvSpPr txBox="1"/>
          <p:nvPr/>
        </p:nvSpPr>
        <p:spPr>
          <a:xfrm>
            <a:off x="822960" y="2743200"/>
            <a:ext cx="2971800" cy="566928"/>
          </a:xfrm>
          <a:prstGeom prst="rect">
            <a:avLst/>
          </a:prstGeom>
          <a:noFill/>
          <a:ln/>
        </p:spPr>
        <p:txBody>
          <a:bodyPr wrap="square" lIns="0" tIns="0" rIns="0" bIns="0" rtlCol="0" anchor="ctr"/>
          <a:lstStyle/>
          <a:p>
            <a:pPr indent="0" marL="0">
              <a:lnSpc>
                <a:spcPts val="2000"/>
              </a:lnSpc>
              <a:buNone/>
            </a:pPr>
            <a:r>
              <a:rPr lang="en-US" sz="1500" b="1" dirty="0">
                <a:solidFill>
                  <a:srgbClr val="19102A"/>
                </a:solidFill>
                <a:latin typeface="Arial" pitchFamily="34" charset="0"/>
                <a:ea typeface="Arial" pitchFamily="34" charset="-122"/>
                <a:cs typeface="Arial" pitchFamily="34" charset="-120"/>
              </a:rPr>
              <a:t>Prove the funding thesis</a:t>
            </a:r>
            <a:endParaRPr lang="en-US" sz="1500" dirty="0"/>
          </a:p>
        </p:txBody>
      </p:sp>
      <p:sp>
        <p:nvSpPr>
          <p:cNvPr id="9" name="Text 7"/>
          <p:cNvSpPr txBox="1"/>
          <p:nvPr/>
        </p:nvSpPr>
        <p:spPr>
          <a:xfrm>
            <a:off x="822960" y="3401568"/>
            <a:ext cx="2971800" cy="1463040"/>
          </a:xfrm>
          <a:prstGeom prst="rect">
            <a:avLst/>
          </a:prstGeom>
          <a:noFill/>
          <a:ln/>
        </p:spPr>
        <p:txBody>
          <a:bodyPr wrap="square" lIns="0" tIns="0" rIns="0" bIns="0" rtlCol="0" anchor="ctr"/>
          <a:lstStyle/>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Re-quote yield as a spread over CETES — no headline cut</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Ship portability to the cohort already visible in our data</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Instrument balance sensitivity by segment, via a geographic holdout</a:t>
            </a:r>
            <a:endParaRPr lang="en-US" sz="1200" dirty="0"/>
          </a:p>
        </p:txBody>
      </p:sp>
      <p:sp>
        <p:nvSpPr>
          <p:cNvPr id="10" name="Text 8"/>
          <p:cNvSpPr txBox="1"/>
          <p:nvPr/>
        </p:nvSpPr>
        <p:spPr>
          <a:xfrm>
            <a:off x="822960" y="4956048"/>
            <a:ext cx="2971800" cy="457200"/>
          </a:xfrm>
          <a:prstGeom prst="rect">
            <a:avLst/>
          </a:prstGeom>
          <a:noFill/>
          <a:ln/>
        </p:spPr>
        <p:txBody>
          <a:bodyPr wrap="square" lIns="0" tIns="0" rIns="0" bIns="0" rtlCol="0" anchor="ctr"/>
          <a:lstStyle/>
          <a:p>
            <a:pPr indent="0" marL="0">
              <a:lnSpc>
                <a:spcPts val="1400"/>
              </a:lnSpc>
              <a:buNone/>
            </a:pPr>
            <a:r>
              <a:rPr lang="en-US" sz="1100" i="1" dirty="0">
                <a:solidFill>
                  <a:srgbClr val="B45309"/>
                </a:solidFill>
                <a:latin typeface="Calibri" pitchFamily="34" charset="0"/>
                <a:ea typeface="Calibri" pitchFamily="34" charset="-122"/>
                <a:cs typeface="Calibri" pitchFamily="34" charset="-120"/>
              </a:rPr>
              <a:t>Metric: completed first salary landings — not sign-ups</a:t>
            </a:r>
            <a:endParaRPr lang="en-US" sz="1100" dirty="0"/>
          </a:p>
        </p:txBody>
      </p:sp>
      <p:sp>
        <p:nvSpPr>
          <p:cNvPr id="11" name="Shape 9"/>
          <p:cNvSpPr/>
          <p:nvPr/>
        </p:nvSpPr>
        <p:spPr>
          <a:xfrm>
            <a:off x="4270248" y="2286000"/>
            <a:ext cx="3429000" cy="3246120"/>
          </a:xfrm>
          <a:prstGeom prst="roundRect">
            <a:avLst>
              <a:gd name="adj" fmla="val 1690"/>
            </a:avLst>
          </a:prstGeom>
          <a:solidFill>
            <a:srgbClr val="FAF8FD"/>
          </a:solidFill>
          <a:ln w="12700">
            <a:solidFill>
              <a:srgbClr val="E2DCEC"/>
            </a:solidFill>
            <a:prstDash val="solid"/>
          </a:ln>
        </p:spPr>
      </p:sp>
      <p:sp>
        <p:nvSpPr>
          <p:cNvPr id="12" name="Text 10"/>
          <p:cNvSpPr txBox="1"/>
          <p:nvPr/>
        </p:nvSpPr>
        <p:spPr>
          <a:xfrm>
            <a:off x="4526280" y="2468880"/>
            <a:ext cx="3017520" cy="237744"/>
          </a:xfrm>
          <a:prstGeom prst="rect">
            <a:avLst/>
          </a:prstGeom>
          <a:noFill/>
          <a:ln/>
        </p:spPr>
        <p:txBody>
          <a:bodyPr wrap="square" lIns="0" tIns="0" rIns="0" bIns="0" rtlCol="0" anchor="ctr"/>
          <a:lstStyle/>
          <a:p>
            <a:pPr indent="0" marL="0">
              <a:buNone/>
            </a:pPr>
            <a:r>
              <a:rPr lang="en-US" sz="1000" b="1" spc="130" kern="0" dirty="0">
                <a:solidFill>
                  <a:srgbClr val="6E6484"/>
                </a:solidFill>
                <a:latin typeface="Arial" pitchFamily="34" charset="0"/>
                <a:ea typeface="Arial" pitchFamily="34" charset="-122"/>
                <a:cs typeface="Arial" pitchFamily="34" charset="-120"/>
              </a:rPr>
              <a:t>H2 · MONTHS 7–12</a:t>
            </a:r>
            <a:endParaRPr lang="en-US" sz="1000" dirty="0"/>
          </a:p>
        </p:txBody>
      </p:sp>
      <p:sp>
        <p:nvSpPr>
          <p:cNvPr id="13" name="Text 11"/>
          <p:cNvSpPr txBox="1"/>
          <p:nvPr/>
        </p:nvSpPr>
        <p:spPr>
          <a:xfrm>
            <a:off x="4526280" y="2743200"/>
            <a:ext cx="2971800" cy="566928"/>
          </a:xfrm>
          <a:prstGeom prst="rect">
            <a:avLst/>
          </a:prstGeom>
          <a:noFill/>
          <a:ln/>
        </p:spPr>
        <p:txBody>
          <a:bodyPr wrap="square" lIns="0" tIns="0" rIns="0" bIns="0" rtlCol="0" anchor="ctr"/>
          <a:lstStyle/>
          <a:p>
            <a:pPr indent="0" marL="0">
              <a:lnSpc>
                <a:spcPts val="2000"/>
              </a:lnSpc>
              <a:buNone/>
            </a:pPr>
            <a:r>
              <a:rPr lang="en-US" sz="1500" b="1" dirty="0">
                <a:solidFill>
                  <a:srgbClr val="19102A"/>
                </a:solidFill>
                <a:latin typeface="Arial" pitchFamily="34" charset="0"/>
                <a:ea typeface="Arial" pitchFamily="34" charset="-122"/>
                <a:cs typeface="Arial" pitchFamily="34" charset="-120"/>
              </a:rPr>
              <a:t>Scale the anchor before the window closes</a:t>
            </a:r>
            <a:endParaRPr lang="en-US" sz="1500" dirty="0"/>
          </a:p>
        </p:txBody>
      </p:sp>
      <p:sp>
        <p:nvSpPr>
          <p:cNvPr id="14" name="Text 12"/>
          <p:cNvSpPr txBox="1"/>
          <p:nvPr/>
        </p:nvSpPr>
        <p:spPr>
          <a:xfrm>
            <a:off x="4526280" y="3401568"/>
            <a:ext cx="2971800" cy="1463040"/>
          </a:xfrm>
          <a:prstGeom prst="rect">
            <a:avLst/>
          </a:prstGeom>
          <a:noFill/>
          <a:ln/>
        </p:spPr>
        <p:txBody>
          <a:bodyPr wrap="square" lIns="0" tIns="0" rIns="0" bIns="0" rtlCol="0" anchor="ctr"/>
          <a:lstStyle/>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Track B: consent flow, income estimator, same tier</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Credit lines sized on observed income</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Bundle GA and protection attach</a:t>
            </a:r>
            <a:endParaRPr lang="en-US" sz="1200" dirty="0"/>
          </a:p>
        </p:txBody>
      </p:sp>
      <p:sp>
        <p:nvSpPr>
          <p:cNvPr id="15" name="Text 13"/>
          <p:cNvSpPr txBox="1"/>
          <p:nvPr/>
        </p:nvSpPr>
        <p:spPr>
          <a:xfrm>
            <a:off x="4526280" y="4956048"/>
            <a:ext cx="2971800" cy="457200"/>
          </a:xfrm>
          <a:prstGeom prst="rect">
            <a:avLst/>
          </a:prstGeom>
          <a:noFill/>
          <a:ln/>
        </p:spPr>
        <p:txBody>
          <a:bodyPr wrap="square" lIns="0" tIns="0" rIns="0" bIns="0" rtlCol="0" anchor="ctr"/>
          <a:lstStyle/>
          <a:p>
            <a:pPr indent="0" marL="0">
              <a:lnSpc>
                <a:spcPts val="1400"/>
              </a:lnSpc>
              <a:buNone/>
            </a:pPr>
            <a:r>
              <a:rPr lang="en-US" sz="1100" i="1" dirty="0">
                <a:solidFill>
                  <a:srgbClr val="B45309"/>
                </a:solidFill>
                <a:latin typeface="Calibri" pitchFamily="34" charset="0"/>
                <a:ea typeface="Calibri" pitchFamily="34" charset="-122"/>
                <a:cs typeface="Calibri" pitchFamily="34" charset="-120"/>
              </a:rPr>
              <a:t>Metric: LDR, and cost of funds against TIIE</a:t>
            </a:r>
            <a:endParaRPr lang="en-US" sz="1100" dirty="0"/>
          </a:p>
        </p:txBody>
      </p:sp>
      <p:sp>
        <p:nvSpPr>
          <p:cNvPr id="16" name="Shape 14"/>
          <p:cNvSpPr/>
          <p:nvPr/>
        </p:nvSpPr>
        <p:spPr>
          <a:xfrm>
            <a:off x="7973568" y="2286000"/>
            <a:ext cx="3429000" cy="3246120"/>
          </a:xfrm>
          <a:prstGeom prst="roundRect">
            <a:avLst>
              <a:gd name="adj" fmla="val 1690"/>
            </a:avLst>
          </a:prstGeom>
          <a:solidFill>
            <a:srgbClr val="FAF8FD"/>
          </a:solidFill>
          <a:ln w="12700">
            <a:solidFill>
              <a:srgbClr val="E2DCEC"/>
            </a:solidFill>
            <a:prstDash val="solid"/>
          </a:ln>
        </p:spPr>
      </p:sp>
      <p:sp>
        <p:nvSpPr>
          <p:cNvPr id="17" name="Text 15"/>
          <p:cNvSpPr txBox="1"/>
          <p:nvPr/>
        </p:nvSpPr>
        <p:spPr>
          <a:xfrm>
            <a:off x="8229600" y="2468880"/>
            <a:ext cx="3017520" cy="237744"/>
          </a:xfrm>
          <a:prstGeom prst="rect">
            <a:avLst/>
          </a:prstGeom>
          <a:noFill/>
          <a:ln/>
        </p:spPr>
        <p:txBody>
          <a:bodyPr wrap="square" lIns="0" tIns="0" rIns="0" bIns="0" rtlCol="0" anchor="ctr"/>
          <a:lstStyle/>
          <a:p>
            <a:pPr indent="0" marL="0">
              <a:buNone/>
            </a:pPr>
            <a:r>
              <a:rPr lang="en-US" sz="1000" b="1" spc="130" kern="0" dirty="0">
                <a:solidFill>
                  <a:srgbClr val="6E6484"/>
                </a:solidFill>
                <a:latin typeface="Arial" pitchFamily="34" charset="0"/>
                <a:ea typeface="Arial" pitchFamily="34" charset="-122"/>
                <a:cs typeface="Arial" pitchFamily="34" charset="-120"/>
              </a:rPr>
              <a:t>H3 · MONTHS 13–24</a:t>
            </a:r>
            <a:endParaRPr lang="en-US" sz="1000" dirty="0"/>
          </a:p>
        </p:txBody>
      </p:sp>
      <p:sp>
        <p:nvSpPr>
          <p:cNvPr id="18" name="Text 16"/>
          <p:cNvSpPr txBox="1"/>
          <p:nvPr/>
        </p:nvSpPr>
        <p:spPr>
          <a:xfrm>
            <a:off x="8229600" y="2743200"/>
            <a:ext cx="2971800" cy="566928"/>
          </a:xfrm>
          <a:prstGeom prst="rect">
            <a:avLst/>
          </a:prstGeom>
          <a:noFill/>
          <a:ln/>
        </p:spPr>
        <p:txBody>
          <a:bodyPr wrap="square" lIns="0" tIns="0" rIns="0" bIns="0" rtlCol="0" anchor="ctr"/>
          <a:lstStyle/>
          <a:p>
            <a:pPr indent="0" marL="0">
              <a:lnSpc>
                <a:spcPts val="2000"/>
              </a:lnSpc>
              <a:buNone/>
            </a:pPr>
            <a:r>
              <a:rPr lang="en-US" sz="1500" b="1" dirty="0">
                <a:solidFill>
                  <a:srgbClr val="19102A"/>
                </a:solidFill>
                <a:latin typeface="Arial" pitchFamily="34" charset="0"/>
                <a:ea typeface="Arial" pitchFamily="34" charset="-122"/>
                <a:cs typeface="Arial" pitchFamily="34" charset="-120"/>
              </a:rPr>
              <a:t>Convert the anchor into ARPAC</a:t>
            </a:r>
            <a:endParaRPr lang="en-US" sz="1500" dirty="0"/>
          </a:p>
        </p:txBody>
      </p:sp>
      <p:sp>
        <p:nvSpPr>
          <p:cNvPr id="19" name="Text 17"/>
          <p:cNvSpPr txBox="1"/>
          <p:nvPr/>
        </p:nvSpPr>
        <p:spPr>
          <a:xfrm>
            <a:off x="8229600" y="3401568"/>
            <a:ext cx="2971800" cy="1463040"/>
          </a:xfrm>
          <a:prstGeom prst="rect">
            <a:avLst/>
          </a:prstGeom>
          <a:noFill/>
          <a:ln/>
        </p:spPr>
        <p:txBody>
          <a:bodyPr wrap="square" lIns="0" tIns="0" rIns="0" bIns="0" rtlCol="0" anchor="ctr"/>
          <a:lstStyle/>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Investments — newly licensable</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Crédito de nómina and higher-value lending</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Employer-side offer, only now</a:t>
            </a:r>
            <a:endParaRPr lang="en-US" sz="1200" dirty="0"/>
          </a:p>
        </p:txBody>
      </p:sp>
      <p:sp>
        <p:nvSpPr>
          <p:cNvPr id="20" name="Text 18"/>
          <p:cNvSpPr txBox="1"/>
          <p:nvPr/>
        </p:nvSpPr>
        <p:spPr>
          <a:xfrm>
            <a:off x="8229600" y="4956048"/>
            <a:ext cx="2971800" cy="457200"/>
          </a:xfrm>
          <a:prstGeom prst="rect">
            <a:avLst/>
          </a:prstGeom>
          <a:noFill/>
          <a:ln/>
        </p:spPr>
        <p:txBody>
          <a:bodyPr wrap="square" lIns="0" tIns="0" rIns="0" bIns="0" rtlCol="0" anchor="ctr"/>
          <a:lstStyle/>
          <a:p>
            <a:pPr indent="0" marL="0">
              <a:lnSpc>
                <a:spcPts val="1400"/>
              </a:lnSpc>
              <a:buNone/>
            </a:pPr>
            <a:r>
              <a:rPr lang="en-US" sz="1100" i="1" dirty="0">
                <a:solidFill>
                  <a:srgbClr val="B45309"/>
                </a:solidFill>
                <a:latin typeface="Calibri" pitchFamily="34" charset="0"/>
                <a:ea typeface="Calibri" pitchFamily="34" charset="-122"/>
                <a:cs typeface="Calibri" pitchFamily="34" charset="-120"/>
              </a:rPr>
              <a:t>Leading with an HR sales motion is how a challenger loses this market</a:t>
            </a:r>
            <a:endParaRPr lang="en-US" sz="1100" dirty="0"/>
          </a:p>
        </p:txBody>
      </p:sp>
      <p:sp>
        <p:nvSpPr>
          <p:cNvPr id="21" name="Text 19"/>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And ship the simple version first: when I tested this in México, a plain loan-number ladder captured about four fifths of what a fully personalised causal model achieved. Personalisation earns its place later.</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2.1.3  PRICING AND YIELD</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Four moves, and the data behind each</a:t>
            </a:r>
            <a:endParaRPr lang="en-US" sz="3100" dirty="0"/>
          </a:p>
        </p:txBody>
      </p:sp>
      <p:sp>
        <p:nvSpPr>
          <p:cNvPr id="5" name="Shape 3"/>
          <p:cNvSpPr/>
          <p:nvPr/>
        </p:nvSpPr>
        <p:spPr>
          <a:xfrm>
            <a:off x="566928" y="1801368"/>
            <a:ext cx="310896" cy="310896"/>
          </a:xfrm>
          <a:prstGeom prst="ellipse">
            <a:avLst/>
          </a:prstGeom>
          <a:solidFill>
            <a:srgbClr val="F3E8FD"/>
          </a:solidFill>
          <a:ln/>
        </p:spPr>
      </p:sp>
      <p:sp>
        <p:nvSpPr>
          <p:cNvPr id="6" name="Text 4"/>
          <p:cNvSpPr txBox="1"/>
          <p:nvPr/>
        </p:nvSpPr>
        <p:spPr>
          <a:xfrm>
            <a:off x="566928" y="1837944"/>
            <a:ext cx="310896" cy="237744"/>
          </a:xfrm>
          <a:prstGeom prst="rect">
            <a:avLst/>
          </a:prstGeom>
          <a:noFill/>
          <a:ln/>
        </p:spPr>
        <p:txBody>
          <a:bodyPr wrap="square" lIns="0" tIns="0" rIns="0" bIns="0" rtlCol="0" anchor="ctr"/>
          <a:lstStyle/>
          <a:p>
            <a:pPr algn="ctr" indent="0" marL="0">
              <a:buNone/>
            </a:pPr>
            <a:r>
              <a:rPr lang="en-US" sz="1300" b="1" dirty="0">
                <a:solidFill>
                  <a:srgbClr val="820AD1"/>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987552" y="1783080"/>
            <a:ext cx="3337560" cy="402336"/>
          </a:xfrm>
          <a:prstGeom prst="rect">
            <a:avLst/>
          </a:prstGeom>
          <a:noFill/>
          <a:ln/>
        </p:spPr>
        <p:txBody>
          <a:bodyPr wrap="square" lIns="0" tIns="0" rIns="0" bIns="0" rtlCol="0" anchor="ctr"/>
          <a:lstStyle/>
          <a:p>
            <a:pPr indent="0" marL="0">
              <a:lnSpc>
                <a:spcPts val="1700"/>
              </a:lnSpc>
              <a:buNone/>
            </a:pPr>
            <a:r>
              <a:rPr lang="en-US" sz="1350" b="1" dirty="0">
                <a:solidFill>
                  <a:srgbClr val="19102A"/>
                </a:solidFill>
                <a:latin typeface="Arial" pitchFamily="34" charset="0"/>
                <a:ea typeface="Arial" pitchFamily="34" charset="-122"/>
                <a:cs typeface="Arial" pitchFamily="34" charset="-120"/>
              </a:rPr>
              <a:t>Quote a spread, not a number.</a:t>
            </a:r>
            <a:endParaRPr lang="en-US" sz="1350" dirty="0"/>
          </a:p>
        </p:txBody>
      </p:sp>
      <p:sp>
        <p:nvSpPr>
          <p:cNvPr id="8" name="Text 6"/>
          <p:cNvSpPr txBox="1"/>
          <p:nvPr/>
        </p:nvSpPr>
        <p:spPr>
          <a:xfrm>
            <a:off x="987552" y="2203704"/>
            <a:ext cx="3310128" cy="96012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Brazil already quotes its equivalent box as 120% of CDI. México quotes “13% fija”, so every cut must be announced — January’s made headlines. México is the outlier here, not the innovator.</a:t>
            </a:r>
            <a:endParaRPr lang="en-US" sz="1150" dirty="0"/>
          </a:p>
        </p:txBody>
      </p:sp>
      <p:sp>
        <p:nvSpPr>
          <p:cNvPr id="9" name="Shape 7"/>
          <p:cNvSpPr/>
          <p:nvPr/>
        </p:nvSpPr>
        <p:spPr>
          <a:xfrm>
            <a:off x="4498848" y="1801368"/>
            <a:ext cx="310896" cy="310896"/>
          </a:xfrm>
          <a:prstGeom prst="ellipse">
            <a:avLst/>
          </a:prstGeom>
          <a:solidFill>
            <a:srgbClr val="F3E8FD"/>
          </a:solidFill>
          <a:ln/>
        </p:spPr>
      </p:sp>
      <p:sp>
        <p:nvSpPr>
          <p:cNvPr id="10" name="Text 8"/>
          <p:cNvSpPr txBox="1"/>
          <p:nvPr/>
        </p:nvSpPr>
        <p:spPr>
          <a:xfrm>
            <a:off x="4498848" y="1837944"/>
            <a:ext cx="310896" cy="237744"/>
          </a:xfrm>
          <a:prstGeom prst="rect">
            <a:avLst/>
          </a:prstGeom>
          <a:noFill/>
          <a:ln/>
        </p:spPr>
        <p:txBody>
          <a:bodyPr wrap="square" lIns="0" tIns="0" rIns="0" bIns="0" rtlCol="0" anchor="ctr"/>
          <a:lstStyle/>
          <a:p>
            <a:pPr algn="ctr" indent="0" marL="0">
              <a:buNone/>
            </a:pPr>
            <a:r>
              <a:rPr lang="en-US" sz="1300" b="1" dirty="0">
                <a:solidFill>
                  <a:srgbClr val="820AD1"/>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19472" y="1783080"/>
            <a:ext cx="3337560" cy="402336"/>
          </a:xfrm>
          <a:prstGeom prst="rect">
            <a:avLst/>
          </a:prstGeom>
          <a:noFill/>
          <a:ln/>
        </p:spPr>
        <p:txBody>
          <a:bodyPr wrap="square" lIns="0" tIns="0" rIns="0" bIns="0" rtlCol="0" anchor="ctr"/>
          <a:lstStyle/>
          <a:p>
            <a:pPr indent="0" marL="0">
              <a:lnSpc>
                <a:spcPts val="1700"/>
              </a:lnSpc>
              <a:buNone/>
            </a:pPr>
            <a:r>
              <a:rPr lang="en-US" sz="1350" b="1" dirty="0">
                <a:solidFill>
                  <a:srgbClr val="19102A"/>
                </a:solidFill>
                <a:latin typeface="Arial" pitchFamily="34" charset="0"/>
                <a:ea typeface="Arial" pitchFamily="34" charset="-122"/>
                <a:cs typeface="Arial" pitchFamily="34" charset="-120"/>
              </a:rPr>
              <a:t>Fix the gate and the cap, not the size.</a:t>
            </a:r>
            <a:endParaRPr lang="en-US" sz="1350" dirty="0"/>
          </a:p>
        </p:txBody>
      </p:sp>
      <p:sp>
        <p:nvSpPr>
          <p:cNvPr id="12" name="Text 10"/>
          <p:cNvSpPr txBox="1"/>
          <p:nvPr/>
        </p:nvSpPr>
        <p:spPr>
          <a:xfrm>
            <a:off x="4919472" y="2203704"/>
            <a:ext cx="3310128" cy="96012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Further cuts have diminishing returns and brand cost. Re-point the 13% at income landing rather than one card purchase, and scale the cap with income rather than a flat MX$25,000.</a:t>
            </a:r>
            <a:endParaRPr lang="en-US" sz="1150" dirty="0"/>
          </a:p>
        </p:txBody>
      </p:sp>
      <p:sp>
        <p:nvSpPr>
          <p:cNvPr id="13" name="Shape 11"/>
          <p:cNvSpPr/>
          <p:nvPr/>
        </p:nvSpPr>
        <p:spPr>
          <a:xfrm>
            <a:off x="566928" y="3282696"/>
            <a:ext cx="310896" cy="310896"/>
          </a:xfrm>
          <a:prstGeom prst="ellipse">
            <a:avLst/>
          </a:prstGeom>
          <a:solidFill>
            <a:srgbClr val="F3E8FD"/>
          </a:solidFill>
          <a:ln/>
        </p:spPr>
      </p:sp>
      <p:sp>
        <p:nvSpPr>
          <p:cNvPr id="14" name="Text 12"/>
          <p:cNvSpPr txBox="1"/>
          <p:nvPr/>
        </p:nvSpPr>
        <p:spPr>
          <a:xfrm>
            <a:off x="566928" y="3319272"/>
            <a:ext cx="310896" cy="237744"/>
          </a:xfrm>
          <a:prstGeom prst="rect">
            <a:avLst/>
          </a:prstGeom>
          <a:noFill/>
          <a:ln/>
        </p:spPr>
        <p:txBody>
          <a:bodyPr wrap="square" lIns="0" tIns="0" rIns="0" bIns="0" rtlCol="0" anchor="ctr"/>
          <a:lstStyle/>
          <a:p>
            <a:pPr algn="ctr" indent="0" marL="0">
              <a:buNone/>
            </a:pPr>
            <a:r>
              <a:rPr lang="en-US" sz="1300" b="1" dirty="0">
                <a:solidFill>
                  <a:srgbClr val="820AD1"/>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987552" y="3264408"/>
            <a:ext cx="3337560" cy="402336"/>
          </a:xfrm>
          <a:prstGeom prst="rect">
            <a:avLst/>
          </a:prstGeom>
          <a:noFill/>
          <a:ln/>
        </p:spPr>
        <p:txBody>
          <a:bodyPr wrap="square" lIns="0" tIns="0" rIns="0" bIns="0" rtlCol="0" anchor="ctr"/>
          <a:lstStyle/>
          <a:p>
            <a:pPr indent="0" marL="0">
              <a:lnSpc>
                <a:spcPts val="1700"/>
              </a:lnSpc>
              <a:buNone/>
            </a:pPr>
            <a:r>
              <a:rPr lang="en-US" sz="1350" b="1" dirty="0">
                <a:solidFill>
                  <a:srgbClr val="19102A"/>
                </a:solidFill>
                <a:latin typeface="Arial" pitchFamily="34" charset="0"/>
                <a:ea typeface="Arial" pitchFamily="34" charset="-122"/>
                <a:cs typeface="Arial" pitchFamily="34" charset="-120"/>
              </a:rPr>
              <a:t>Segment balance sensitivity. Never blend it.</a:t>
            </a:r>
            <a:endParaRPr lang="en-US" sz="1350" dirty="0"/>
          </a:p>
        </p:txBody>
      </p:sp>
      <p:sp>
        <p:nvSpPr>
          <p:cNvPr id="16" name="Text 14"/>
          <p:cNvSpPr txBox="1"/>
          <p:nvPr/>
        </p:nvSpPr>
        <p:spPr>
          <a:xfrm>
            <a:off x="987552" y="3685032"/>
            <a:ext cx="3310128" cy="96012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Balances that leave per point of rate cut — not the pass-through “deposit beta”. The base is two populations: brand-acquired and near-insensitive, and rate-shoppers. Blending them makes every cut look safe until it is not.</a:t>
            </a:r>
            <a:endParaRPr lang="en-US" sz="1150" dirty="0"/>
          </a:p>
        </p:txBody>
      </p:sp>
      <p:sp>
        <p:nvSpPr>
          <p:cNvPr id="17" name="Shape 15"/>
          <p:cNvSpPr/>
          <p:nvPr/>
        </p:nvSpPr>
        <p:spPr>
          <a:xfrm>
            <a:off x="4498848" y="3282696"/>
            <a:ext cx="310896" cy="310896"/>
          </a:xfrm>
          <a:prstGeom prst="ellipse">
            <a:avLst/>
          </a:prstGeom>
          <a:solidFill>
            <a:srgbClr val="F3E8FD"/>
          </a:solidFill>
          <a:ln/>
        </p:spPr>
      </p:sp>
      <p:sp>
        <p:nvSpPr>
          <p:cNvPr id="18" name="Text 16"/>
          <p:cNvSpPr txBox="1"/>
          <p:nvPr/>
        </p:nvSpPr>
        <p:spPr>
          <a:xfrm>
            <a:off x="4498848" y="3319272"/>
            <a:ext cx="310896" cy="237744"/>
          </a:xfrm>
          <a:prstGeom prst="rect">
            <a:avLst/>
          </a:prstGeom>
          <a:noFill/>
          <a:ln/>
        </p:spPr>
        <p:txBody>
          <a:bodyPr wrap="square" lIns="0" tIns="0" rIns="0" bIns="0" rtlCol="0" anchor="ctr"/>
          <a:lstStyle/>
          <a:p>
            <a:pPr algn="ctr" indent="0" marL="0">
              <a:buNone/>
            </a:pPr>
            <a:r>
              <a:rPr lang="en-US" sz="1300" b="1" dirty="0">
                <a:solidFill>
                  <a:srgbClr val="820AD1"/>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4919472" y="3264408"/>
            <a:ext cx="3337560" cy="402336"/>
          </a:xfrm>
          <a:prstGeom prst="rect">
            <a:avLst/>
          </a:prstGeom>
          <a:noFill/>
          <a:ln/>
        </p:spPr>
        <p:txBody>
          <a:bodyPr wrap="square" lIns="0" tIns="0" rIns="0" bIns="0" rtlCol="0" anchor="ctr"/>
          <a:lstStyle/>
          <a:p>
            <a:pPr indent="0" marL="0">
              <a:lnSpc>
                <a:spcPts val="1700"/>
              </a:lnSpc>
              <a:buNone/>
            </a:pPr>
            <a:r>
              <a:rPr lang="en-US" sz="1350" b="1" dirty="0">
                <a:solidFill>
                  <a:srgbClr val="19102A"/>
                </a:solidFill>
                <a:latin typeface="Arial" pitchFamily="34" charset="0"/>
                <a:ea typeface="Arial" pitchFamily="34" charset="-122"/>
                <a:cs typeface="Arial" pitchFamily="34" charset="-120"/>
              </a:rPr>
              <a:t>Retire “deposit growth” as a goal.</a:t>
            </a:r>
            <a:endParaRPr lang="en-US" sz="1350" dirty="0"/>
          </a:p>
        </p:txBody>
      </p:sp>
      <p:sp>
        <p:nvSpPr>
          <p:cNvPr id="20" name="Text 18"/>
          <p:cNvSpPr txBox="1"/>
          <p:nvPr/>
        </p:nvSpPr>
        <p:spPr>
          <a:xfrm>
            <a:off x="4919472" y="3685032"/>
            <a:ext cx="3310128" cy="96012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At 35% LDR it is a cost line wearing a growth metric’s clothes. Replace with deployable deposits and cost of funds against TIIE.</a:t>
            </a:r>
            <a:endParaRPr lang="en-US" sz="1150" dirty="0"/>
          </a:p>
        </p:txBody>
      </p:sp>
      <p:sp>
        <p:nvSpPr>
          <p:cNvPr id="21" name="Shape 19"/>
          <p:cNvSpPr/>
          <p:nvPr/>
        </p:nvSpPr>
        <p:spPr>
          <a:xfrm>
            <a:off x="8229600" y="1783080"/>
            <a:ext cx="3410712" cy="3931920"/>
          </a:xfrm>
          <a:prstGeom prst="roundRect">
            <a:avLst>
              <a:gd name="adj" fmla="val 1609"/>
            </a:avLst>
          </a:prstGeom>
          <a:solidFill>
            <a:srgbClr val="F3E8FD"/>
          </a:solidFill>
          <a:ln w="12700">
            <a:solidFill>
              <a:srgbClr val="E2DCEC"/>
            </a:solidFill>
            <a:prstDash val="solid"/>
          </a:ln>
        </p:spPr>
      </p:sp>
      <p:sp>
        <p:nvSpPr>
          <p:cNvPr id="22" name="Text 20"/>
          <p:cNvSpPr txBox="1"/>
          <p:nvPr/>
        </p:nvSpPr>
        <p:spPr>
          <a:xfrm>
            <a:off x="8485632" y="1965960"/>
            <a:ext cx="2926080" cy="274320"/>
          </a:xfrm>
          <a:prstGeom prst="rect">
            <a:avLst/>
          </a:prstGeom>
          <a:noFill/>
          <a:ln/>
        </p:spPr>
        <p:txBody>
          <a:bodyPr wrap="square" lIns="0" tIns="0" rIns="0" bIns="0" rtlCol="0" anchor="ctr"/>
          <a:lstStyle/>
          <a:p>
            <a:pPr indent="0" marL="0">
              <a:buNone/>
            </a:pPr>
            <a:r>
              <a:rPr lang="en-US" sz="1400" b="1" dirty="0">
                <a:solidFill>
                  <a:srgbClr val="820AD1"/>
                </a:solidFill>
                <a:latin typeface="Arial" pitchFamily="34" charset="0"/>
                <a:ea typeface="Arial" pitchFamily="34" charset="-122"/>
                <a:cs typeface="Arial" pitchFamily="34" charset="-120"/>
              </a:rPr>
              <a:t>The first test I would run</a:t>
            </a:r>
            <a:endParaRPr lang="en-US" sz="1400" dirty="0"/>
          </a:p>
        </p:txBody>
      </p:sp>
      <p:sp>
        <p:nvSpPr>
          <p:cNvPr id="23" name="Text 21"/>
          <p:cNvSpPr txBox="1"/>
          <p:nvPr/>
        </p:nvSpPr>
        <p:spPr>
          <a:xfrm>
            <a:off x="8485632" y="2331720"/>
            <a:ext cx="868680" cy="237744"/>
          </a:xfrm>
          <a:prstGeom prst="rect">
            <a:avLst/>
          </a:prstGeom>
          <a:noFill/>
          <a:ln/>
        </p:spPr>
        <p:txBody>
          <a:bodyPr wrap="square" lIns="0" tIns="0" rIns="0" bIns="0" rtlCol="0" anchor="ctr"/>
          <a:lstStyle/>
          <a:p>
            <a:pPr indent="0" marL="0">
              <a:buNone/>
            </a:pPr>
            <a:r>
              <a:rPr lang="en-US" sz="900" b="1" spc="100" kern="0" dirty="0">
                <a:solidFill>
                  <a:srgbClr val="820AD1"/>
                </a:solidFill>
                <a:latin typeface="Arial" pitchFamily="34" charset="0"/>
                <a:ea typeface="Arial" pitchFamily="34" charset="-122"/>
                <a:cs typeface="Arial" pitchFamily="34" charset="-120"/>
              </a:rPr>
              <a:t>UNIT</a:t>
            </a:r>
            <a:endParaRPr lang="en-US" sz="900" dirty="0"/>
          </a:p>
        </p:txBody>
      </p:sp>
      <p:sp>
        <p:nvSpPr>
          <p:cNvPr id="24" name="Text 22"/>
          <p:cNvSpPr txBox="1"/>
          <p:nvPr/>
        </p:nvSpPr>
        <p:spPr>
          <a:xfrm>
            <a:off x="8485632" y="2514600"/>
            <a:ext cx="2926080" cy="384048"/>
          </a:xfrm>
          <a:prstGeom prst="rect">
            <a:avLst/>
          </a:prstGeom>
          <a:noFill/>
          <a:ln/>
        </p:spPr>
        <p:txBody>
          <a:bodyPr wrap="square" lIns="0" tIns="0" rIns="0" bIns="0" rtlCol="0" anchor="ctr"/>
          <a:lstStyle/>
          <a:p>
            <a:pPr indent="0" marL="0">
              <a:lnSpc>
                <a:spcPts val="1400"/>
              </a:lnSpc>
              <a:buNone/>
            </a:pPr>
            <a:r>
              <a:rPr lang="en-US" sz="1100" dirty="0">
                <a:solidFill>
                  <a:srgbClr val="2F2740"/>
                </a:solidFill>
                <a:latin typeface="Calibri" pitchFamily="34" charset="0"/>
                <a:ea typeface="Calibri" pitchFamily="34" charset="-122"/>
                <a:cs typeface="Calibri" pitchFamily="34" charset="-120"/>
              </a:rPr>
              <a:t>Customer, randomised at the Turbo gate</a:t>
            </a:r>
            <a:endParaRPr lang="en-US" sz="1100" dirty="0"/>
          </a:p>
        </p:txBody>
      </p:sp>
      <p:sp>
        <p:nvSpPr>
          <p:cNvPr id="25" name="Text 23"/>
          <p:cNvSpPr txBox="1"/>
          <p:nvPr/>
        </p:nvSpPr>
        <p:spPr>
          <a:xfrm>
            <a:off x="8485632" y="2880360"/>
            <a:ext cx="868680" cy="237744"/>
          </a:xfrm>
          <a:prstGeom prst="rect">
            <a:avLst/>
          </a:prstGeom>
          <a:noFill/>
          <a:ln/>
        </p:spPr>
        <p:txBody>
          <a:bodyPr wrap="square" lIns="0" tIns="0" rIns="0" bIns="0" rtlCol="0" anchor="ctr"/>
          <a:lstStyle/>
          <a:p>
            <a:pPr indent="0" marL="0">
              <a:buNone/>
            </a:pPr>
            <a:r>
              <a:rPr lang="en-US" sz="900" b="1" spc="100" kern="0" dirty="0">
                <a:solidFill>
                  <a:srgbClr val="820AD1"/>
                </a:solidFill>
                <a:latin typeface="Arial" pitchFamily="34" charset="0"/>
                <a:ea typeface="Arial" pitchFamily="34" charset="-122"/>
                <a:cs typeface="Arial" pitchFamily="34" charset="-120"/>
              </a:rPr>
              <a:t>ARMS</a:t>
            </a:r>
            <a:endParaRPr lang="en-US" sz="900" dirty="0"/>
          </a:p>
        </p:txBody>
      </p:sp>
      <p:sp>
        <p:nvSpPr>
          <p:cNvPr id="26" name="Text 24"/>
          <p:cNvSpPr txBox="1"/>
          <p:nvPr/>
        </p:nvSpPr>
        <p:spPr>
          <a:xfrm>
            <a:off x="8485632" y="3063240"/>
            <a:ext cx="2926080" cy="384048"/>
          </a:xfrm>
          <a:prstGeom prst="rect">
            <a:avLst/>
          </a:prstGeom>
          <a:noFill/>
          <a:ln/>
        </p:spPr>
        <p:txBody>
          <a:bodyPr wrap="square" lIns="0" tIns="0" rIns="0" bIns="0" rtlCol="0" anchor="ctr"/>
          <a:lstStyle/>
          <a:p>
            <a:pPr indent="0" marL="0">
              <a:lnSpc>
                <a:spcPts val="1400"/>
              </a:lnSpc>
              <a:buNone/>
            </a:pPr>
            <a:r>
              <a:rPr lang="en-US" sz="1100" dirty="0">
                <a:solidFill>
                  <a:srgbClr val="2F2740"/>
                </a:solidFill>
                <a:latin typeface="Calibri" pitchFamily="34" charset="0"/>
                <a:ea typeface="Calibri" pitchFamily="34" charset="-122"/>
                <a:cs typeface="Calibri" pitchFamily="34" charset="-120"/>
              </a:rPr>
              <a:t>Premium gated on income landing, vs. on one card purchase, vs. control</a:t>
            </a:r>
            <a:endParaRPr lang="en-US" sz="1100" dirty="0"/>
          </a:p>
        </p:txBody>
      </p:sp>
      <p:sp>
        <p:nvSpPr>
          <p:cNvPr id="27" name="Text 25"/>
          <p:cNvSpPr txBox="1"/>
          <p:nvPr/>
        </p:nvSpPr>
        <p:spPr>
          <a:xfrm>
            <a:off x="8485632" y="3429000"/>
            <a:ext cx="868680" cy="237744"/>
          </a:xfrm>
          <a:prstGeom prst="rect">
            <a:avLst/>
          </a:prstGeom>
          <a:noFill/>
          <a:ln/>
        </p:spPr>
        <p:txBody>
          <a:bodyPr wrap="square" lIns="0" tIns="0" rIns="0" bIns="0" rtlCol="0" anchor="ctr"/>
          <a:lstStyle/>
          <a:p>
            <a:pPr indent="0" marL="0">
              <a:buNone/>
            </a:pPr>
            <a:r>
              <a:rPr lang="en-US" sz="900" b="1" spc="100" kern="0" dirty="0">
                <a:solidFill>
                  <a:srgbClr val="820AD1"/>
                </a:solidFill>
                <a:latin typeface="Arial" pitchFamily="34" charset="0"/>
                <a:ea typeface="Arial" pitchFamily="34" charset="-122"/>
                <a:cs typeface="Arial" pitchFamily="34" charset="-120"/>
              </a:rPr>
              <a:t>PRIMARY</a:t>
            </a:r>
            <a:endParaRPr lang="en-US" sz="900" dirty="0"/>
          </a:p>
        </p:txBody>
      </p:sp>
      <p:sp>
        <p:nvSpPr>
          <p:cNvPr id="28" name="Text 26"/>
          <p:cNvSpPr txBox="1"/>
          <p:nvPr/>
        </p:nvSpPr>
        <p:spPr>
          <a:xfrm>
            <a:off x="8485632" y="3611880"/>
            <a:ext cx="2926080" cy="384048"/>
          </a:xfrm>
          <a:prstGeom prst="rect">
            <a:avLst/>
          </a:prstGeom>
          <a:noFill/>
          <a:ln/>
        </p:spPr>
        <p:txBody>
          <a:bodyPr wrap="square" lIns="0" tIns="0" rIns="0" bIns="0" rtlCol="0" anchor="ctr"/>
          <a:lstStyle/>
          <a:p>
            <a:pPr indent="0" marL="0">
              <a:lnSpc>
                <a:spcPts val="1400"/>
              </a:lnSpc>
              <a:buNone/>
            </a:pPr>
            <a:r>
              <a:rPr lang="en-US" sz="1100" dirty="0">
                <a:solidFill>
                  <a:srgbClr val="2F2740"/>
                </a:solidFill>
                <a:latin typeface="Calibri" pitchFamily="34" charset="0"/>
                <a:ea typeface="Calibri" pitchFamily="34" charset="-122"/>
                <a:cs typeface="Calibri" pitchFamily="34" charset="-120"/>
              </a:rPr>
              <a:t>Balance retention · blended cost of funds</a:t>
            </a:r>
            <a:endParaRPr lang="en-US" sz="1100" dirty="0"/>
          </a:p>
        </p:txBody>
      </p:sp>
      <p:sp>
        <p:nvSpPr>
          <p:cNvPr id="29" name="Text 27"/>
          <p:cNvSpPr txBox="1"/>
          <p:nvPr/>
        </p:nvSpPr>
        <p:spPr>
          <a:xfrm>
            <a:off x="8485632" y="3977640"/>
            <a:ext cx="868680" cy="237744"/>
          </a:xfrm>
          <a:prstGeom prst="rect">
            <a:avLst/>
          </a:prstGeom>
          <a:noFill/>
          <a:ln/>
        </p:spPr>
        <p:txBody>
          <a:bodyPr wrap="square" lIns="0" tIns="0" rIns="0" bIns="0" rtlCol="0" anchor="ctr"/>
          <a:lstStyle/>
          <a:p>
            <a:pPr indent="0" marL="0">
              <a:buNone/>
            </a:pPr>
            <a:r>
              <a:rPr lang="en-US" sz="900" b="1" spc="100" kern="0" dirty="0">
                <a:solidFill>
                  <a:srgbClr val="820AD1"/>
                </a:solidFill>
                <a:latin typeface="Arial" pitchFamily="34" charset="0"/>
                <a:ea typeface="Arial" pitchFamily="34" charset="-122"/>
                <a:cs typeface="Arial" pitchFamily="34" charset="-120"/>
              </a:rPr>
              <a:t>GUARDRAIL</a:t>
            </a:r>
            <a:endParaRPr lang="en-US" sz="900" dirty="0"/>
          </a:p>
        </p:txBody>
      </p:sp>
      <p:sp>
        <p:nvSpPr>
          <p:cNvPr id="30" name="Text 28"/>
          <p:cNvSpPr txBox="1"/>
          <p:nvPr/>
        </p:nvSpPr>
        <p:spPr>
          <a:xfrm>
            <a:off x="8485632" y="4160520"/>
            <a:ext cx="2926080" cy="384048"/>
          </a:xfrm>
          <a:prstGeom prst="rect">
            <a:avLst/>
          </a:prstGeom>
          <a:noFill/>
          <a:ln/>
        </p:spPr>
        <p:txBody>
          <a:bodyPr wrap="square" lIns="0" tIns="0" rIns="0" bIns="0" rtlCol="0" anchor="ctr"/>
          <a:lstStyle/>
          <a:p>
            <a:pPr indent="0" marL="0">
              <a:lnSpc>
                <a:spcPts val="1400"/>
              </a:lnSpc>
              <a:buNone/>
            </a:pPr>
            <a:r>
              <a:rPr lang="en-US" sz="1100" dirty="0">
                <a:solidFill>
                  <a:srgbClr val="2F2740"/>
                </a:solidFill>
                <a:latin typeface="Calibri" pitchFamily="34" charset="0"/>
                <a:ea typeface="Calibri" pitchFamily="34" charset="-122"/>
                <a:cs typeface="Calibri" pitchFamily="34" charset="-120"/>
              </a:rPr>
              <a:t>Card transaction volume — Card’s metric, agreed with them before launch</a:t>
            </a:r>
            <a:endParaRPr lang="en-US" sz="1100" dirty="0"/>
          </a:p>
        </p:txBody>
      </p:sp>
      <p:sp>
        <p:nvSpPr>
          <p:cNvPr id="31" name="Text 29"/>
          <p:cNvSpPr txBox="1"/>
          <p:nvPr/>
        </p:nvSpPr>
        <p:spPr>
          <a:xfrm>
            <a:off x="8485632" y="4526280"/>
            <a:ext cx="868680" cy="237744"/>
          </a:xfrm>
          <a:prstGeom prst="rect">
            <a:avLst/>
          </a:prstGeom>
          <a:noFill/>
          <a:ln/>
        </p:spPr>
        <p:txBody>
          <a:bodyPr wrap="square" lIns="0" tIns="0" rIns="0" bIns="0" rtlCol="0" anchor="ctr"/>
          <a:lstStyle/>
          <a:p>
            <a:pPr indent="0" marL="0">
              <a:buNone/>
            </a:pPr>
            <a:r>
              <a:rPr lang="en-US" sz="900" b="1" spc="100" kern="0" dirty="0">
                <a:solidFill>
                  <a:srgbClr val="820AD1"/>
                </a:solidFill>
                <a:latin typeface="Arial" pitchFamily="34" charset="0"/>
                <a:ea typeface="Arial" pitchFamily="34" charset="-122"/>
                <a:cs typeface="Arial" pitchFamily="34" charset="-120"/>
              </a:rPr>
              <a:t>ACCEPT</a:t>
            </a:r>
            <a:endParaRPr lang="en-US" sz="900" dirty="0"/>
          </a:p>
        </p:txBody>
      </p:sp>
      <p:sp>
        <p:nvSpPr>
          <p:cNvPr id="32" name="Text 30"/>
          <p:cNvSpPr txBox="1"/>
          <p:nvPr/>
        </p:nvSpPr>
        <p:spPr>
          <a:xfrm>
            <a:off x="8485632" y="4709160"/>
            <a:ext cx="2926080" cy="384048"/>
          </a:xfrm>
          <a:prstGeom prst="rect">
            <a:avLst/>
          </a:prstGeom>
          <a:noFill/>
          <a:ln/>
        </p:spPr>
        <p:txBody>
          <a:bodyPr wrap="square" lIns="0" tIns="0" rIns="0" bIns="0" rtlCol="0" anchor="ctr"/>
          <a:lstStyle/>
          <a:p>
            <a:pPr indent="0" marL="0">
              <a:lnSpc>
                <a:spcPts val="1400"/>
              </a:lnSpc>
              <a:buNone/>
            </a:pPr>
            <a:r>
              <a:rPr lang="en-US" sz="1100" dirty="0">
                <a:solidFill>
                  <a:srgbClr val="2F2740"/>
                </a:solidFill>
                <a:latin typeface="Calibri" pitchFamily="34" charset="0"/>
                <a:ea typeface="Calibri" pitchFamily="34" charset="-122"/>
                <a:cs typeface="Calibri" pitchFamily="34" charset="-120"/>
              </a:rPr>
              <a:t>Neutral or positive contribution margin. Do no harm.</a:t>
            </a:r>
            <a:endParaRPr lang="en-US" sz="1100" dirty="0"/>
          </a:p>
        </p:txBody>
      </p:sp>
      <p:sp>
        <p:nvSpPr>
          <p:cNvPr id="33" name="Text 31"/>
          <p:cNvSpPr txBox="1"/>
          <p:nvPr/>
        </p:nvSpPr>
        <p:spPr>
          <a:xfrm>
            <a:off x="8485632" y="5074920"/>
            <a:ext cx="868680" cy="237744"/>
          </a:xfrm>
          <a:prstGeom prst="rect">
            <a:avLst/>
          </a:prstGeom>
          <a:noFill/>
          <a:ln/>
        </p:spPr>
        <p:txBody>
          <a:bodyPr wrap="square" lIns="0" tIns="0" rIns="0" bIns="0" rtlCol="0" anchor="ctr"/>
          <a:lstStyle/>
          <a:p>
            <a:pPr indent="0" marL="0">
              <a:buNone/>
            </a:pPr>
            <a:r>
              <a:rPr lang="en-US" sz="900" b="1" spc="100" kern="0" dirty="0">
                <a:solidFill>
                  <a:srgbClr val="820AD1"/>
                </a:solidFill>
                <a:latin typeface="Arial" pitchFamily="34" charset="0"/>
                <a:ea typeface="Arial" pitchFamily="34" charset="-122"/>
                <a:cs typeface="Arial" pitchFamily="34" charset="-120"/>
              </a:rPr>
              <a:t>SET FIRST</a:t>
            </a:r>
            <a:endParaRPr lang="en-US" sz="900" dirty="0"/>
          </a:p>
        </p:txBody>
      </p:sp>
      <p:sp>
        <p:nvSpPr>
          <p:cNvPr id="34" name="Text 32"/>
          <p:cNvSpPr txBox="1"/>
          <p:nvPr/>
        </p:nvSpPr>
        <p:spPr>
          <a:xfrm>
            <a:off x="8485632" y="5257800"/>
            <a:ext cx="2926080" cy="384048"/>
          </a:xfrm>
          <a:prstGeom prst="rect">
            <a:avLst/>
          </a:prstGeom>
          <a:noFill/>
          <a:ln/>
        </p:spPr>
        <p:txBody>
          <a:bodyPr wrap="square" lIns="0" tIns="0" rIns="0" bIns="0" rtlCol="0" anchor="ctr"/>
          <a:lstStyle/>
          <a:p>
            <a:pPr indent="0" marL="0">
              <a:lnSpc>
                <a:spcPts val="1400"/>
              </a:lnSpc>
              <a:buNone/>
            </a:pPr>
            <a:r>
              <a:rPr lang="en-US" sz="1100" dirty="0">
                <a:solidFill>
                  <a:srgbClr val="2F2740"/>
                </a:solidFill>
                <a:latin typeface="Calibri" pitchFamily="34" charset="0"/>
                <a:ea typeface="Calibri" pitchFamily="34" charset="-122"/>
                <a:cs typeface="Calibri" pitchFamily="34" charset="-120"/>
              </a:rPr>
              <a:t>MDE and power before launch, never after</a:t>
            </a:r>
            <a:endParaRPr lang="en-US" sz="1100" dirty="0"/>
          </a:p>
        </p:txBody>
      </p:sp>
      <p:sp>
        <p:nvSpPr>
          <p:cNvPr id="35" name="Text 33"/>
          <p:cNvSpPr txBox="1"/>
          <p:nvPr/>
        </p:nvSpPr>
        <p:spPr>
          <a:xfrm>
            <a:off x="566928" y="4828032"/>
            <a:ext cx="7406640" cy="1051560"/>
          </a:xfrm>
          <a:prstGeom prst="rect">
            <a:avLst/>
          </a:prstGeom>
          <a:noFill/>
          <a:ln/>
        </p:spPr>
        <p:txBody>
          <a:bodyPr wrap="square" lIns="0" tIns="0" rIns="0" bIns="0" rtlCol="0" anchor="ctr"/>
          <a:lstStyle/>
          <a:p>
            <a:pPr indent="0" marL="0">
              <a:lnSpc>
                <a:spcPts val="1700"/>
              </a:lnSpc>
              <a:buNone/>
            </a:pPr>
            <a:r>
              <a:rPr lang="en-US" sz="1250" b="1" dirty="0">
                <a:solidFill>
                  <a:srgbClr val="19102A"/>
                </a:solidFill>
                <a:latin typeface="Calibri" pitchFamily="34" charset="0"/>
                <a:ea typeface="Calibri" pitchFamily="34" charset="-122"/>
                <a:cs typeface="Calibri" pitchFamily="34" charset="-120"/>
              </a:rPr>
              <a:t>The base was never bought with rate.  </a:t>
            </a:r>
            <a:pPr indent="0" marL="0">
              <a:lnSpc>
                <a:spcPts val="1700"/>
              </a:lnSpc>
              <a:buNone/>
            </a:pPr>
            <a:r>
              <a:rPr lang="en-US" sz="1250" dirty="0">
                <a:solidFill>
                  <a:srgbClr val="2F2740"/>
                </a:solidFill>
                <a:latin typeface="Calibri" pitchFamily="34" charset="0"/>
                <a:ea typeface="Calibri" pitchFamily="34" charset="-122"/>
                <a:cs typeface="Calibri" pitchFamily="34" charset="-120"/>
              </a:rPr>
              <a:t>Cuenta Nu launched publicly in May 2023 at 9%, when Banxico’s policy rate was 11.25%. The first wave of savers arrived at a yield below the risk-free rate — for liquidity, no minimums, no fees and the app. The rate arms race came afterwards, which is why I would change what the rate is quoted against and attached to rather than cut it.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102A"/>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B65CE8"/>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B65CE8"/>
                </a:solidFill>
                <a:latin typeface="Arial" pitchFamily="34" charset="0"/>
                <a:ea typeface="Arial" pitchFamily="34" charset="-122"/>
                <a:cs typeface="Arial" pitchFamily="34" charset="-120"/>
              </a:rPr>
              <a:t>2.1.3  LIVE</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FFFFFF"/>
                </a:solidFill>
                <a:latin typeface="Arial" pitchFamily="34" charset="0"/>
                <a:ea typeface="Arial" pitchFamily="34" charset="-122"/>
                <a:cs typeface="Arial" pitchFamily="34" charset="-120"/>
              </a:rPr>
              <a:t>The pricing decision, not the pricing principle</a:t>
            </a:r>
            <a:endParaRPr lang="en-US" sz="3100" dirty="0"/>
          </a:p>
        </p:txBody>
      </p:sp>
      <p:sp>
        <p:nvSpPr>
          <p:cNvPr id="5" name="Text 3"/>
          <p:cNvSpPr txBox="1"/>
          <p:nvPr/>
        </p:nvSpPr>
        <p:spPr>
          <a:xfrm>
            <a:off x="566928" y="1783080"/>
            <a:ext cx="10881360" cy="548640"/>
          </a:xfrm>
          <a:prstGeom prst="rect">
            <a:avLst/>
          </a:prstGeom>
          <a:noFill/>
          <a:ln/>
        </p:spPr>
        <p:txBody>
          <a:bodyPr wrap="square" lIns="0" tIns="0" rIns="0" bIns="0" rtlCol="0" anchor="ctr"/>
          <a:lstStyle/>
          <a:p>
            <a:pPr indent="0" marL="0">
              <a:buNone/>
            </a:pPr>
            <a:r>
              <a:rPr lang="en-US" sz="1400" i="1" dirty="0">
                <a:solidFill>
                  <a:srgbClr val="A08FB8"/>
                </a:solidFill>
                <a:latin typeface="Calibri" pitchFamily="34" charset="0"/>
                <a:ea typeface="Calibri" pitchFamily="34" charset="-122"/>
                <a:cs typeface="Calibri" pitchFamily="34" charset="-120"/>
              </a:rPr>
              <a:t>“…including the actual trade-offs and data you would use to make a pricing decision, not just the strategic principles behind it.”</a:t>
            </a:r>
            <a:endParaRPr lang="en-US" sz="1400" dirty="0"/>
          </a:p>
        </p:txBody>
      </p:sp>
      <p:sp>
        <p:nvSpPr>
          <p:cNvPr id="6" name="Shape 4"/>
          <p:cNvSpPr/>
          <p:nvPr/>
        </p:nvSpPr>
        <p:spPr>
          <a:xfrm>
            <a:off x="566928" y="2523744"/>
            <a:ext cx="365760" cy="365760"/>
          </a:xfrm>
          <a:prstGeom prst="ellipse">
            <a:avLst/>
          </a:prstGeom>
          <a:solidFill>
            <a:srgbClr val="820AD1"/>
          </a:solidFill>
          <a:ln/>
        </p:spPr>
      </p:sp>
      <p:sp>
        <p:nvSpPr>
          <p:cNvPr id="7" name="Text 5"/>
          <p:cNvSpPr txBox="1"/>
          <p:nvPr/>
        </p:nvSpPr>
        <p:spPr>
          <a:xfrm>
            <a:off x="566928" y="2578608"/>
            <a:ext cx="365760"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115568" y="2487168"/>
            <a:ext cx="2468880"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Today</a:t>
            </a:r>
            <a:endParaRPr lang="en-US" sz="1600" dirty="0"/>
          </a:p>
        </p:txBody>
      </p:sp>
      <p:sp>
        <p:nvSpPr>
          <p:cNvPr id="9" name="Text 7"/>
          <p:cNvSpPr txBox="1"/>
          <p:nvPr/>
        </p:nvSpPr>
        <p:spPr>
          <a:xfrm>
            <a:off x="3675888" y="2514600"/>
            <a:ext cx="4937760" cy="640080"/>
          </a:xfrm>
          <a:prstGeom prst="rect">
            <a:avLst/>
          </a:prstGeom>
          <a:noFill/>
          <a:ln/>
        </p:spPr>
        <p:txBody>
          <a:bodyPr wrap="square" lIns="0" tIns="0" rIns="0" bIns="0" rtlCol="0" anchor="ctr"/>
          <a:lstStyle/>
          <a:p>
            <a:pPr indent="0" marL="0">
              <a:lnSpc>
                <a:spcPts val="1700"/>
              </a:lnSpc>
              <a:buNone/>
            </a:pPr>
            <a:r>
              <a:rPr lang="en-US" sz="1300" dirty="0">
                <a:solidFill>
                  <a:srgbClr val="C9BEDC"/>
                </a:solidFill>
                <a:latin typeface="Calibri" pitchFamily="34" charset="0"/>
                <a:ea typeface="Calibri" pitchFamily="34" charset="-122"/>
                <a:cs typeface="Calibri" pitchFamily="34" charset="-120"/>
              </a:rPr>
              <a:t>1.6pp on the next peso. The business as the public numbers describe it.</a:t>
            </a:r>
            <a:endParaRPr lang="en-US" sz="1300" dirty="0"/>
          </a:p>
        </p:txBody>
      </p:sp>
      <p:sp>
        <p:nvSpPr>
          <p:cNvPr id="10" name="Shape 8"/>
          <p:cNvSpPr/>
          <p:nvPr/>
        </p:nvSpPr>
        <p:spPr>
          <a:xfrm>
            <a:off x="566928" y="3483864"/>
            <a:ext cx="365760" cy="365760"/>
          </a:xfrm>
          <a:prstGeom prst="ellipse">
            <a:avLst/>
          </a:prstGeom>
          <a:solidFill>
            <a:srgbClr val="820AD1"/>
          </a:solidFill>
          <a:ln/>
        </p:spPr>
      </p:sp>
      <p:sp>
        <p:nvSpPr>
          <p:cNvPr id="11" name="Text 9"/>
          <p:cNvSpPr txBox="1"/>
          <p:nvPr/>
        </p:nvSpPr>
        <p:spPr>
          <a:xfrm>
            <a:off x="566928" y="3538728"/>
            <a:ext cx="365760"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1115568" y="3447288"/>
            <a:ext cx="2468880"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Cut the rate only</a:t>
            </a:r>
            <a:endParaRPr lang="en-US" sz="1600" dirty="0"/>
          </a:p>
        </p:txBody>
      </p:sp>
      <p:sp>
        <p:nvSpPr>
          <p:cNvPr id="13" name="Text 11"/>
          <p:cNvSpPr txBox="1"/>
          <p:nvPr/>
        </p:nvSpPr>
        <p:spPr>
          <a:xfrm>
            <a:off x="3675888" y="3474720"/>
            <a:ext cx="4937760" cy="640080"/>
          </a:xfrm>
          <a:prstGeom prst="rect">
            <a:avLst/>
          </a:prstGeom>
          <a:noFill/>
          <a:ln/>
        </p:spPr>
        <p:txBody>
          <a:bodyPr wrap="square" lIns="0" tIns="0" rIns="0" bIns="0" rtlCol="0" anchor="ctr"/>
          <a:lstStyle/>
          <a:p>
            <a:pPr indent="0" marL="0">
              <a:lnSpc>
                <a:spcPts val="1700"/>
              </a:lnSpc>
              <a:buNone/>
            </a:pPr>
            <a:r>
              <a:rPr lang="en-US" sz="1300" dirty="0">
                <a:solidFill>
                  <a:srgbClr val="C9BEDC"/>
                </a:solidFill>
                <a:latin typeface="Calibri" pitchFamily="34" charset="0"/>
                <a:ea typeface="Calibri" pitchFamily="34" charset="-122"/>
                <a:cs typeface="Calibri" pitchFamily="34" charset="-120"/>
              </a:rPr>
              <a:t>Spread improves — and we lose about a tenth of the balances. It works once.</a:t>
            </a:r>
            <a:endParaRPr lang="en-US" sz="1300" dirty="0"/>
          </a:p>
        </p:txBody>
      </p:sp>
      <p:sp>
        <p:nvSpPr>
          <p:cNvPr id="14" name="Shape 12"/>
          <p:cNvSpPr/>
          <p:nvPr/>
        </p:nvSpPr>
        <p:spPr>
          <a:xfrm>
            <a:off x="566928" y="4443984"/>
            <a:ext cx="365760" cy="365760"/>
          </a:xfrm>
          <a:prstGeom prst="ellipse">
            <a:avLst/>
          </a:prstGeom>
          <a:solidFill>
            <a:srgbClr val="820AD1"/>
          </a:solidFill>
          <a:ln/>
        </p:spPr>
      </p:sp>
      <p:sp>
        <p:nvSpPr>
          <p:cNvPr id="15" name="Text 13"/>
          <p:cNvSpPr txBox="1"/>
          <p:nvPr/>
        </p:nvSpPr>
        <p:spPr>
          <a:xfrm>
            <a:off x="566928" y="4498848"/>
            <a:ext cx="365760"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1115568" y="4407408"/>
            <a:ext cx="2468880"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24-month plan</a:t>
            </a:r>
            <a:endParaRPr lang="en-US" sz="1600" dirty="0"/>
          </a:p>
        </p:txBody>
      </p:sp>
      <p:sp>
        <p:nvSpPr>
          <p:cNvPr id="17" name="Text 15"/>
          <p:cNvSpPr txBox="1"/>
          <p:nvPr/>
        </p:nvSpPr>
        <p:spPr>
          <a:xfrm>
            <a:off x="3675888" y="4434840"/>
            <a:ext cx="4937760" cy="640080"/>
          </a:xfrm>
          <a:prstGeom prst="rect">
            <a:avLst/>
          </a:prstGeom>
          <a:noFill/>
          <a:ln/>
        </p:spPr>
        <p:txBody>
          <a:bodyPr wrap="square" lIns="0" tIns="0" rIns="0" bIns="0" rtlCol="0" anchor="ctr"/>
          <a:lstStyle/>
          <a:p>
            <a:pPr indent="0" marL="0">
              <a:lnSpc>
                <a:spcPts val="1700"/>
              </a:lnSpc>
              <a:buNone/>
            </a:pPr>
            <a:r>
              <a:rPr lang="en-US" sz="1300" dirty="0">
                <a:solidFill>
                  <a:srgbClr val="C9BEDC"/>
                </a:solidFill>
                <a:latin typeface="Calibri" pitchFamily="34" charset="0"/>
                <a:ea typeface="Calibri" pitchFamily="34" charset="-122"/>
                <a:cs typeface="Calibri" pitchFamily="34" charset="-120"/>
              </a:rPr>
              <a:t>Same rate. Never touched the yield slider. LDR to ~56%, spread to ~6pp.</a:t>
            </a:r>
            <a:endParaRPr lang="en-US" sz="1300" dirty="0"/>
          </a:p>
        </p:txBody>
      </p:sp>
      <p:sp>
        <p:nvSpPr>
          <p:cNvPr id="18" name="Shape 16"/>
          <p:cNvSpPr/>
          <p:nvPr/>
        </p:nvSpPr>
        <p:spPr>
          <a:xfrm>
            <a:off x="8503920" y="2377440"/>
            <a:ext cx="3136392" cy="2651760"/>
          </a:xfrm>
          <a:prstGeom prst="roundRect">
            <a:avLst>
              <a:gd name="adj" fmla="val 2069"/>
            </a:avLst>
          </a:prstGeom>
          <a:solidFill>
            <a:srgbClr val="2A1D3D"/>
          </a:solidFill>
          <a:ln w="12700">
            <a:solidFill>
              <a:srgbClr val="E2DCEC"/>
            </a:solidFill>
            <a:prstDash val="solid"/>
          </a:ln>
        </p:spPr>
      </p:sp>
      <p:sp>
        <p:nvSpPr>
          <p:cNvPr id="19" name="Shape 17"/>
          <p:cNvSpPr/>
          <p:nvPr/>
        </p:nvSpPr>
        <p:spPr>
          <a:xfrm>
            <a:off x="8503920" y="2377440"/>
            <a:ext cx="3136392" cy="2651760"/>
          </a:xfrm>
          <a:prstGeom prst="roundRect">
            <a:avLst>
              <a:gd name="adj" fmla="val 2069"/>
            </a:avLst>
          </a:prstGeom>
          <a:solidFill>
            <a:srgbClr val="2A1D3D"/>
          </a:solidFill>
          <a:ln w="12700">
            <a:solidFill>
              <a:srgbClr val="54397A"/>
            </a:solidFill>
            <a:prstDash val="solid"/>
          </a:ln>
        </p:spPr>
      </p:sp>
      <p:sp>
        <p:nvSpPr>
          <p:cNvPr id="20" name="Text 18"/>
          <p:cNvSpPr txBox="1"/>
          <p:nvPr/>
        </p:nvSpPr>
        <p:spPr>
          <a:xfrm>
            <a:off x="8759952" y="2560320"/>
            <a:ext cx="2651760" cy="274320"/>
          </a:xfrm>
          <a:prstGeom prst="rect">
            <a:avLst/>
          </a:prstGeom>
          <a:noFill/>
          <a:ln/>
        </p:spPr>
        <p:txBody>
          <a:bodyPr wrap="square" lIns="0" tIns="0" rIns="0" bIns="0" rtlCol="0" anchor="ctr"/>
          <a:lstStyle/>
          <a:p>
            <a:pPr indent="0" marL="0">
              <a:buNone/>
            </a:pPr>
            <a:r>
              <a:rPr lang="en-US" sz="1300" b="1" dirty="0">
                <a:solidFill>
                  <a:srgbClr val="B65CE8"/>
                </a:solidFill>
                <a:latin typeface="Arial" pitchFamily="34" charset="0"/>
                <a:ea typeface="Arial" pitchFamily="34" charset="-122"/>
                <a:cs typeface="Arial" pitchFamily="34" charset="-120"/>
              </a:rPr>
              <a:t>Then invite the attack</a:t>
            </a:r>
            <a:endParaRPr lang="en-US" sz="1300" dirty="0"/>
          </a:p>
        </p:txBody>
      </p:sp>
      <p:sp>
        <p:nvSpPr>
          <p:cNvPr id="21" name="Text 19"/>
          <p:cNvSpPr txBox="1"/>
          <p:nvPr/>
        </p:nvSpPr>
        <p:spPr>
          <a:xfrm>
            <a:off x="8759952" y="2907792"/>
            <a:ext cx="2651760" cy="1920240"/>
          </a:xfrm>
          <a:prstGeom prst="rect">
            <a:avLst/>
          </a:prstGeom>
          <a:noFill/>
          <a:ln/>
        </p:spPr>
        <p:txBody>
          <a:bodyPr wrap="square" lIns="0" tIns="0" rIns="0" bIns="0" rtlCol="0" anchor="ctr"/>
          <a:lstStyle/>
          <a:p>
            <a:pPr indent="0" marL="0">
              <a:lnSpc>
                <a:spcPts val="1650"/>
              </a:lnSpc>
              <a:buNone/>
            </a:pPr>
            <a:r>
              <a:rPr lang="en-US" sz="1200" dirty="0">
                <a:solidFill>
                  <a:srgbClr val="D6CCE6"/>
                </a:solidFill>
                <a:latin typeface="Calibri" pitchFamily="34" charset="0"/>
                <a:ea typeface="Calibri" pitchFamily="34" charset="-122"/>
                <a:cs typeface="Calibri" pitchFamily="34" charset="-120"/>
              </a:rPr>
              <a:t>“Move any slider. The one I would move first is balance sensitivity — push it to 6 and the rate-cut story stops working. That asymmetry is the argument: a rate cut is a one-time harvest with rising risk. Income visibility compounds.”</a:t>
            </a:r>
            <a:endParaRPr lang="en-US" sz="1200" dirty="0"/>
          </a:p>
        </p:txBody>
      </p:sp>
      <p:sp>
        <p:nvSpPr>
          <p:cNvPr id="22" name="Text 20"/>
          <p:cNvSpPr txBox="1"/>
          <p:nvPr/>
        </p:nvSpPr>
        <p:spPr>
          <a:xfrm>
            <a:off x="566928" y="5623560"/>
            <a:ext cx="10881360" cy="320040"/>
          </a:xfrm>
          <a:prstGeom prst="rect">
            <a:avLst/>
          </a:prstGeom>
          <a:noFill/>
          <a:ln/>
        </p:spPr>
        <p:txBody>
          <a:bodyPr wrap="square" lIns="0" tIns="0" rIns="0" bIns="0" rtlCol="0" anchor="ctr"/>
          <a:lstStyle/>
          <a:p>
            <a:pPr indent="0" marL="0">
              <a:buNone/>
            </a:pPr>
            <a:r>
              <a:rPr lang="en-US" sz="1200" dirty="0">
                <a:solidFill>
                  <a:srgbClr val="B65CE8"/>
                </a:solidFill>
                <a:latin typeface="Calibri" pitchFamily="34" charset="0"/>
                <a:ea typeface="Calibri" pitchFamily="34" charset="-122"/>
                <a:cs typeface="Calibri" pitchFamily="34" charset="-120"/>
              </a:rPr>
              <a:t>Interactive model and both product flows:  claude.ai/code/artifact/93da0992-7c28-4c92-81cd-f67f16a3cfaa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2.1.4  PRODUCT · CUENTA NÓMINA</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The payroll account, and why it holds</a:t>
            </a:r>
            <a:endParaRPr lang="en-US" sz="3100" dirty="0"/>
          </a:p>
        </p:txBody>
      </p:sp>
      <p:sp>
        <p:nvSpPr>
          <p:cNvPr id="5" name="Text 3"/>
          <p:cNvSpPr txBox="1"/>
          <p:nvPr/>
        </p:nvSpPr>
        <p:spPr>
          <a:xfrm>
            <a:off x="566928" y="1719072"/>
            <a:ext cx="2468880" cy="566928"/>
          </a:xfrm>
          <a:prstGeom prst="rect">
            <a:avLst/>
          </a:prstGeom>
          <a:noFill/>
          <a:ln/>
        </p:spPr>
        <p:txBody>
          <a:bodyPr wrap="square" lIns="0" tIns="0" rIns="0" bIns="0" rtlCol="0" anchor="ctr"/>
          <a:lstStyle/>
          <a:p>
            <a:pPr indent="0" marL="0">
              <a:buNone/>
            </a:pPr>
            <a:r>
              <a:rPr lang="en-US" sz="3400" b="1" dirty="0">
                <a:solidFill>
                  <a:srgbClr val="820AD1"/>
                </a:solidFill>
                <a:latin typeface="Arial" pitchFamily="34" charset="0"/>
                <a:ea typeface="Arial" pitchFamily="34" charset="-122"/>
                <a:cs typeface="Arial" pitchFamily="34" charset="-120"/>
              </a:rPr>
              <a:t>22.76M</a:t>
            </a:r>
            <a:endParaRPr lang="en-US" sz="3400" dirty="0"/>
          </a:p>
        </p:txBody>
      </p:sp>
      <p:sp>
        <p:nvSpPr>
          <p:cNvPr id="6" name="Text 4"/>
          <p:cNvSpPr txBox="1"/>
          <p:nvPr/>
        </p:nvSpPr>
        <p:spPr>
          <a:xfrm>
            <a:off x="566928" y="2286000"/>
            <a:ext cx="2468880" cy="237744"/>
          </a:xfrm>
          <a:prstGeom prst="rect">
            <a:avLst/>
          </a:prstGeom>
          <a:noFill/>
          <a:ln/>
        </p:spPr>
        <p:txBody>
          <a:bodyPr wrap="square" lIns="0" tIns="0" rIns="0" bIns="0" rtlCol="0" anchor="ctr"/>
          <a:lstStyle/>
          <a:p>
            <a:pPr indent="0" marL="0">
              <a:buNone/>
            </a:pPr>
            <a:r>
              <a:rPr lang="en-US" sz="1000" b="1" spc="120" kern="0" dirty="0">
                <a:solidFill>
                  <a:srgbClr val="6E6484"/>
                </a:solidFill>
                <a:latin typeface="Arial" pitchFamily="34" charset="0"/>
                <a:ea typeface="Arial" pitchFamily="34" charset="-122"/>
                <a:cs typeface="Arial" pitchFamily="34" charset="-120"/>
              </a:rPr>
              <a:t>FORMAL JOBS (IMSS)</a:t>
            </a:r>
            <a:endParaRPr lang="en-US" sz="1000" dirty="0"/>
          </a:p>
        </p:txBody>
      </p:sp>
      <p:sp>
        <p:nvSpPr>
          <p:cNvPr id="7" name="Text 5"/>
          <p:cNvSpPr txBox="1"/>
          <p:nvPr/>
        </p:nvSpPr>
        <p:spPr>
          <a:xfrm>
            <a:off x="566928" y="2523744"/>
            <a:ext cx="2468880" cy="457200"/>
          </a:xfrm>
          <a:prstGeom prst="rect">
            <a:avLst/>
          </a:prstGeom>
          <a:noFill/>
          <a:ln/>
        </p:spPr>
        <p:txBody>
          <a:bodyPr wrap="square" lIns="0" tIns="0" rIns="0" bIns="0" rtlCol="0" anchor="ctr"/>
          <a:lstStyle/>
          <a:p>
            <a:pPr indent="0" marL="0">
              <a:buNone/>
            </a:pPr>
            <a:r>
              <a:rPr lang="en-US" sz="1100" dirty="0">
                <a:solidFill>
                  <a:srgbClr val="2F2740"/>
                </a:solidFill>
                <a:latin typeface="Calibri" pitchFamily="34" charset="0"/>
                <a:ea typeface="Calibri" pitchFamily="34" charset="-122"/>
                <a:cs typeface="Calibri" pitchFamily="34" charset="-120"/>
              </a:rPr>
              <a:t>record, July 2026</a:t>
            </a:r>
            <a:endParaRPr lang="en-US" sz="1100" dirty="0"/>
          </a:p>
        </p:txBody>
      </p:sp>
      <p:sp>
        <p:nvSpPr>
          <p:cNvPr id="8" name="Text 6"/>
          <p:cNvSpPr txBox="1"/>
          <p:nvPr/>
        </p:nvSpPr>
        <p:spPr>
          <a:xfrm>
            <a:off x="3355848" y="1719072"/>
            <a:ext cx="2468880" cy="566928"/>
          </a:xfrm>
          <a:prstGeom prst="rect">
            <a:avLst/>
          </a:prstGeom>
          <a:noFill/>
          <a:ln/>
        </p:spPr>
        <p:txBody>
          <a:bodyPr wrap="square" lIns="0" tIns="0" rIns="0" bIns="0" rtlCol="0" anchor="ctr"/>
          <a:lstStyle/>
          <a:p>
            <a:pPr indent="0" marL="0">
              <a:buNone/>
            </a:pPr>
            <a:r>
              <a:rPr lang="en-US" sz="3400" b="1" dirty="0">
                <a:solidFill>
                  <a:srgbClr val="820AD1"/>
                </a:solidFill>
                <a:latin typeface="Arial" pitchFamily="34" charset="0"/>
                <a:ea typeface="Arial" pitchFamily="34" charset="-122"/>
                <a:cs typeface="Arial" pitchFamily="34" charset="-120"/>
              </a:rPr>
              <a:t>~36%</a:t>
            </a:r>
            <a:endParaRPr lang="en-US" sz="3400" dirty="0"/>
          </a:p>
        </p:txBody>
      </p:sp>
      <p:sp>
        <p:nvSpPr>
          <p:cNvPr id="9" name="Text 7"/>
          <p:cNvSpPr txBox="1"/>
          <p:nvPr/>
        </p:nvSpPr>
        <p:spPr>
          <a:xfrm>
            <a:off x="3355848" y="2286000"/>
            <a:ext cx="2468880" cy="237744"/>
          </a:xfrm>
          <a:prstGeom prst="rect">
            <a:avLst/>
          </a:prstGeom>
          <a:noFill/>
          <a:ln/>
        </p:spPr>
        <p:txBody>
          <a:bodyPr wrap="square" lIns="0" tIns="0" rIns="0" bIns="0" rtlCol="0" anchor="ctr"/>
          <a:lstStyle/>
          <a:p>
            <a:pPr indent="0" marL="0">
              <a:buNone/>
            </a:pPr>
            <a:r>
              <a:rPr lang="en-US" sz="1000" b="1" spc="120" kern="0" dirty="0">
                <a:solidFill>
                  <a:srgbClr val="6E6484"/>
                </a:solidFill>
                <a:latin typeface="Arial" pitchFamily="34" charset="0"/>
                <a:ea typeface="Arial" pitchFamily="34" charset="-122"/>
                <a:cs typeface="Arial" pitchFamily="34" charset="-120"/>
              </a:rPr>
              <a:t>OF ADULTS HAVE ONE</a:t>
            </a:r>
            <a:endParaRPr lang="en-US" sz="1000" dirty="0"/>
          </a:p>
        </p:txBody>
      </p:sp>
      <p:sp>
        <p:nvSpPr>
          <p:cNvPr id="10" name="Text 8"/>
          <p:cNvSpPr txBox="1"/>
          <p:nvPr/>
        </p:nvSpPr>
        <p:spPr>
          <a:xfrm>
            <a:off x="3355848" y="2523744"/>
            <a:ext cx="2468880" cy="457200"/>
          </a:xfrm>
          <a:prstGeom prst="rect">
            <a:avLst/>
          </a:prstGeom>
          <a:noFill/>
          <a:ln/>
        </p:spPr>
        <p:txBody>
          <a:bodyPr wrap="square" lIns="0" tIns="0" rIns="0" bIns="0" rtlCol="0" anchor="ctr"/>
          <a:lstStyle/>
          <a:p>
            <a:pPr indent="0" marL="0">
              <a:buNone/>
            </a:pPr>
            <a:r>
              <a:rPr lang="en-US" sz="1100" dirty="0">
                <a:solidFill>
                  <a:srgbClr val="2F2740"/>
                </a:solidFill>
                <a:latin typeface="Calibri" pitchFamily="34" charset="0"/>
                <a:ea typeface="Calibri" pitchFamily="34" charset="-122"/>
                <a:cs typeface="Calibri" pitchFamily="34" charset="-120"/>
              </a:rPr>
              <a:t>a payroll account at all</a:t>
            </a:r>
            <a:endParaRPr lang="en-US" sz="1100" dirty="0"/>
          </a:p>
        </p:txBody>
      </p:sp>
      <p:sp>
        <p:nvSpPr>
          <p:cNvPr id="11" name="Text 9"/>
          <p:cNvSpPr txBox="1"/>
          <p:nvPr/>
        </p:nvSpPr>
        <p:spPr>
          <a:xfrm>
            <a:off x="6144768" y="1719072"/>
            <a:ext cx="2468880" cy="566928"/>
          </a:xfrm>
          <a:prstGeom prst="rect">
            <a:avLst/>
          </a:prstGeom>
          <a:noFill/>
          <a:ln/>
        </p:spPr>
        <p:txBody>
          <a:bodyPr wrap="square" lIns="0" tIns="0" rIns="0" bIns="0" rtlCol="0" anchor="ctr"/>
          <a:lstStyle/>
          <a:p>
            <a:pPr indent="0" marL="0">
              <a:buNone/>
            </a:pPr>
            <a:r>
              <a:rPr lang="en-US" sz="3400" b="1" dirty="0">
                <a:solidFill>
                  <a:srgbClr val="820AD1"/>
                </a:solidFill>
                <a:latin typeface="Arial" pitchFamily="34" charset="0"/>
                <a:ea typeface="Arial" pitchFamily="34" charset="-122"/>
                <a:cs typeface="Arial" pitchFamily="34" charset="-120"/>
              </a:rPr>
              <a:t>~90%</a:t>
            </a:r>
            <a:endParaRPr lang="en-US" sz="3400" dirty="0"/>
          </a:p>
        </p:txBody>
      </p:sp>
      <p:sp>
        <p:nvSpPr>
          <p:cNvPr id="12" name="Text 10"/>
          <p:cNvSpPr txBox="1"/>
          <p:nvPr/>
        </p:nvSpPr>
        <p:spPr>
          <a:xfrm>
            <a:off x="6144768" y="2286000"/>
            <a:ext cx="2468880" cy="237744"/>
          </a:xfrm>
          <a:prstGeom prst="rect">
            <a:avLst/>
          </a:prstGeom>
          <a:noFill/>
          <a:ln/>
        </p:spPr>
        <p:txBody>
          <a:bodyPr wrap="square" lIns="0" tIns="0" rIns="0" bIns="0" rtlCol="0" anchor="ctr"/>
          <a:lstStyle/>
          <a:p>
            <a:pPr indent="0" marL="0">
              <a:buNone/>
            </a:pPr>
            <a:r>
              <a:rPr lang="en-US" sz="1000" b="1" spc="120" kern="0" dirty="0">
                <a:solidFill>
                  <a:srgbClr val="6E6484"/>
                </a:solidFill>
                <a:latin typeface="Arial" pitchFamily="34" charset="0"/>
                <a:ea typeface="Arial" pitchFamily="34" charset="-122"/>
                <a:cs typeface="Arial" pitchFamily="34" charset="-120"/>
              </a:rPr>
              <a:t>OF THOSE AT BIG BANKS</a:t>
            </a:r>
            <a:endParaRPr lang="en-US" sz="1000" dirty="0"/>
          </a:p>
        </p:txBody>
      </p:sp>
      <p:sp>
        <p:nvSpPr>
          <p:cNvPr id="13" name="Text 11"/>
          <p:cNvSpPr txBox="1"/>
          <p:nvPr/>
        </p:nvSpPr>
        <p:spPr>
          <a:xfrm>
            <a:off x="6144768" y="2523744"/>
            <a:ext cx="2468880" cy="457200"/>
          </a:xfrm>
          <a:prstGeom prst="rect">
            <a:avLst/>
          </a:prstGeom>
          <a:noFill/>
          <a:ln/>
        </p:spPr>
        <p:txBody>
          <a:bodyPr wrap="square" lIns="0" tIns="0" rIns="0" bIns="0" rtlCol="0" anchor="ctr"/>
          <a:lstStyle/>
          <a:p>
            <a:pPr indent="0" marL="0">
              <a:buNone/>
            </a:pPr>
            <a:r>
              <a:rPr lang="en-US" sz="1100" dirty="0">
                <a:solidFill>
                  <a:srgbClr val="2F2740"/>
                </a:solidFill>
                <a:latin typeface="Calibri" pitchFamily="34" charset="0"/>
                <a:ea typeface="Calibri" pitchFamily="34" charset="-122"/>
                <a:cs typeface="Calibri" pitchFamily="34" charset="-120"/>
              </a:rPr>
              <a:t>the entire incumbent moat</a:t>
            </a:r>
            <a:endParaRPr lang="en-US" sz="1100" dirty="0"/>
          </a:p>
        </p:txBody>
      </p:sp>
      <p:sp>
        <p:nvSpPr>
          <p:cNvPr id="14" name="Text 12"/>
          <p:cNvSpPr txBox="1"/>
          <p:nvPr/>
        </p:nvSpPr>
        <p:spPr>
          <a:xfrm>
            <a:off x="8933688" y="1719072"/>
            <a:ext cx="2651760" cy="566928"/>
          </a:xfrm>
          <a:prstGeom prst="rect">
            <a:avLst/>
          </a:prstGeom>
          <a:noFill/>
          <a:ln/>
        </p:spPr>
        <p:txBody>
          <a:bodyPr wrap="square" lIns="0" tIns="0" rIns="0" bIns="0" rtlCol="0" anchor="ctr"/>
          <a:lstStyle/>
          <a:p>
            <a:pPr indent="0" marL="0">
              <a:buNone/>
            </a:pPr>
            <a:r>
              <a:rPr lang="en-US" sz="3400" b="1" dirty="0">
                <a:solidFill>
                  <a:srgbClr val="0E7A54"/>
                </a:solidFill>
                <a:latin typeface="Arial" pitchFamily="34" charset="0"/>
                <a:ea typeface="Arial" pitchFamily="34" charset="-122"/>
                <a:cs typeface="Arial" pitchFamily="34" charset="-120"/>
              </a:rPr>
              <a:t>11 days</a:t>
            </a:r>
            <a:endParaRPr lang="en-US" sz="3400" dirty="0"/>
          </a:p>
        </p:txBody>
      </p:sp>
      <p:sp>
        <p:nvSpPr>
          <p:cNvPr id="15" name="Text 13"/>
          <p:cNvSpPr txBox="1"/>
          <p:nvPr/>
        </p:nvSpPr>
        <p:spPr>
          <a:xfrm>
            <a:off x="8933688" y="2286000"/>
            <a:ext cx="2651760" cy="237744"/>
          </a:xfrm>
          <a:prstGeom prst="rect">
            <a:avLst/>
          </a:prstGeom>
          <a:noFill/>
          <a:ln/>
        </p:spPr>
        <p:txBody>
          <a:bodyPr wrap="square" lIns="0" tIns="0" rIns="0" bIns="0" rtlCol="0" anchor="ctr"/>
          <a:lstStyle/>
          <a:p>
            <a:pPr indent="0" marL="0">
              <a:buNone/>
            </a:pPr>
            <a:r>
              <a:rPr lang="en-US" sz="1000" b="1" spc="120" kern="0" dirty="0">
                <a:solidFill>
                  <a:srgbClr val="6E6484"/>
                </a:solidFill>
                <a:latin typeface="Arial" pitchFamily="34" charset="0"/>
                <a:ea typeface="Arial" pitchFamily="34" charset="-122"/>
                <a:cs typeface="Arial" pitchFamily="34" charset="-120"/>
              </a:rPr>
              <a:t>TO PORT ONE</a:t>
            </a:r>
            <a:endParaRPr lang="en-US" sz="1000" dirty="0"/>
          </a:p>
        </p:txBody>
      </p:sp>
      <p:sp>
        <p:nvSpPr>
          <p:cNvPr id="16" name="Text 14"/>
          <p:cNvSpPr txBox="1"/>
          <p:nvPr/>
        </p:nvSpPr>
        <p:spPr>
          <a:xfrm>
            <a:off x="8933688" y="2523744"/>
            <a:ext cx="2651760" cy="457200"/>
          </a:xfrm>
          <a:prstGeom prst="rect">
            <a:avLst/>
          </a:prstGeom>
          <a:noFill/>
          <a:ln/>
        </p:spPr>
        <p:txBody>
          <a:bodyPr wrap="square" lIns="0" tIns="0" rIns="0" bIns="0" rtlCol="0" anchor="ctr"/>
          <a:lstStyle/>
          <a:p>
            <a:pPr indent="0" marL="0">
              <a:buNone/>
            </a:pPr>
            <a:r>
              <a:rPr lang="en-US" sz="1100" dirty="0">
                <a:solidFill>
                  <a:srgbClr val="2F2740"/>
                </a:solidFill>
                <a:latin typeface="Calibri" pitchFamily="34" charset="0"/>
                <a:ea typeface="Calibri" pitchFamily="34" charset="-122"/>
                <a:cs typeface="Calibri" pitchFamily="34" charset="-120"/>
              </a:rPr>
              <a:t>free, by law, worker-initiated</a:t>
            </a:r>
            <a:endParaRPr lang="en-US" sz="1100" dirty="0"/>
          </a:p>
        </p:txBody>
      </p:sp>
      <p:sp>
        <p:nvSpPr>
          <p:cNvPr id="17" name="Shape 15"/>
          <p:cNvSpPr/>
          <p:nvPr/>
        </p:nvSpPr>
        <p:spPr>
          <a:xfrm>
            <a:off x="566928" y="3200400"/>
            <a:ext cx="3566160" cy="2542032"/>
          </a:xfrm>
          <a:prstGeom prst="roundRect">
            <a:avLst>
              <a:gd name="adj" fmla="val 2158"/>
            </a:avLst>
          </a:prstGeom>
          <a:solidFill>
            <a:srgbClr val="F3E8FD"/>
          </a:solidFill>
          <a:ln w="12700">
            <a:solidFill>
              <a:srgbClr val="E2DCEC"/>
            </a:solidFill>
            <a:prstDash val="solid"/>
          </a:ln>
        </p:spPr>
      </p:sp>
      <p:sp>
        <p:nvSpPr>
          <p:cNvPr id="18" name="Text 16"/>
          <p:cNvSpPr txBox="1"/>
          <p:nvPr/>
        </p:nvSpPr>
        <p:spPr>
          <a:xfrm>
            <a:off x="822960" y="3383280"/>
            <a:ext cx="3108960" cy="310896"/>
          </a:xfrm>
          <a:prstGeom prst="rect">
            <a:avLst/>
          </a:prstGeom>
          <a:noFill/>
          <a:ln/>
        </p:spPr>
        <p:txBody>
          <a:bodyPr wrap="square" lIns="0" tIns="0" rIns="0" bIns="0" rtlCol="0" anchor="ctr"/>
          <a:lstStyle/>
          <a:p>
            <a:pPr indent="0" marL="0">
              <a:buNone/>
            </a:pPr>
            <a:r>
              <a:rPr lang="en-US" sz="1450" b="1" dirty="0">
                <a:solidFill>
                  <a:srgbClr val="820AD1"/>
                </a:solidFill>
                <a:latin typeface="Arial" pitchFamily="34" charset="0"/>
                <a:ea typeface="Arial" pitchFamily="34" charset="-122"/>
                <a:cs typeface="Arial" pitchFamily="34" charset="-120"/>
              </a:rPr>
              <a:t>What it is</a:t>
            </a:r>
            <a:endParaRPr lang="en-US" sz="1450" dirty="0"/>
          </a:p>
        </p:txBody>
      </p:sp>
      <p:sp>
        <p:nvSpPr>
          <p:cNvPr id="19" name="Text 17"/>
          <p:cNvSpPr txBox="1"/>
          <p:nvPr/>
        </p:nvSpPr>
        <p:spPr>
          <a:xfrm>
            <a:off x="822960" y="3749040"/>
            <a:ext cx="3108960" cy="1828800"/>
          </a:xfrm>
          <a:prstGeom prst="rect">
            <a:avLst/>
          </a:prstGeom>
          <a:noFill/>
          <a:ln/>
        </p:spPr>
        <p:txBody>
          <a:bodyPr wrap="square" lIns="0" tIns="0" rIns="0" bIns="0" rtlCol="0" anchor="ctr"/>
          <a:lstStyle/>
          <a:p>
            <a:pPr indent="0" marL="0">
              <a:lnSpc>
                <a:spcPts val="1550"/>
              </a:lnSpc>
              <a:buNone/>
            </a:pPr>
            <a:r>
              <a:rPr lang="en-US" sz="1150" dirty="0">
                <a:solidFill>
                  <a:srgbClr val="2F2740"/>
                </a:solidFill>
                <a:latin typeface="Calibri" pitchFamily="34" charset="0"/>
                <a:ea typeface="Calibri" pitchFamily="34" charset="-122"/>
                <a:cs typeface="Calibri" pitchFamily="34" charset="-120"/>
              </a:rPr>
              <a:t>A payroll account you switch to in the app, in minutes, without telling your employer. Portability is the worker’s legal right: free, and the transfer begins within 11 business days.</a:t>
            </a:r>
            <a:endParaRPr lang="en-US" sz="1150" dirty="0"/>
          </a:p>
          <a:p>
            <a:pPr indent="0" marL="0">
              <a:lnSpc>
                <a:spcPts val="1550"/>
              </a:lnSpc>
              <a:buNone/>
            </a:pPr>
            <a:endParaRPr lang="en-US" sz="1150" dirty="0"/>
          </a:p>
          <a:p>
            <a:pPr indent="0" marL="0">
              <a:lnSpc>
                <a:spcPts val="1550"/>
              </a:lnSpc>
              <a:buNone/>
            </a:pPr>
            <a:r>
              <a:rPr lang="en-US" sz="1150" dirty="0">
                <a:solidFill>
                  <a:srgbClr val="2F2740"/>
                </a:solidFill>
                <a:latin typeface="Calibri" pitchFamily="34" charset="0"/>
                <a:ea typeface="Calibri" pitchFamily="34" charset="-122"/>
                <a:cs typeface="Calibri" pitchFamily="34" charset="-120"/>
              </a:rPr>
              <a:t>Tu sueldo, disponible el día que llega · Una línea que crece con tu sueldo · Tu tarjeta se paga sola el día después de tu quincena · Sin comisiones, sin saldo mínimo · Protegida por el IPAB</a:t>
            </a:r>
            <a:endParaRPr lang="en-US" sz="1150" dirty="0"/>
          </a:p>
        </p:txBody>
      </p:sp>
      <p:sp>
        <p:nvSpPr>
          <p:cNvPr id="20" name="Shape 18"/>
          <p:cNvSpPr/>
          <p:nvPr/>
        </p:nvSpPr>
        <p:spPr>
          <a:xfrm>
            <a:off x="4315968" y="3200400"/>
            <a:ext cx="3566160" cy="2542032"/>
          </a:xfrm>
          <a:prstGeom prst="roundRect">
            <a:avLst>
              <a:gd name="adj" fmla="val 2158"/>
            </a:avLst>
          </a:prstGeom>
          <a:solidFill>
            <a:srgbClr val="FAF8FD"/>
          </a:solidFill>
          <a:ln w="12700">
            <a:solidFill>
              <a:srgbClr val="E2DCEC"/>
            </a:solidFill>
            <a:prstDash val="solid"/>
          </a:ln>
        </p:spPr>
      </p:sp>
      <p:sp>
        <p:nvSpPr>
          <p:cNvPr id="21" name="Text 19"/>
          <p:cNvSpPr txBox="1"/>
          <p:nvPr/>
        </p:nvSpPr>
        <p:spPr>
          <a:xfrm>
            <a:off x="4572000" y="3383280"/>
            <a:ext cx="3108960" cy="310896"/>
          </a:xfrm>
          <a:prstGeom prst="rect">
            <a:avLst/>
          </a:prstGeom>
          <a:noFill/>
          <a:ln/>
        </p:spPr>
        <p:txBody>
          <a:bodyPr wrap="square" lIns="0" tIns="0" rIns="0" bIns="0" rtlCol="0" anchor="ctr"/>
          <a:lstStyle/>
          <a:p>
            <a:pPr indent="0" marL="0">
              <a:buNone/>
            </a:pPr>
            <a:r>
              <a:rPr lang="en-US" sz="1450" b="1" dirty="0">
                <a:solidFill>
                  <a:srgbClr val="19102A"/>
                </a:solidFill>
                <a:latin typeface="Arial" pitchFamily="34" charset="0"/>
                <a:ea typeface="Arial" pitchFamily="34" charset="-122"/>
                <a:cs typeface="Arial" pitchFamily="34" charset="-120"/>
              </a:rPr>
              <a:t>Why they switch</a:t>
            </a:r>
            <a:endParaRPr lang="en-US" sz="1450" dirty="0"/>
          </a:p>
        </p:txBody>
      </p:sp>
      <p:sp>
        <p:nvSpPr>
          <p:cNvPr id="22" name="Text 20"/>
          <p:cNvSpPr txBox="1"/>
          <p:nvPr/>
        </p:nvSpPr>
        <p:spPr>
          <a:xfrm>
            <a:off x="4572000" y="3749040"/>
            <a:ext cx="3108960" cy="1828800"/>
          </a:xfrm>
          <a:prstGeom prst="rect">
            <a:avLst/>
          </a:prstGeom>
          <a:noFill/>
          <a:ln/>
        </p:spPr>
        <p:txBody>
          <a:bodyPr wrap="square" lIns="0" tIns="0" rIns="0" bIns="0" rtlCol="0" anchor="ctr"/>
          <a:lstStyle/>
          <a:p>
            <a:pPr indent="0" marL="0">
              <a:lnSpc>
                <a:spcPts val="1550"/>
              </a:lnSpc>
              <a:buNone/>
            </a:pPr>
            <a:r>
              <a:rPr lang="en-US" sz="1150" dirty="0">
                <a:solidFill>
                  <a:srgbClr val="2F2740"/>
                </a:solidFill>
                <a:latin typeface="Calibri" pitchFamily="34" charset="0"/>
                <a:ea typeface="Calibri" pitchFamily="34" charset="-122"/>
                <a:cs typeface="Calibri" pitchFamily="34" charset="-120"/>
              </a:rPr>
              <a:t>Nine in ten payroll accounts sit with big banks that charge fees, require minimums, and gate the credit attached to them on the bureau. We charge nothing, and we size credit on the salary we can now see.</a:t>
            </a:r>
            <a:endParaRPr lang="en-US" sz="1150" dirty="0"/>
          </a:p>
          <a:p>
            <a:pPr indent="0" marL="0">
              <a:lnSpc>
                <a:spcPts val="1550"/>
              </a:lnSpc>
              <a:buNone/>
            </a:pPr>
            <a:endParaRPr lang="en-US" sz="1150" dirty="0"/>
          </a:p>
          <a:p>
            <a:pPr indent="0" marL="0">
              <a:lnSpc>
                <a:spcPts val="1550"/>
              </a:lnSpc>
              <a:buNone/>
            </a:pPr>
            <a:r>
              <a:rPr lang="en-US" sz="1150" dirty="0">
                <a:solidFill>
                  <a:srgbClr val="2F2740"/>
                </a:solidFill>
                <a:latin typeface="Calibri" pitchFamily="34" charset="0"/>
                <a:ea typeface="Calibri" pitchFamily="34" charset="-122"/>
                <a:cs typeface="Calibri" pitchFamily="34" charset="-120"/>
              </a:rPr>
              <a:t>And the switch needs no employer conversation — which is the only reason a challenger can win this at all.</a:t>
            </a:r>
            <a:endParaRPr lang="en-US" sz="1150" dirty="0"/>
          </a:p>
        </p:txBody>
      </p:sp>
      <p:sp>
        <p:nvSpPr>
          <p:cNvPr id="23" name="Shape 21"/>
          <p:cNvSpPr/>
          <p:nvPr/>
        </p:nvSpPr>
        <p:spPr>
          <a:xfrm>
            <a:off x="8065008" y="3200400"/>
            <a:ext cx="3566160" cy="2542032"/>
          </a:xfrm>
          <a:prstGeom prst="roundRect">
            <a:avLst>
              <a:gd name="adj" fmla="val 2158"/>
            </a:avLst>
          </a:prstGeom>
          <a:solidFill>
            <a:srgbClr val="FAF8FD"/>
          </a:solidFill>
          <a:ln w="12700">
            <a:solidFill>
              <a:srgbClr val="E2DCEC"/>
            </a:solidFill>
            <a:prstDash val="solid"/>
          </a:ln>
        </p:spPr>
      </p:sp>
      <p:sp>
        <p:nvSpPr>
          <p:cNvPr id="24" name="Text 22"/>
          <p:cNvSpPr txBox="1"/>
          <p:nvPr/>
        </p:nvSpPr>
        <p:spPr>
          <a:xfrm>
            <a:off x="8321040" y="3383280"/>
            <a:ext cx="3108960" cy="310896"/>
          </a:xfrm>
          <a:prstGeom prst="rect">
            <a:avLst/>
          </a:prstGeom>
          <a:noFill/>
          <a:ln/>
        </p:spPr>
        <p:txBody>
          <a:bodyPr wrap="square" lIns="0" tIns="0" rIns="0" bIns="0" rtlCol="0" anchor="ctr"/>
          <a:lstStyle/>
          <a:p>
            <a:pPr indent="0" marL="0">
              <a:buNone/>
            </a:pPr>
            <a:r>
              <a:rPr lang="en-US" sz="1450" b="1" dirty="0">
                <a:solidFill>
                  <a:srgbClr val="19102A"/>
                </a:solidFill>
                <a:latin typeface="Arial" pitchFamily="34" charset="0"/>
                <a:ea typeface="Arial" pitchFamily="34" charset="-122"/>
                <a:cs typeface="Arial" pitchFamily="34" charset="-120"/>
              </a:rPr>
              <a:t>Why it holds</a:t>
            </a:r>
            <a:endParaRPr lang="en-US" sz="1450" dirty="0"/>
          </a:p>
        </p:txBody>
      </p:sp>
      <p:sp>
        <p:nvSpPr>
          <p:cNvPr id="25" name="Text 23"/>
          <p:cNvSpPr txBox="1"/>
          <p:nvPr/>
        </p:nvSpPr>
        <p:spPr>
          <a:xfrm>
            <a:off x="8321040" y="3749040"/>
            <a:ext cx="3108960" cy="1828800"/>
          </a:xfrm>
          <a:prstGeom prst="rect">
            <a:avLst/>
          </a:prstGeom>
          <a:noFill/>
          <a:ln/>
        </p:spPr>
        <p:txBody>
          <a:bodyPr wrap="square" lIns="0" tIns="0" rIns="0" bIns="0" rtlCol="0" anchor="ctr"/>
          <a:lstStyle/>
          <a:p>
            <a:pPr indent="0" marL="0">
              <a:lnSpc>
                <a:spcPts val="1550"/>
              </a:lnSpc>
              <a:buNone/>
            </a:pPr>
            <a:r>
              <a:rPr lang="en-US" sz="1150" dirty="0">
                <a:solidFill>
                  <a:srgbClr val="2F2740"/>
                </a:solidFill>
                <a:latin typeface="Calibri" pitchFamily="34" charset="0"/>
                <a:ea typeface="Calibri" pitchFamily="34" charset="-122"/>
                <a:cs typeface="Calibri" pitchFamily="34" charset="-120"/>
              </a:rPr>
              <a:t>The moat is not the rate. Autopay already debits the account; the customer already picks a due date; points already route into a Cajita. Add the salary, align the debit to the day after payday, and size the line on that income.</a:t>
            </a:r>
            <a:endParaRPr lang="en-US" sz="1150" dirty="0"/>
          </a:p>
          <a:p>
            <a:pPr indent="0" marL="0">
              <a:lnSpc>
                <a:spcPts val="1550"/>
              </a:lnSpc>
              <a:buNone/>
            </a:pPr>
            <a:endParaRPr lang="en-US" sz="1150" dirty="0"/>
          </a:p>
          <a:p>
            <a:pPr indent="0" marL="0">
              <a:lnSpc>
                <a:spcPts val="1550"/>
              </a:lnSpc>
              <a:buNone/>
            </a:pPr>
            <a:r>
              <a:rPr lang="en-US" sz="1150" dirty="0">
                <a:solidFill>
                  <a:srgbClr val="2F2740"/>
                </a:solidFill>
                <a:latin typeface="Calibri" pitchFamily="34" charset="0"/>
                <a:ea typeface="Calibri" pitchFamily="34" charset="-122"/>
                <a:cs typeface="Calibri" pitchFamily="34" charset="-120"/>
              </a:rPr>
              <a:t>Leaving now costs the customer their line. A rate never did that.</a:t>
            </a:r>
            <a:endParaRPr lang="en-US" sz="1150" dirty="0"/>
          </a:p>
        </p:txBody>
      </p:sp>
      <p:sp>
        <p:nvSpPr>
          <p:cNvPr id="26" name="Text 24"/>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Only a bank can host payroll. This is the licence’s one non-copyable asset until Mercado Pago and Klar are licensed — which is what makes the next twelve months the whole strategy.</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2.1.4  PRODUCT · CUENTA NÓMINA</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The plan to win: query first, sales motion last</a:t>
            </a:r>
            <a:endParaRPr lang="en-US" sz="3100" dirty="0"/>
          </a:p>
        </p:txBody>
      </p:sp>
      <p:sp>
        <p:nvSpPr>
          <p:cNvPr id="5" name="Shape 3"/>
          <p:cNvSpPr/>
          <p:nvPr/>
        </p:nvSpPr>
        <p:spPr>
          <a:xfrm>
            <a:off x="566928" y="1719072"/>
            <a:ext cx="2084832" cy="731520"/>
          </a:xfrm>
          <a:prstGeom prst="roundRect">
            <a:avLst>
              <a:gd name="adj" fmla="val 7500"/>
            </a:avLst>
          </a:prstGeom>
          <a:solidFill>
            <a:srgbClr val="FAF8FD"/>
          </a:solidFill>
          <a:ln w="12700">
            <a:solidFill>
              <a:srgbClr val="E2DCEC"/>
            </a:solidFill>
            <a:prstDash val="solid"/>
          </a:ln>
        </p:spPr>
      </p:sp>
      <p:sp>
        <p:nvSpPr>
          <p:cNvPr id="6" name="Text 4"/>
          <p:cNvSpPr txBox="1"/>
          <p:nvPr/>
        </p:nvSpPr>
        <p:spPr>
          <a:xfrm>
            <a:off x="713232" y="1801368"/>
            <a:ext cx="1810512" cy="274320"/>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Detected</a:t>
            </a:r>
            <a:endParaRPr lang="en-US" sz="1350" dirty="0"/>
          </a:p>
        </p:txBody>
      </p:sp>
      <p:sp>
        <p:nvSpPr>
          <p:cNvPr id="7" name="Text 5"/>
          <p:cNvSpPr txBox="1"/>
          <p:nvPr/>
        </p:nvSpPr>
        <p:spPr>
          <a:xfrm>
            <a:off x="713232" y="2084832"/>
            <a:ext cx="1810512" cy="310896"/>
          </a:xfrm>
          <a:prstGeom prst="rect">
            <a:avLst/>
          </a:prstGeom>
          <a:noFill/>
          <a:ln/>
        </p:spPr>
        <p:txBody>
          <a:bodyPr wrap="square" lIns="0" tIns="0" rIns="0" bIns="0" rtlCol="0" anchor="ctr"/>
          <a:lstStyle/>
          <a:p>
            <a:pPr indent="0" marL="0">
              <a:lnSpc>
                <a:spcPts val="1300"/>
              </a:lnSpc>
              <a:buNone/>
            </a:pPr>
            <a:r>
              <a:rPr lang="en-US" sz="1050" dirty="0">
                <a:solidFill>
                  <a:srgbClr val="6E6484"/>
                </a:solidFill>
                <a:latin typeface="Calibri" pitchFamily="34" charset="0"/>
                <a:ea typeface="Calibri" pitchFamily="34" charset="-122"/>
                <a:cs typeface="Calibri" pitchFamily="34" charset="-120"/>
              </a:rPr>
              <a:t>recurring inbound from a bank CLABE</a:t>
            </a:r>
            <a:endParaRPr lang="en-US" sz="1050" dirty="0"/>
          </a:p>
        </p:txBody>
      </p:sp>
      <p:sp>
        <p:nvSpPr>
          <p:cNvPr id="8" name="Text 6"/>
          <p:cNvSpPr txBox="1"/>
          <p:nvPr/>
        </p:nvSpPr>
        <p:spPr>
          <a:xfrm>
            <a:off x="2670048" y="1901952"/>
            <a:ext cx="155448" cy="365760"/>
          </a:xfrm>
          <a:prstGeom prst="rect">
            <a:avLst/>
          </a:prstGeom>
          <a:noFill/>
          <a:ln/>
        </p:spPr>
        <p:txBody>
          <a:bodyPr wrap="square" lIns="0" tIns="0" rIns="0" bIns="0" rtlCol="0" anchor="ctr"/>
          <a:lstStyle/>
          <a:p>
            <a:pPr algn="ctr" indent="0" marL="0">
              <a:buNone/>
            </a:pPr>
            <a:r>
              <a:rPr lang="en-US" sz="1800" dirty="0">
                <a:solidFill>
                  <a:srgbClr val="E2DCEC"/>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2807208" y="1719072"/>
            <a:ext cx="2084832" cy="731520"/>
          </a:xfrm>
          <a:prstGeom prst="roundRect">
            <a:avLst>
              <a:gd name="adj" fmla="val 7500"/>
            </a:avLst>
          </a:prstGeom>
          <a:solidFill>
            <a:srgbClr val="FAF8FD"/>
          </a:solidFill>
          <a:ln w="12700">
            <a:solidFill>
              <a:srgbClr val="E2DCEC"/>
            </a:solidFill>
            <a:prstDash val="solid"/>
          </a:ln>
        </p:spPr>
      </p:sp>
      <p:sp>
        <p:nvSpPr>
          <p:cNvPr id="10" name="Text 8"/>
          <p:cNvSpPr txBox="1"/>
          <p:nvPr/>
        </p:nvSpPr>
        <p:spPr>
          <a:xfrm>
            <a:off x="2953512" y="1801368"/>
            <a:ext cx="1810512" cy="274320"/>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Offered</a:t>
            </a:r>
            <a:endParaRPr lang="en-US" sz="1350" dirty="0"/>
          </a:p>
        </p:txBody>
      </p:sp>
      <p:sp>
        <p:nvSpPr>
          <p:cNvPr id="11" name="Text 9"/>
          <p:cNvSpPr txBox="1"/>
          <p:nvPr/>
        </p:nvSpPr>
        <p:spPr>
          <a:xfrm>
            <a:off x="2953512" y="2084832"/>
            <a:ext cx="1810512" cy="310896"/>
          </a:xfrm>
          <a:prstGeom prst="rect">
            <a:avLst/>
          </a:prstGeom>
          <a:noFill/>
          <a:ln/>
        </p:spPr>
        <p:txBody>
          <a:bodyPr wrap="square" lIns="0" tIns="0" rIns="0" bIns="0" rtlCol="0" anchor="ctr"/>
          <a:lstStyle/>
          <a:p>
            <a:pPr indent="0" marL="0">
              <a:lnSpc>
                <a:spcPts val="1300"/>
              </a:lnSpc>
              <a:buNone/>
            </a:pPr>
            <a:r>
              <a:rPr lang="en-US" sz="1050" dirty="0">
                <a:solidFill>
                  <a:srgbClr val="6E6484"/>
                </a:solidFill>
                <a:latin typeface="Calibri" pitchFamily="34" charset="0"/>
                <a:ea typeface="Calibri" pitchFamily="34" charset="-122"/>
                <a:cs typeface="Calibri" pitchFamily="34" charset="-120"/>
              </a:rPr>
              <a:t>in-app, no employer involved</a:t>
            </a:r>
            <a:endParaRPr lang="en-US" sz="1050" dirty="0"/>
          </a:p>
        </p:txBody>
      </p:sp>
      <p:sp>
        <p:nvSpPr>
          <p:cNvPr id="12" name="Text 10"/>
          <p:cNvSpPr txBox="1"/>
          <p:nvPr/>
        </p:nvSpPr>
        <p:spPr>
          <a:xfrm>
            <a:off x="4910328" y="1901952"/>
            <a:ext cx="155448" cy="365760"/>
          </a:xfrm>
          <a:prstGeom prst="rect">
            <a:avLst/>
          </a:prstGeom>
          <a:noFill/>
          <a:ln/>
        </p:spPr>
        <p:txBody>
          <a:bodyPr wrap="square" lIns="0" tIns="0" rIns="0" bIns="0" rtlCol="0" anchor="ctr"/>
          <a:lstStyle/>
          <a:p>
            <a:pPr algn="ctr" indent="0" marL="0">
              <a:buNone/>
            </a:pPr>
            <a:r>
              <a:rPr lang="en-US" sz="1800" dirty="0">
                <a:solidFill>
                  <a:srgbClr val="E2DCEC"/>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5047488" y="1719072"/>
            <a:ext cx="2084832" cy="731520"/>
          </a:xfrm>
          <a:prstGeom prst="roundRect">
            <a:avLst>
              <a:gd name="adj" fmla="val 7500"/>
            </a:avLst>
          </a:prstGeom>
          <a:solidFill>
            <a:srgbClr val="FAF8FD"/>
          </a:solidFill>
          <a:ln w="12700">
            <a:solidFill>
              <a:srgbClr val="E2DCEC"/>
            </a:solidFill>
            <a:prstDash val="solid"/>
          </a:ln>
        </p:spPr>
      </p:sp>
      <p:sp>
        <p:nvSpPr>
          <p:cNvPr id="14" name="Text 12"/>
          <p:cNvSpPr txBox="1"/>
          <p:nvPr/>
        </p:nvSpPr>
        <p:spPr>
          <a:xfrm>
            <a:off x="5193792" y="1801368"/>
            <a:ext cx="1810512" cy="274320"/>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Requested</a:t>
            </a:r>
            <a:endParaRPr lang="en-US" sz="1350" dirty="0"/>
          </a:p>
        </p:txBody>
      </p:sp>
      <p:sp>
        <p:nvSpPr>
          <p:cNvPr id="15" name="Text 13"/>
          <p:cNvSpPr txBox="1"/>
          <p:nvPr/>
        </p:nvSpPr>
        <p:spPr>
          <a:xfrm>
            <a:off x="5193792" y="2084832"/>
            <a:ext cx="1810512" cy="310896"/>
          </a:xfrm>
          <a:prstGeom prst="rect">
            <a:avLst/>
          </a:prstGeom>
          <a:noFill/>
          <a:ln/>
        </p:spPr>
        <p:txBody>
          <a:bodyPr wrap="square" lIns="0" tIns="0" rIns="0" bIns="0" rtlCol="0" anchor="ctr"/>
          <a:lstStyle/>
          <a:p>
            <a:pPr indent="0" marL="0">
              <a:lnSpc>
                <a:spcPts val="1300"/>
              </a:lnSpc>
              <a:buNone/>
            </a:pPr>
            <a:r>
              <a:rPr lang="en-US" sz="1050" dirty="0">
                <a:solidFill>
                  <a:srgbClr val="6E6484"/>
                </a:solidFill>
                <a:latin typeface="Calibri" pitchFamily="34" charset="0"/>
                <a:ea typeface="Calibri" pitchFamily="34" charset="-122"/>
                <a:cs typeface="Calibri" pitchFamily="34" charset="-120"/>
              </a:rPr>
              <a:t>portability filed</a:t>
            </a:r>
            <a:endParaRPr lang="en-US" sz="1050" dirty="0"/>
          </a:p>
        </p:txBody>
      </p:sp>
      <p:sp>
        <p:nvSpPr>
          <p:cNvPr id="16" name="Text 14"/>
          <p:cNvSpPr txBox="1"/>
          <p:nvPr/>
        </p:nvSpPr>
        <p:spPr>
          <a:xfrm>
            <a:off x="7150608" y="1901952"/>
            <a:ext cx="155448" cy="365760"/>
          </a:xfrm>
          <a:prstGeom prst="rect">
            <a:avLst/>
          </a:prstGeom>
          <a:noFill/>
          <a:ln/>
        </p:spPr>
        <p:txBody>
          <a:bodyPr wrap="square" lIns="0" tIns="0" rIns="0" bIns="0" rtlCol="0" anchor="ctr"/>
          <a:lstStyle/>
          <a:p>
            <a:pPr algn="ctr" indent="0" marL="0">
              <a:buNone/>
            </a:pPr>
            <a:r>
              <a:rPr lang="en-US" sz="1800" dirty="0">
                <a:solidFill>
                  <a:srgbClr val="E2DCEC"/>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7287768" y="1719072"/>
            <a:ext cx="2084832" cy="731520"/>
          </a:xfrm>
          <a:prstGeom prst="roundRect">
            <a:avLst>
              <a:gd name="adj" fmla="val 7500"/>
            </a:avLst>
          </a:prstGeom>
          <a:solidFill>
            <a:srgbClr val="820AD1"/>
          </a:solidFill>
          <a:ln w="12700">
            <a:solidFill>
              <a:srgbClr val="820AD1"/>
            </a:solidFill>
            <a:prstDash val="solid"/>
          </a:ln>
        </p:spPr>
      </p:sp>
      <p:sp>
        <p:nvSpPr>
          <p:cNvPr id="18" name="Text 16"/>
          <p:cNvSpPr txBox="1"/>
          <p:nvPr/>
        </p:nvSpPr>
        <p:spPr>
          <a:xfrm>
            <a:off x="7434072" y="1801368"/>
            <a:ext cx="1810512" cy="27432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Landed</a:t>
            </a:r>
            <a:endParaRPr lang="en-US" sz="1350" dirty="0"/>
          </a:p>
        </p:txBody>
      </p:sp>
      <p:sp>
        <p:nvSpPr>
          <p:cNvPr id="19" name="Text 17"/>
          <p:cNvSpPr txBox="1"/>
          <p:nvPr/>
        </p:nvSpPr>
        <p:spPr>
          <a:xfrm>
            <a:off x="7434072" y="2084832"/>
            <a:ext cx="1810512" cy="310896"/>
          </a:xfrm>
          <a:prstGeom prst="rect">
            <a:avLst/>
          </a:prstGeom>
          <a:noFill/>
          <a:ln/>
        </p:spPr>
        <p:txBody>
          <a:bodyPr wrap="square" lIns="0" tIns="0" rIns="0" bIns="0" rtlCol="0" anchor="ctr"/>
          <a:lstStyle/>
          <a:p>
            <a:pPr indent="0" marL="0">
              <a:lnSpc>
                <a:spcPts val="1300"/>
              </a:lnSpc>
              <a:buNone/>
            </a:pPr>
            <a:r>
              <a:rPr lang="en-US" sz="1050" dirty="0">
                <a:solidFill>
                  <a:srgbClr val="EBDDFB"/>
                </a:solidFill>
                <a:latin typeface="Calibri" pitchFamily="34" charset="0"/>
                <a:ea typeface="Calibri" pitchFamily="34" charset="-122"/>
                <a:cs typeface="Calibri" pitchFamily="34" charset="-120"/>
              </a:rPr>
              <a:t>first salary arrives</a:t>
            </a:r>
            <a:endParaRPr lang="en-US" sz="1050" dirty="0"/>
          </a:p>
        </p:txBody>
      </p:sp>
      <p:sp>
        <p:nvSpPr>
          <p:cNvPr id="20" name="Text 18"/>
          <p:cNvSpPr txBox="1"/>
          <p:nvPr/>
        </p:nvSpPr>
        <p:spPr>
          <a:xfrm>
            <a:off x="9390888" y="1901952"/>
            <a:ext cx="155448" cy="365760"/>
          </a:xfrm>
          <a:prstGeom prst="rect">
            <a:avLst/>
          </a:prstGeom>
          <a:noFill/>
          <a:ln/>
        </p:spPr>
        <p:txBody>
          <a:bodyPr wrap="square" lIns="0" tIns="0" rIns="0" bIns="0" rtlCol="0" anchor="ctr"/>
          <a:lstStyle/>
          <a:p>
            <a:pPr algn="ctr" indent="0" marL="0">
              <a:buNone/>
            </a:pPr>
            <a:r>
              <a:rPr lang="en-US" sz="1800" dirty="0">
                <a:solidFill>
                  <a:srgbClr val="E2DCEC"/>
                </a:solidFill>
                <a:latin typeface="Arial" pitchFamily="34" charset="0"/>
                <a:ea typeface="Arial" pitchFamily="34" charset="-122"/>
                <a:cs typeface="Arial" pitchFamily="34" charset="-120"/>
              </a:rPr>
              <a:t>›</a:t>
            </a:r>
            <a:endParaRPr lang="en-US" sz="1800" dirty="0"/>
          </a:p>
        </p:txBody>
      </p:sp>
      <p:sp>
        <p:nvSpPr>
          <p:cNvPr id="21" name="Shape 19"/>
          <p:cNvSpPr/>
          <p:nvPr/>
        </p:nvSpPr>
        <p:spPr>
          <a:xfrm>
            <a:off x="9528048" y="1719072"/>
            <a:ext cx="2084832" cy="731520"/>
          </a:xfrm>
          <a:prstGeom prst="roundRect">
            <a:avLst>
              <a:gd name="adj" fmla="val 7500"/>
            </a:avLst>
          </a:prstGeom>
          <a:solidFill>
            <a:srgbClr val="FAF8FD"/>
          </a:solidFill>
          <a:ln w="12700">
            <a:solidFill>
              <a:srgbClr val="E2DCEC"/>
            </a:solidFill>
            <a:prstDash val="solid"/>
          </a:ln>
        </p:spPr>
      </p:sp>
      <p:sp>
        <p:nvSpPr>
          <p:cNvPr id="22" name="Text 20"/>
          <p:cNvSpPr txBox="1"/>
          <p:nvPr/>
        </p:nvSpPr>
        <p:spPr>
          <a:xfrm>
            <a:off x="9674352" y="1801368"/>
            <a:ext cx="1810512" cy="274320"/>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Principal</a:t>
            </a:r>
            <a:endParaRPr lang="en-US" sz="1350" dirty="0"/>
          </a:p>
        </p:txBody>
      </p:sp>
      <p:sp>
        <p:nvSpPr>
          <p:cNvPr id="23" name="Text 21"/>
          <p:cNvSpPr txBox="1"/>
          <p:nvPr/>
        </p:nvSpPr>
        <p:spPr>
          <a:xfrm>
            <a:off x="9674352" y="2084832"/>
            <a:ext cx="1810512" cy="310896"/>
          </a:xfrm>
          <a:prstGeom prst="rect">
            <a:avLst/>
          </a:prstGeom>
          <a:noFill/>
          <a:ln/>
        </p:spPr>
        <p:txBody>
          <a:bodyPr wrap="square" lIns="0" tIns="0" rIns="0" bIns="0" rtlCol="0" anchor="ctr"/>
          <a:lstStyle/>
          <a:p>
            <a:pPr indent="0" marL="0">
              <a:lnSpc>
                <a:spcPts val="1300"/>
              </a:lnSpc>
              <a:buNone/>
            </a:pPr>
            <a:r>
              <a:rPr lang="en-US" sz="1050" dirty="0">
                <a:solidFill>
                  <a:srgbClr val="6E6484"/>
                </a:solidFill>
                <a:latin typeface="Calibri" pitchFamily="34" charset="0"/>
                <a:ea typeface="Calibri" pitchFamily="34" charset="-122"/>
                <a:cs typeface="Calibri" pitchFamily="34" charset="-120"/>
              </a:rPr>
              <a:t>two consecutive cycles</a:t>
            </a:r>
            <a:endParaRPr lang="en-US" sz="1050" dirty="0"/>
          </a:p>
        </p:txBody>
      </p:sp>
      <p:sp>
        <p:nvSpPr>
          <p:cNvPr id="24" name="Shape 22"/>
          <p:cNvSpPr/>
          <p:nvPr/>
        </p:nvSpPr>
        <p:spPr>
          <a:xfrm>
            <a:off x="566928" y="2670048"/>
            <a:ext cx="2670048" cy="1737360"/>
          </a:xfrm>
          <a:prstGeom prst="roundRect">
            <a:avLst>
              <a:gd name="adj" fmla="val 3158"/>
            </a:avLst>
          </a:prstGeom>
          <a:solidFill>
            <a:srgbClr val="F3E8FD"/>
          </a:solidFill>
          <a:ln w="12700">
            <a:solidFill>
              <a:srgbClr val="E2DCEC"/>
            </a:solidFill>
            <a:prstDash val="solid"/>
          </a:ln>
        </p:spPr>
      </p:sp>
      <p:sp>
        <p:nvSpPr>
          <p:cNvPr id="25" name="Text 23"/>
          <p:cNvSpPr txBox="1"/>
          <p:nvPr/>
        </p:nvSpPr>
        <p:spPr>
          <a:xfrm>
            <a:off x="786384" y="2834640"/>
            <a:ext cx="2258568" cy="219456"/>
          </a:xfrm>
          <a:prstGeom prst="rect">
            <a:avLst/>
          </a:prstGeom>
          <a:noFill/>
          <a:ln/>
        </p:spPr>
        <p:txBody>
          <a:bodyPr wrap="square" lIns="0" tIns="0" rIns="0" bIns="0" rtlCol="0" anchor="ctr"/>
          <a:lstStyle/>
          <a:p>
            <a:pPr indent="0" marL="0">
              <a:buNone/>
            </a:pPr>
            <a:r>
              <a:rPr lang="en-US" sz="900" b="1" spc="100" kern="0" dirty="0">
                <a:solidFill>
                  <a:srgbClr val="820AD1"/>
                </a:solidFill>
                <a:latin typeface="Arial" pitchFamily="34" charset="0"/>
                <a:ea typeface="Arial" pitchFamily="34" charset="-122"/>
                <a:cs typeface="Arial" pitchFamily="34" charset="-120"/>
              </a:rPr>
              <a:t>PHASE 0 · WEEKS 1–8</a:t>
            </a:r>
            <a:endParaRPr lang="en-US" sz="900" dirty="0"/>
          </a:p>
        </p:txBody>
      </p:sp>
      <p:sp>
        <p:nvSpPr>
          <p:cNvPr id="26" name="Text 24"/>
          <p:cNvSpPr txBox="1"/>
          <p:nvPr/>
        </p:nvSpPr>
        <p:spPr>
          <a:xfrm>
            <a:off x="786384" y="3072384"/>
            <a:ext cx="2258568" cy="292608"/>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Query, don’t build</a:t>
            </a:r>
            <a:endParaRPr lang="en-US" sz="1350" dirty="0"/>
          </a:p>
        </p:txBody>
      </p:sp>
      <p:sp>
        <p:nvSpPr>
          <p:cNvPr id="27" name="Text 25"/>
          <p:cNvSpPr txBox="1"/>
          <p:nvPr/>
        </p:nvSpPr>
        <p:spPr>
          <a:xfrm>
            <a:off x="786384" y="3401568"/>
            <a:ext cx="2258568" cy="960120"/>
          </a:xfrm>
          <a:prstGeom prst="rect">
            <a:avLst/>
          </a:prstGeom>
          <a:noFill/>
          <a:ln/>
        </p:spPr>
        <p:txBody>
          <a:bodyPr wrap="square" lIns="0" tIns="0" rIns="0" bIns="0" rtlCol="0" anchor="ctr"/>
          <a:lstStyle/>
          <a:p>
            <a:pPr indent="0" marL="0">
              <a:lnSpc>
                <a:spcPts val="1450"/>
              </a:lnSpc>
              <a:buNone/>
            </a:pPr>
            <a:r>
              <a:rPr lang="en-US" sz="1100" dirty="0">
                <a:solidFill>
                  <a:srgbClr val="2F2740"/>
                </a:solidFill>
                <a:latin typeface="Calibri" pitchFamily="34" charset="0"/>
                <a:ea typeface="Calibri" pitchFamily="34" charset="-122"/>
                <a:cs typeface="Calibri" pitchFamily="34" charset="-120"/>
              </a:rPr>
              <a:t>Customers already showing a fixed, recurring inbound from a bank CLABE. No new infrastructure — the first version is a query.</a:t>
            </a:r>
            <a:endParaRPr lang="en-US" sz="1100" dirty="0"/>
          </a:p>
        </p:txBody>
      </p:sp>
      <p:sp>
        <p:nvSpPr>
          <p:cNvPr id="28" name="Shape 26"/>
          <p:cNvSpPr/>
          <p:nvPr/>
        </p:nvSpPr>
        <p:spPr>
          <a:xfrm>
            <a:off x="3364992" y="2670048"/>
            <a:ext cx="2670048" cy="1737360"/>
          </a:xfrm>
          <a:prstGeom prst="roundRect">
            <a:avLst>
              <a:gd name="adj" fmla="val 3158"/>
            </a:avLst>
          </a:prstGeom>
          <a:solidFill>
            <a:srgbClr val="FAF8FD"/>
          </a:solidFill>
          <a:ln w="12700">
            <a:solidFill>
              <a:srgbClr val="E2DCEC"/>
            </a:solidFill>
            <a:prstDash val="solid"/>
          </a:ln>
        </p:spPr>
      </p:sp>
      <p:sp>
        <p:nvSpPr>
          <p:cNvPr id="29" name="Text 27"/>
          <p:cNvSpPr txBox="1"/>
          <p:nvPr/>
        </p:nvSpPr>
        <p:spPr>
          <a:xfrm>
            <a:off x="3584448" y="2834640"/>
            <a:ext cx="2258568" cy="219456"/>
          </a:xfrm>
          <a:prstGeom prst="rect">
            <a:avLst/>
          </a:prstGeom>
          <a:noFill/>
          <a:ln/>
        </p:spPr>
        <p:txBody>
          <a:bodyPr wrap="square" lIns="0" tIns="0" rIns="0" bIns="0" rtlCol="0" anchor="ctr"/>
          <a:lstStyle/>
          <a:p>
            <a:pPr indent="0" marL="0">
              <a:buNone/>
            </a:pPr>
            <a:r>
              <a:rPr lang="en-US" sz="900" b="1" spc="100" kern="0" dirty="0">
                <a:solidFill>
                  <a:srgbClr val="6E6484"/>
                </a:solidFill>
                <a:latin typeface="Arial" pitchFamily="34" charset="0"/>
                <a:ea typeface="Arial" pitchFamily="34" charset="-122"/>
                <a:cs typeface="Arial" pitchFamily="34" charset="-120"/>
              </a:rPr>
              <a:t>PHASE 1 · WEEKS 8–16</a:t>
            </a:r>
            <a:endParaRPr lang="en-US" sz="900" dirty="0"/>
          </a:p>
        </p:txBody>
      </p:sp>
      <p:sp>
        <p:nvSpPr>
          <p:cNvPr id="30" name="Text 28"/>
          <p:cNvSpPr txBox="1"/>
          <p:nvPr/>
        </p:nvSpPr>
        <p:spPr>
          <a:xfrm>
            <a:off x="3584448" y="3072384"/>
            <a:ext cx="2258568" cy="292608"/>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The switch</a:t>
            </a:r>
            <a:endParaRPr lang="en-US" sz="1350" dirty="0"/>
          </a:p>
        </p:txBody>
      </p:sp>
      <p:sp>
        <p:nvSpPr>
          <p:cNvPr id="31" name="Text 29"/>
          <p:cNvSpPr txBox="1"/>
          <p:nvPr/>
        </p:nvSpPr>
        <p:spPr>
          <a:xfrm>
            <a:off x="3584448" y="3401568"/>
            <a:ext cx="2258568" cy="960120"/>
          </a:xfrm>
          <a:prstGeom prst="rect">
            <a:avLst/>
          </a:prstGeom>
          <a:noFill/>
          <a:ln/>
        </p:spPr>
        <p:txBody>
          <a:bodyPr wrap="square" lIns="0" tIns="0" rIns="0" bIns="0" rtlCol="0" anchor="ctr"/>
          <a:lstStyle/>
          <a:p>
            <a:pPr indent="0" marL="0">
              <a:lnSpc>
                <a:spcPts val="1450"/>
              </a:lnSpc>
              <a:buNone/>
            </a:pPr>
            <a:r>
              <a:rPr lang="en-US" sz="1100" dirty="0">
                <a:solidFill>
                  <a:srgbClr val="2F2740"/>
                </a:solidFill>
                <a:latin typeface="Calibri" pitchFamily="34" charset="0"/>
                <a:ea typeface="Calibri" pitchFamily="34" charset="-122"/>
                <a:cs typeface="Calibri" pitchFamily="34" charset="-120"/>
              </a:rPr>
              <a:t>Portability flow, the 11-day tracking screen, monitoring of the old account. Ship to the detected cohort only.</a:t>
            </a:r>
            <a:endParaRPr lang="en-US" sz="1100" dirty="0"/>
          </a:p>
        </p:txBody>
      </p:sp>
      <p:sp>
        <p:nvSpPr>
          <p:cNvPr id="32" name="Shape 30"/>
          <p:cNvSpPr/>
          <p:nvPr/>
        </p:nvSpPr>
        <p:spPr>
          <a:xfrm>
            <a:off x="6163056" y="2670048"/>
            <a:ext cx="2670048" cy="1737360"/>
          </a:xfrm>
          <a:prstGeom prst="roundRect">
            <a:avLst>
              <a:gd name="adj" fmla="val 3158"/>
            </a:avLst>
          </a:prstGeom>
          <a:solidFill>
            <a:srgbClr val="FAF8FD"/>
          </a:solidFill>
          <a:ln w="12700">
            <a:solidFill>
              <a:srgbClr val="E2DCEC"/>
            </a:solidFill>
            <a:prstDash val="solid"/>
          </a:ln>
        </p:spPr>
      </p:sp>
      <p:sp>
        <p:nvSpPr>
          <p:cNvPr id="33" name="Text 31"/>
          <p:cNvSpPr txBox="1"/>
          <p:nvPr/>
        </p:nvSpPr>
        <p:spPr>
          <a:xfrm>
            <a:off x="6382512" y="2834640"/>
            <a:ext cx="2258568" cy="219456"/>
          </a:xfrm>
          <a:prstGeom prst="rect">
            <a:avLst/>
          </a:prstGeom>
          <a:noFill/>
          <a:ln/>
        </p:spPr>
        <p:txBody>
          <a:bodyPr wrap="square" lIns="0" tIns="0" rIns="0" bIns="0" rtlCol="0" anchor="ctr"/>
          <a:lstStyle/>
          <a:p>
            <a:pPr indent="0" marL="0">
              <a:buNone/>
            </a:pPr>
            <a:r>
              <a:rPr lang="en-US" sz="900" b="1" spc="100" kern="0" dirty="0">
                <a:solidFill>
                  <a:srgbClr val="6E6484"/>
                </a:solidFill>
                <a:latin typeface="Arial" pitchFamily="34" charset="0"/>
                <a:ea typeface="Arial" pitchFamily="34" charset="-122"/>
                <a:cs typeface="Arial" pitchFamily="34" charset="-120"/>
              </a:rPr>
              <a:t>PHASE 2 · MONTHS 4–9</a:t>
            </a:r>
            <a:endParaRPr lang="en-US" sz="900" dirty="0"/>
          </a:p>
        </p:txBody>
      </p:sp>
      <p:sp>
        <p:nvSpPr>
          <p:cNvPr id="34" name="Text 32"/>
          <p:cNvSpPr txBox="1"/>
          <p:nvPr/>
        </p:nvSpPr>
        <p:spPr>
          <a:xfrm>
            <a:off x="6382512" y="3072384"/>
            <a:ext cx="2258568" cy="292608"/>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The second door</a:t>
            </a:r>
            <a:endParaRPr lang="en-US" sz="1350" dirty="0"/>
          </a:p>
        </p:txBody>
      </p:sp>
      <p:sp>
        <p:nvSpPr>
          <p:cNvPr id="35" name="Text 33"/>
          <p:cNvSpPr txBox="1"/>
          <p:nvPr/>
        </p:nvSpPr>
        <p:spPr>
          <a:xfrm>
            <a:off x="6382512" y="3401568"/>
            <a:ext cx="2258568" cy="960120"/>
          </a:xfrm>
          <a:prstGeom prst="rect">
            <a:avLst/>
          </a:prstGeom>
          <a:noFill/>
          <a:ln/>
        </p:spPr>
        <p:txBody>
          <a:bodyPr wrap="square" lIns="0" tIns="0" rIns="0" bIns="0" rtlCol="0" anchor="ctr"/>
          <a:lstStyle/>
          <a:p>
            <a:pPr indent="0" marL="0">
              <a:lnSpc>
                <a:spcPts val="1450"/>
              </a:lnSpc>
              <a:buNone/>
            </a:pPr>
            <a:r>
              <a:rPr lang="en-US" sz="1100" dirty="0">
                <a:solidFill>
                  <a:srgbClr val="2F2740"/>
                </a:solidFill>
                <a:latin typeface="Calibri" pitchFamily="34" charset="0"/>
                <a:ea typeface="Calibri" pitchFamily="34" charset="-122"/>
                <a:cs typeface="Calibri" pitchFamily="34" charset="-120"/>
              </a:rPr>
              <a:t>Observed income — remittances, platform payouts, deposit rhythm — reaches the identical tier. Same terms, different proof.</a:t>
            </a:r>
            <a:endParaRPr lang="en-US" sz="1100" dirty="0"/>
          </a:p>
        </p:txBody>
      </p:sp>
      <p:sp>
        <p:nvSpPr>
          <p:cNvPr id="36" name="Shape 34"/>
          <p:cNvSpPr/>
          <p:nvPr/>
        </p:nvSpPr>
        <p:spPr>
          <a:xfrm>
            <a:off x="8961120" y="2670048"/>
            <a:ext cx="2670048" cy="1737360"/>
          </a:xfrm>
          <a:prstGeom prst="roundRect">
            <a:avLst>
              <a:gd name="adj" fmla="val 3158"/>
            </a:avLst>
          </a:prstGeom>
          <a:solidFill>
            <a:srgbClr val="FAF8FD"/>
          </a:solidFill>
          <a:ln w="12700">
            <a:solidFill>
              <a:srgbClr val="E2DCEC"/>
            </a:solidFill>
            <a:prstDash val="solid"/>
          </a:ln>
        </p:spPr>
      </p:sp>
      <p:sp>
        <p:nvSpPr>
          <p:cNvPr id="37" name="Text 35"/>
          <p:cNvSpPr txBox="1"/>
          <p:nvPr/>
        </p:nvSpPr>
        <p:spPr>
          <a:xfrm>
            <a:off x="9180576" y="2834640"/>
            <a:ext cx="2258568" cy="219456"/>
          </a:xfrm>
          <a:prstGeom prst="rect">
            <a:avLst/>
          </a:prstGeom>
          <a:noFill/>
          <a:ln/>
        </p:spPr>
        <p:txBody>
          <a:bodyPr wrap="square" lIns="0" tIns="0" rIns="0" bIns="0" rtlCol="0" anchor="ctr"/>
          <a:lstStyle/>
          <a:p>
            <a:pPr indent="0" marL="0">
              <a:buNone/>
            </a:pPr>
            <a:r>
              <a:rPr lang="en-US" sz="900" b="1" spc="100" kern="0" dirty="0">
                <a:solidFill>
                  <a:srgbClr val="6E6484"/>
                </a:solidFill>
                <a:latin typeface="Arial" pitchFamily="34" charset="0"/>
                <a:ea typeface="Arial" pitchFamily="34" charset="-122"/>
                <a:cs typeface="Arial" pitchFamily="34" charset="-120"/>
              </a:rPr>
              <a:t>PHASE 3 · MONTHS 10–24</a:t>
            </a:r>
            <a:endParaRPr lang="en-US" sz="900" dirty="0"/>
          </a:p>
        </p:txBody>
      </p:sp>
      <p:sp>
        <p:nvSpPr>
          <p:cNvPr id="38" name="Text 36"/>
          <p:cNvSpPr txBox="1"/>
          <p:nvPr/>
        </p:nvSpPr>
        <p:spPr>
          <a:xfrm>
            <a:off x="9180576" y="3072384"/>
            <a:ext cx="2258568" cy="292608"/>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Employers, last</a:t>
            </a:r>
            <a:endParaRPr lang="en-US" sz="1350" dirty="0"/>
          </a:p>
        </p:txBody>
      </p:sp>
      <p:sp>
        <p:nvSpPr>
          <p:cNvPr id="39" name="Text 37"/>
          <p:cNvSpPr txBox="1"/>
          <p:nvPr/>
        </p:nvSpPr>
        <p:spPr>
          <a:xfrm>
            <a:off x="9180576" y="3401568"/>
            <a:ext cx="2258568" cy="960120"/>
          </a:xfrm>
          <a:prstGeom prst="rect">
            <a:avLst/>
          </a:prstGeom>
          <a:noFill/>
          <a:ln/>
        </p:spPr>
        <p:txBody>
          <a:bodyPr wrap="square" lIns="0" tIns="0" rIns="0" bIns="0" rtlCol="0" anchor="ctr"/>
          <a:lstStyle/>
          <a:p>
            <a:pPr indent="0" marL="0">
              <a:lnSpc>
                <a:spcPts val="1450"/>
              </a:lnSpc>
              <a:buNone/>
            </a:pPr>
            <a:r>
              <a:rPr lang="en-US" sz="1100" dirty="0">
                <a:solidFill>
                  <a:srgbClr val="2F2740"/>
                </a:solidFill>
                <a:latin typeface="Calibri" pitchFamily="34" charset="0"/>
                <a:ea typeface="Calibri" pitchFamily="34" charset="-122"/>
                <a:cs typeface="Calibri" pitchFamily="34" charset="-120"/>
              </a:rPr>
              <a:t>Only after consumer pull has proved demand. Leading with an HR sales motion is how a challenger loses this market.</a:t>
            </a:r>
            <a:endParaRPr lang="en-US" sz="1100" dirty="0"/>
          </a:p>
        </p:txBody>
      </p:sp>
      <p:sp>
        <p:nvSpPr>
          <p:cNvPr id="40" name="Shape 38"/>
          <p:cNvSpPr/>
          <p:nvPr/>
        </p:nvSpPr>
        <p:spPr>
          <a:xfrm>
            <a:off x="566928" y="4590288"/>
            <a:ext cx="11073384" cy="1417320"/>
          </a:xfrm>
          <a:prstGeom prst="roundRect">
            <a:avLst>
              <a:gd name="adj" fmla="val 3871"/>
            </a:avLst>
          </a:prstGeom>
          <a:solidFill>
            <a:srgbClr val="FAF8FD"/>
          </a:solidFill>
          <a:ln w="12700">
            <a:solidFill>
              <a:srgbClr val="E2DCEC"/>
            </a:solidFill>
            <a:prstDash val="solid"/>
          </a:ln>
        </p:spPr>
      </p:sp>
      <p:sp>
        <p:nvSpPr>
          <p:cNvPr id="41" name="Text 39"/>
          <p:cNvSpPr txBox="1"/>
          <p:nvPr/>
        </p:nvSpPr>
        <p:spPr>
          <a:xfrm>
            <a:off x="822960" y="4736592"/>
            <a:ext cx="7315200" cy="274320"/>
          </a:xfrm>
          <a:prstGeom prst="rect">
            <a:avLst/>
          </a:prstGeom>
          <a:noFill/>
          <a:ln/>
        </p:spPr>
        <p:txBody>
          <a:bodyPr wrap="square" lIns="0" tIns="0" rIns="0" bIns="0" rtlCol="0" anchor="ctr"/>
          <a:lstStyle/>
          <a:p>
            <a:pPr indent="0" marL="0">
              <a:buNone/>
            </a:pPr>
            <a:r>
              <a:rPr lang="en-US" sz="1350" b="1" dirty="0">
                <a:solidFill>
                  <a:srgbClr val="19102A"/>
                </a:solidFill>
                <a:latin typeface="Arial" pitchFamily="34" charset="0"/>
                <a:ea typeface="Arial" pitchFamily="34" charset="-122"/>
                <a:cs typeface="Arial" pitchFamily="34" charset="-120"/>
              </a:rPr>
              <a:t>Where it leaks, and what I would do about it</a:t>
            </a:r>
            <a:endParaRPr lang="en-US" sz="1350" dirty="0"/>
          </a:p>
        </p:txBody>
      </p:sp>
      <p:sp>
        <p:nvSpPr>
          <p:cNvPr id="42" name="Text 40"/>
          <p:cNvSpPr txBox="1"/>
          <p:nvPr/>
        </p:nvSpPr>
        <p:spPr>
          <a:xfrm>
            <a:off x="822960" y="5074920"/>
            <a:ext cx="5257800" cy="402336"/>
          </a:xfrm>
          <a:prstGeom prst="rect">
            <a:avLst/>
          </a:prstGeom>
          <a:noFill/>
          <a:ln/>
        </p:spPr>
        <p:txBody>
          <a:bodyPr wrap="square" lIns="0" tIns="0" rIns="0" bIns="0" rtlCol="0" anchor="ctr"/>
          <a:lstStyle/>
          <a:p>
            <a:pPr indent="0" marL="0">
              <a:lnSpc>
                <a:spcPts val="1400"/>
              </a:lnSpc>
              <a:buNone/>
            </a:pPr>
            <a:r>
              <a:rPr lang="en-US" sz="1100" b="1" dirty="0">
                <a:solidFill>
                  <a:srgbClr val="19102A"/>
                </a:solidFill>
                <a:latin typeface="Calibri" pitchFamily="34" charset="0"/>
                <a:ea typeface="Calibri" pitchFamily="34" charset="-122"/>
                <a:cs typeface="Calibri" pitchFamily="34" charset="-120"/>
              </a:rPr>
              <a:t>The 11-day gap. </a:t>
            </a:r>
            <a:pPr indent="0" marL="0">
              <a:lnSpc>
                <a:spcPts val="1400"/>
              </a:lnSpc>
              <a:buNone/>
            </a:pPr>
            <a:r>
              <a:rPr lang="en-US" sz="1100" dirty="0">
                <a:solidFill>
                  <a:srgbClr val="2F2740"/>
                </a:solidFill>
                <a:latin typeface="Calibri" pitchFamily="34" charset="0"/>
                <a:ea typeface="Calibri" pitchFamily="34" charset="-122"/>
                <a:cs typeface="Calibri" pitchFamily="34" charset="-120"/>
              </a:rPr>
              <a:t>Name the date, show the steps, watch the old account. That is the retention mechanic.</a:t>
            </a:r>
            <a:endParaRPr lang="en-US" sz="1100" dirty="0"/>
          </a:p>
        </p:txBody>
      </p:sp>
      <p:sp>
        <p:nvSpPr>
          <p:cNvPr id="43" name="Text 41"/>
          <p:cNvSpPr txBox="1"/>
          <p:nvPr/>
        </p:nvSpPr>
        <p:spPr>
          <a:xfrm>
            <a:off x="6309360" y="5074920"/>
            <a:ext cx="5257800" cy="402336"/>
          </a:xfrm>
          <a:prstGeom prst="rect">
            <a:avLst/>
          </a:prstGeom>
          <a:noFill/>
          <a:ln/>
        </p:spPr>
        <p:txBody>
          <a:bodyPr wrap="square" lIns="0" tIns="0" rIns="0" bIns="0" rtlCol="0" anchor="ctr"/>
          <a:lstStyle/>
          <a:p>
            <a:pPr indent="0" marL="0">
              <a:lnSpc>
                <a:spcPts val="1400"/>
              </a:lnSpc>
              <a:buNone/>
            </a:pPr>
            <a:r>
              <a:rPr lang="en-US" sz="1100" b="1" dirty="0">
                <a:solidFill>
                  <a:srgbClr val="19102A"/>
                </a:solidFill>
                <a:latin typeface="Calibri" pitchFamily="34" charset="0"/>
                <a:ea typeface="Calibri" pitchFamily="34" charset="-122"/>
                <a:cs typeface="Calibri" pitchFamily="34" charset="-120"/>
              </a:rPr>
              <a:t>“Will my employer know?” </a:t>
            </a:r>
            <a:pPr indent="0" marL="0">
              <a:lnSpc>
                <a:spcPts val="1400"/>
              </a:lnSpc>
              <a:buNone/>
            </a:pPr>
            <a:r>
              <a:rPr lang="en-US" sz="1100" dirty="0">
                <a:solidFill>
                  <a:srgbClr val="2F2740"/>
                </a:solidFill>
                <a:latin typeface="Calibri" pitchFamily="34" charset="0"/>
                <a:ea typeface="Calibri" pitchFamily="34" charset="-122"/>
                <a:cs typeface="Calibri" pitchFamily="34" charset="-120"/>
              </a:rPr>
              <a:t>They don’t need to. Say it on the screen where the request is made.</a:t>
            </a:r>
            <a:endParaRPr lang="en-US" sz="1100" dirty="0"/>
          </a:p>
        </p:txBody>
      </p:sp>
      <p:sp>
        <p:nvSpPr>
          <p:cNvPr id="44" name="Text 42"/>
          <p:cNvSpPr txBox="1"/>
          <p:nvPr/>
        </p:nvSpPr>
        <p:spPr>
          <a:xfrm>
            <a:off x="822960" y="5504688"/>
            <a:ext cx="5257800" cy="402336"/>
          </a:xfrm>
          <a:prstGeom prst="rect">
            <a:avLst/>
          </a:prstGeom>
          <a:noFill/>
          <a:ln/>
        </p:spPr>
        <p:txBody>
          <a:bodyPr wrap="square" lIns="0" tIns="0" rIns="0" bIns="0" rtlCol="0" anchor="ctr"/>
          <a:lstStyle/>
          <a:p>
            <a:pPr indent="0" marL="0">
              <a:lnSpc>
                <a:spcPts val="1400"/>
              </a:lnSpc>
              <a:buNone/>
            </a:pPr>
            <a:r>
              <a:rPr lang="en-US" sz="1100" b="1" dirty="0">
                <a:solidFill>
                  <a:srgbClr val="19102A"/>
                </a:solidFill>
                <a:latin typeface="Calibri" pitchFamily="34" charset="0"/>
                <a:ea typeface="Calibri" pitchFamily="34" charset="-122"/>
                <a:cs typeface="Calibri" pitchFamily="34" charset="-120"/>
              </a:rPr>
              <a:t>Payroll providers routing around the CLABE. </a:t>
            </a:r>
            <a:pPr indent="0" marL="0">
              <a:lnSpc>
                <a:spcPts val="1400"/>
              </a:lnSpc>
              <a:buNone/>
            </a:pPr>
            <a:r>
              <a:rPr lang="en-US" sz="1100" dirty="0">
                <a:solidFill>
                  <a:srgbClr val="2F2740"/>
                </a:solidFill>
                <a:latin typeface="Calibri" pitchFamily="34" charset="0"/>
                <a:ea typeface="Calibri" pitchFamily="34" charset="-122"/>
                <a:cs typeface="Calibri" pitchFamily="34" charset="-120"/>
              </a:rPr>
              <a:t>Detect the failed landing and handle it case by case — by hand at first.</a:t>
            </a:r>
            <a:endParaRPr lang="en-US" sz="1100" dirty="0"/>
          </a:p>
        </p:txBody>
      </p:sp>
      <p:sp>
        <p:nvSpPr>
          <p:cNvPr id="45" name="Text 43"/>
          <p:cNvSpPr txBox="1"/>
          <p:nvPr/>
        </p:nvSpPr>
        <p:spPr>
          <a:xfrm>
            <a:off x="6309360" y="5504688"/>
            <a:ext cx="5257800" cy="402336"/>
          </a:xfrm>
          <a:prstGeom prst="rect">
            <a:avLst/>
          </a:prstGeom>
          <a:noFill/>
          <a:ln/>
        </p:spPr>
        <p:txBody>
          <a:bodyPr wrap="square" lIns="0" tIns="0" rIns="0" bIns="0" rtlCol="0" anchor="ctr"/>
          <a:lstStyle/>
          <a:p>
            <a:pPr indent="0" marL="0">
              <a:lnSpc>
                <a:spcPts val="1400"/>
              </a:lnSpc>
              <a:buNone/>
            </a:pPr>
            <a:r>
              <a:rPr lang="en-US" sz="1100" b="1" dirty="0">
                <a:solidFill>
                  <a:srgbClr val="19102A"/>
                </a:solidFill>
                <a:latin typeface="Calibri" pitchFamily="34" charset="0"/>
                <a:ea typeface="Calibri" pitchFamily="34" charset="-122"/>
                <a:cs typeface="Calibri" pitchFamily="34" charset="-120"/>
              </a:rPr>
              <a:t>Bust-out on a new line. </a:t>
            </a:r>
            <a:pPr indent="0" marL="0">
              <a:lnSpc>
                <a:spcPts val="1400"/>
              </a:lnSpc>
              <a:buNone/>
            </a:pPr>
            <a:r>
              <a:rPr lang="en-US" sz="1100" dirty="0">
                <a:solidFill>
                  <a:srgbClr val="2F2740"/>
                </a:solidFill>
                <a:latin typeface="Calibri" pitchFamily="34" charset="0"/>
                <a:ea typeface="Calibri" pitchFamily="34" charset="-122"/>
                <a:cs typeface="Calibri" pitchFamily="34" charset="-120"/>
              </a:rPr>
              <a:t>Stage limits, short tenors, progression rather than jumps.</a:t>
            </a:r>
            <a:endParaRPr lang="en-US" sz="1100" dirty="0"/>
          </a:p>
        </p:txBody>
      </p:sp>
      <p:sp>
        <p:nvSpPr>
          <p:cNvPr id="46" name="Text 44"/>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The only metric that counts is Landed. Requests are vanity; the deposit arriving is the event that changes the balance sheet. The second metric is cycles retained.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2.1.4  PRODUCT · TRACK B</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Ingreso observado — same tier, different proof</a:t>
            </a:r>
            <a:endParaRPr lang="en-US" sz="3100" dirty="0"/>
          </a:p>
        </p:txBody>
      </p:sp>
      <p:sp>
        <p:nvSpPr>
          <p:cNvPr id="5" name="Text 3"/>
          <p:cNvSpPr txBox="1"/>
          <p:nvPr/>
        </p:nvSpPr>
        <p:spPr>
          <a:xfrm>
            <a:off x="566928" y="1737360"/>
            <a:ext cx="2377440" cy="777240"/>
          </a:xfrm>
          <a:prstGeom prst="rect">
            <a:avLst/>
          </a:prstGeom>
          <a:noFill/>
          <a:ln/>
        </p:spPr>
        <p:txBody>
          <a:bodyPr wrap="square" lIns="0" tIns="0" rIns="0" bIns="0" rtlCol="0" anchor="ctr"/>
          <a:lstStyle/>
          <a:p>
            <a:pPr indent="0" marL="0">
              <a:buNone/>
            </a:pPr>
            <a:r>
              <a:rPr lang="en-US" sz="4800" b="1" dirty="0">
                <a:solidFill>
                  <a:srgbClr val="820AD1"/>
                </a:solidFill>
                <a:latin typeface="Arial" pitchFamily="34" charset="0"/>
                <a:ea typeface="Arial" pitchFamily="34" charset="-122"/>
                <a:cs typeface="Arial" pitchFamily="34" charset="-120"/>
              </a:rPr>
              <a:t>55.1%</a:t>
            </a:r>
            <a:endParaRPr lang="en-US" sz="4800" dirty="0"/>
          </a:p>
        </p:txBody>
      </p:sp>
      <p:sp>
        <p:nvSpPr>
          <p:cNvPr id="6" name="Text 4"/>
          <p:cNvSpPr txBox="1"/>
          <p:nvPr/>
        </p:nvSpPr>
        <p:spPr>
          <a:xfrm>
            <a:off x="3218688" y="1783080"/>
            <a:ext cx="8961120" cy="777240"/>
          </a:xfrm>
          <a:prstGeom prst="rect">
            <a:avLst/>
          </a:prstGeom>
          <a:noFill/>
          <a:ln/>
        </p:spPr>
        <p:txBody>
          <a:bodyPr wrap="square" lIns="0" tIns="0" rIns="0" bIns="0" rtlCol="0" anchor="ctr"/>
          <a:lstStyle/>
          <a:p>
            <a:pPr indent="0" marL="0">
              <a:lnSpc>
                <a:spcPts val="2000"/>
              </a:lnSpc>
              <a:buNone/>
            </a:pPr>
            <a:r>
              <a:rPr lang="en-US" sz="1450" dirty="0">
                <a:solidFill>
                  <a:srgbClr val="2F2740"/>
                </a:solidFill>
                <a:latin typeface="Calibri" pitchFamily="34" charset="0"/>
                <a:ea typeface="Calibri" pitchFamily="34" charset="-122"/>
                <a:cs typeface="Calibri" pitchFamily="34" charset="-120"/>
              </a:rPr>
              <a:t>of Mexico’s workforce is informal — 33.1 million people with no payslip to port. A formal-only strategy serves 44.6% of workers, in a country where only 37.3% of adults can access formal credit at all.</a:t>
            </a:r>
            <a:endParaRPr lang="en-US" sz="1450" dirty="0"/>
          </a:p>
        </p:txBody>
      </p:sp>
      <p:sp>
        <p:nvSpPr>
          <p:cNvPr id="7" name="Shape 5"/>
          <p:cNvSpPr/>
          <p:nvPr/>
        </p:nvSpPr>
        <p:spPr>
          <a:xfrm>
            <a:off x="566928" y="2788920"/>
            <a:ext cx="3566160" cy="2331720"/>
          </a:xfrm>
          <a:prstGeom prst="roundRect">
            <a:avLst>
              <a:gd name="adj" fmla="val 2353"/>
            </a:avLst>
          </a:prstGeom>
          <a:solidFill>
            <a:srgbClr val="FAF8FD"/>
          </a:solidFill>
          <a:ln w="12700">
            <a:solidFill>
              <a:srgbClr val="E2DCEC"/>
            </a:solidFill>
            <a:prstDash val="solid"/>
          </a:ln>
        </p:spPr>
      </p:sp>
      <p:sp>
        <p:nvSpPr>
          <p:cNvPr id="8" name="Text 6"/>
          <p:cNvSpPr txBox="1"/>
          <p:nvPr/>
        </p:nvSpPr>
        <p:spPr>
          <a:xfrm>
            <a:off x="822960" y="2962656"/>
            <a:ext cx="3017520" cy="274320"/>
          </a:xfrm>
          <a:prstGeom prst="rect">
            <a:avLst/>
          </a:prstGeom>
          <a:noFill/>
          <a:ln/>
        </p:spPr>
        <p:txBody>
          <a:bodyPr wrap="square" lIns="0" tIns="0" rIns="0" bIns="0" rtlCol="0" anchor="ctr"/>
          <a:lstStyle/>
          <a:p>
            <a:pPr indent="0" marL="0">
              <a:buNone/>
            </a:pPr>
            <a:r>
              <a:rPr lang="en-US" sz="1400" b="1" dirty="0">
                <a:solidFill>
                  <a:srgbClr val="19102A"/>
                </a:solidFill>
                <a:latin typeface="Arial" pitchFamily="34" charset="0"/>
                <a:ea typeface="Arial" pitchFamily="34" charset="-122"/>
                <a:cs typeface="Arial" pitchFamily="34" charset="-120"/>
              </a:rPr>
              <a:t>The signals</a:t>
            </a:r>
            <a:endParaRPr lang="en-US" sz="1400" dirty="0"/>
          </a:p>
        </p:txBody>
      </p:sp>
      <p:sp>
        <p:nvSpPr>
          <p:cNvPr id="9" name="Text 7"/>
          <p:cNvSpPr txBox="1"/>
          <p:nvPr/>
        </p:nvSpPr>
        <p:spPr>
          <a:xfrm>
            <a:off x="822960" y="3291840"/>
            <a:ext cx="3063240" cy="1691640"/>
          </a:xfrm>
          <a:prstGeom prst="rect">
            <a:avLst/>
          </a:prstGeom>
          <a:noFill/>
          <a:ln/>
        </p:spPr>
        <p:txBody>
          <a:bodyPr wrap="square" lIns="0" tIns="0" rIns="0" bIns="0" rtlCol="0" anchor="ctr"/>
          <a:lstStyle/>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Inbound rhythm and regularity</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Remittances — US$30.76B in H1 2026</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Platform and gig payouts</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Cash deposit patterns</a:t>
            </a:r>
            <a:endParaRPr lang="en-US" sz="1200" dirty="0"/>
          </a:p>
        </p:txBody>
      </p:sp>
      <p:sp>
        <p:nvSpPr>
          <p:cNvPr id="10" name="Shape 8"/>
          <p:cNvSpPr/>
          <p:nvPr/>
        </p:nvSpPr>
        <p:spPr>
          <a:xfrm>
            <a:off x="4279392" y="2788920"/>
            <a:ext cx="3566160" cy="2331720"/>
          </a:xfrm>
          <a:prstGeom prst="roundRect">
            <a:avLst>
              <a:gd name="adj" fmla="val 2353"/>
            </a:avLst>
          </a:prstGeom>
          <a:solidFill>
            <a:srgbClr val="FAF8FD"/>
          </a:solidFill>
          <a:ln w="12700">
            <a:solidFill>
              <a:srgbClr val="E2DCEC"/>
            </a:solidFill>
            <a:prstDash val="solid"/>
          </a:ln>
        </p:spPr>
      </p:sp>
      <p:sp>
        <p:nvSpPr>
          <p:cNvPr id="11" name="Text 9"/>
          <p:cNvSpPr txBox="1"/>
          <p:nvPr/>
        </p:nvSpPr>
        <p:spPr>
          <a:xfrm>
            <a:off x="4535424" y="2962656"/>
            <a:ext cx="3017520" cy="274320"/>
          </a:xfrm>
          <a:prstGeom prst="rect">
            <a:avLst/>
          </a:prstGeom>
          <a:noFill/>
          <a:ln/>
        </p:spPr>
        <p:txBody>
          <a:bodyPr wrap="square" lIns="0" tIns="0" rIns="0" bIns="0" rtlCol="0" anchor="ctr"/>
          <a:lstStyle/>
          <a:p>
            <a:pPr indent="0" marL="0">
              <a:buNone/>
            </a:pPr>
            <a:r>
              <a:rPr lang="en-US" sz="1400" b="1" dirty="0">
                <a:solidFill>
                  <a:srgbClr val="B01030"/>
                </a:solidFill>
                <a:latin typeface="Arial" pitchFamily="34" charset="0"/>
                <a:ea typeface="Arial" pitchFamily="34" charset="-122"/>
                <a:cs typeface="Arial" pitchFamily="34" charset="-120"/>
              </a:rPr>
              <a:t>Never used — by policy</a:t>
            </a:r>
            <a:endParaRPr lang="en-US" sz="1400" dirty="0"/>
          </a:p>
        </p:txBody>
      </p:sp>
      <p:sp>
        <p:nvSpPr>
          <p:cNvPr id="12" name="Text 10"/>
          <p:cNvSpPr txBox="1"/>
          <p:nvPr/>
        </p:nvSpPr>
        <p:spPr>
          <a:xfrm>
            <a:off x="4535424" y="3291840"/>
            <a:ext cx="3063240" cy="1170432"/>
          </a:xfrm>
          <a:prstGeom prst="rect">
            <a:avLst/>
          </a:prstGeom>
          <a:noFill/>
          <a:ln/>
        </p:spPr>
        <p:txBody>
          <a:bodyPr wrap="square" lIns="0" tIns="0" rIns="0" bIns="0" rtlCol="0" anchor="ctr"/>
          <a:lstStyle/>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Device model</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Location trails</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Contacts and messages</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Social graph</a:t>
            </a:r>
            <a:endParaRPr lang="en-US" sz="1200" dirty="0"/>
          </a:p>
        </p:txBody>
      </p:sp>
      <p:sp>
        <p:nvSpPr>
          <p:cNvPr id="13" name="Text 11"/>
          <p:cNvSpPr txBox="1"/>
          <p:nvPr/>
        </p:nvSpPr>
        <p:spPr>
          <a:xfrm>
            <a:off x="4535424" y="4553712"/>
            <a:ext cx="3063240" cy="502920"/>
          </a:xfrm>
          <a:prstGeom prst="rect">
            <a:avLst/>
          </a:prstGeom>
          <a:noFill/>
          <a:ln/>
        </p:spPr>
        <p:txBody>
          <a:bodyPr wrap="square" lIns="0" tIns="0" rIns="0" bIns="0" rtlCol="0" anchor="ctr"/>
          <a:lstStyle/>
          <a:p>
            <a:pPr indent="0" marL="0">
              <a:lnSpc>
                <a:spcPts val="1400"/>
              </a:lnSpc>
              <a:buNone/>
            </a:pPr>
            <a:r>
              <a:rPr lang="en-US" sz="1050" i="1" dirty="0">
                <a:solidFill>
                  <a:srgbClr val="6E6484"/>
                </a:solidFill>
                <a:latin typeface="Calibri" pitchFamily="34" charset="0"/>
                <a:ea typeface="Calibri" pitchFamily="34" charset="-122"/>
                <a:cs typeface="Calibri" pitchFamily="34" charset="-120"/>
              </a:rPr>
              <a:t>Every one predicts repayment. Every one is a proxy for class, region and ethnicity.</a:t>
            </a:r>
            <a:endParaRPr lang="en-US" sz="1050" dirty="0"/>
          </a:p>
        </p:txBody>
      </p:sp>
      <p:sp>
        <p:nvSpPr>
          <p:cNvPr id="14" name="Shape 12"/>
          <p:cNvSpPr/>
          <p:nvPr/>
        </p:nvSpPr>
        <p:spPr>
          <a:xfrm>
            <a:off x="8074152" y="2788920"/>
            <a:ext cx="3566160" cy="2331720"/>
          </a:xfrm>
          <a:prstGeom prst="roundRect">
            <a:avLst>
              <a:gd name="adj" fmla="val 2353"/>
            </a:avLst>
          </a:prstGeom>
          <a:solidFill>
            <a:srgbClr val="F3E8FD"/>
          </a:solidFill>
          <a:ln w="12700">
            <a:solidFill>
              <a:srgbClr val="E2DCEC"/>
            </a:solidFill>
            <a:prstDash val="solid"/>
          </a:ln>
        </p:spPr>
      </p:sp>
      <p:sp>
        <p:nvSpPr>
          <p:cNvPr id="15" name="Text 13"/>
          <p:cNvSpPr txBox="1"/>
          <p:nvPr/>
        </p:nvSpPr>
        <p:spPr>
          <a:xfrm>
            <a:off x="8330184" y="2962656"/>
            <a:ext cx="3063240" cy="274320"/>
          </a:xfrm>
          <a:prstGeom prst="rect">
            <a:avLst/>
          </a:prstGeom>
          <a:noFill/>
          <a:ln/>
        </p:spPr>
        <p:txBody>
          <a:bodyPr wrap="square" lIns="0" tIns="0" rIns="0" bIns="0" rtlCol="0" anchor="ctr"/>
          <a:lstStyle/>
          <a:p>
            <a:pPr indent="0" marL="0">
              <a:buNone/>
            </a:pPr>
            <a:r>
              <a:rPr lang="en-US" sz="1400" b="1" dirty="0">
                <a:solidFill>
                  <a:srgbClr val="820AD1"/>
                </a:solidFill>
                <a:latin typeface="Arial" pitchFamily="34" charset="0"/>
                <a:ea typeface="Arial" pitchFamily="34" charset="-122"/>
                <a:cs typeface="Arial" pitchFamily="34" charset="-120"/>
              </a:rPr>
              <a:t>Show the estimate — and the path</a:t>
            </a:r>
            <a:endParaRPr lang="en-US" sz="1400" dirty="0"/>
          </a:p>
        </p:txBody>
      </p:sp>
      <p:sp>
        <p:nvSpPr>
          <p:cNvPr id="16" name="Text 14"/>
          <p:cNvSpPr txBox="1"/>
          <p:nvPr/>
        </p:nvSpPr>
        <p:spPr>
          <a:xfrm>
            <a:off x="8330184" y="3273552"/>
            <a:ext cx="3063240" cy="713232"/>
          </a:xfrm>
          <a:prstGeom prst="rect">
            <a:avLst/>
          </a:prstGeom>
          <a:noFill/>
          <a:ln/>
        </p:spPr>
        <p:txBody>
          <a:bodyPr wrap="square" lIns="0" tIns="0" rIns="0" bIns="0" rtlCol="0" anchor="ctr"/>
          <a:lstStyle/>
          <a:p>
            <a:pPr indent="0" marL="0">
              <a:lnSpc>
                <a:spcPts val="1600"/>
              </a:lnSpc>
              <a:buNone/>
            </a:pPr>
            <a:r>
              <a:rPr lang="en-US" sz="1150" dirty="0">
                <a:solidFill>
                  <a:srgbClr val="2F2740"/>
                </a:solidFill>
                <a:latin typeface="Calibri" pitchFamily="34" charset="0"/>
                <a:ea typeface="Calibri" pitchFamily="34" charset="-122"/>
                <a:cs typeface="Calibri" pitchFamily="34" charset="-120"/>
              </a:rPr>
              <a:t>Score the customer as if they had repaid on time, then show the limit that unlocks — a commitment, not a score.</a:t>
            </a:r>
            <a:endParaRPr lang="en-US" sz="1150" dirty="0"/>
          </a:p>
        </p:txBody>
      </p:sp>
      <p:sp>
        <p:nvSpPr>
          <p:cNvPr id="17" name="Text 15"/>
          <p:cNvSpPr txBox="1"/>
          <p:nvPr/>
        </p:nvSpPr>
        <p:spPr>
          <a:xfrm>
            <a:off x="8330184" y="4023360"/>
            <a:ext cx="3063240" cy="219456"/>
          </a:xfrm>
          <a:prstGeom prst="rect">
            <a:avLst/>
          </a:prstGeom>
          <a:noFill/>
          <a:ln/>
        </p:spPr>
        <p:txBody>
          <a:bodyPr wrap="square" lIns="0" tIns="0" rIns="0" bIns="0" rtlCol="0" anchor="ctr"/>
          <a:lstStyle/>
          <a:p>
            <a:pPr indent="0" marL="0">
              <a:buNone/>
            </a:pPr>
            <a:r>
              <a:rPr lang="en-US" sz="950" b="1" spc="90" kern="0" dirty="0">
                <a:solidFill>
                  <a:srgbClr val="820AD1"/>
                </a:solidFill>
                <a:latin typeface="Arial" pitchFamily="34" charset="0"/>
                <a:ea typeface="Arial" pitchFamily="34" charset="-122"/>
                <a:cs typeface="Arial" pitchFamily="34" charset="-120"/>
              </a:rPr>
              <a:t>TESTED IN MÉXICO, THIS SEGMENT</a:t>
            </a:r>
            <a:endParaRPr lang="en-US" sz="950" dirty="0"/>
          </a:p>
        </p:txBody>
      </p:sp>
      <p:sp>
        <p:nvSpPr>
          <p:cNvPr id="18" name="Text 16"/>
          <p:cNvSpPr txBox="1"/>
          <p:nvPr/>
        </p:nvSpPr>
        <p:spPr>
          <a:xfrm>
            <a:off x="8330184" y="4242816"/>
            <a:ext cx="3063240" cy="310896"/>
          </a:xfrm>
          <a:prstGeom prst="rect">
            <a:avLst/>
          </a:prstGeom>
          <a:noFill/>
          <a:ln/>
        </p:spPr>
        <p:txBody>
          <a:bodyPr wrap="square" lIns="0" tIns="0" rIns="0" bIns="0" rtlCol="0" anchor="ctr"/>
          <a:lstStyle/>
          <a:p>
            <a:pPr indent="0" marL="0">
              <a:buNone/>
            </a:pPr>
            <a:r>
              <a:rPr lang="en-US" sz="1700" b="1" dirty="0">
                <a:solidFill>
                  <a:srgbClr val="820AD1"/>
                </a:solidFill>
                <a:latin typeface="Arial" pitchFamily="34" charset="0"/>
                <a:ea typeface="Arial" pitchFamily="34" charset="-122"/>
                <a:cs typeface="Arial" pitchFamily="34" charset="-120"/>
              </a:rPr>
              <a:t>−1.43%</a:t>
            </a:r>
            <a:endParaRPr lang="en-US" sz="1700" dirty="0"/>
          </a:p>
        </p:txBody>
      </p:sp>
      <p:sp>
        <p:nvSpPr>
          <p:cNvPr id="19" name="Text 17"/>
          <p:cNvSpPr txBox="1"/>
          <p:nvPr/>
        </p:nvSpPr>
        <p:spPr>
          <a:xfrm>
            <a:off x="8330184" y="4572000"/>
            <a:ext cx="3063240" cy="502920"/>
          </a:xfrm>
          <a:prstGeom prst="rect">
            <a:avLst/>
          </a:prstGeom>
          <a:noFill/>
          <a:ln/>
        </p:spPr>
        <p:txBody>
          <a:bodyPr wrap="square" lIns="0" tIns="0" rIns="0" bIns="0" rtlCol="0" anchor="ctr"/>
          <a:lstStyle/>
          <a:p>
            <a:pPr indent="0" marL="0">
              <a:lnSpc>
                <a:spcPts val="1350"/>
              </a:lnSpc>
              <a:buNone/>
            </a:pPr>
            <a:r>
              <a:rPr lang="en-US" sz="1050" dirty="0">
                <a:solidFill>
                  <a:srgbClr val="2F2740"/>
                </a:solidFill>
                <a:latin typeface="Calibri" pitchFamily="34" charset="0"/>
                <a:ea typeface="Calibri" pitchFamily="34" charset="-122"/>
                <a:cs typeface="Calibri" pitchFamily="34" charset="-120"/>
              </a:rPr>
              <a:t>default rate, ITT, at 10 days pre-due. 95% CI −2.00 to −0.90. No significant move at 3 days.</a:t>
            </a:r>
            <a:endParaRPr lang="en-US" sz="1050" dirty="0"/>
          </a:p>
        </p:txBody>
      </p:sp>
      <p:sp>
        <p:nvSpPr>
          <p:cNvPr id="20" name="Text 18"/>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Conditional on receiving the offer, 3 days performed the same as 10 (−2.31% vs −2.25%). Ten days won the diluted read because more customers received an offer at all — 56% of loans against 38%.</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9102A"/>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B65CE8"/>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B65CE8"/>
                </a:solidFill>
                <a:latin typeface="Arial" pitchFamily="34" charset="0"/>
                <a:ea typeface="Arial" pitchFamily="34" charset="-122"/>
                <a:cs typeface="Arial" pitchFamily="34" charset="-120"/>
              </a:rPr>
              <a:t>2.3  RESPONSIBLE AI AND PERSONALISATION</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FFFFFF"/>
                </a:solidFill>
                <a:latin typeface="Arial" pitchFamily="34" charset="0"/>
                <a:ea typeface="Arial" pitchFamily="34" charset="-122"/>
                <a:cs typeface="Arial" pitchFamily="34" charset="-120"/>
              </a:rPr>
              <a:t>One rule, then the guardrails</a:t>
            </a:r>
            <a:endParaRPr lang="en-US" sz="3100" dirty="0"/>
          </a:p>
        </p:txBody>
      </p:sp>
      <p:sp>
        <p:nvSpPr>
          <p:cNvPr id="5" name="Text 3"/>
          <p:cNvSpPr txBox="1"/>
          <p:nvPr/>
        </p:nvSpPr>
        <p:spPr>
          <a:xfrm>
            <a:off x="566928" y="1847088"/>
            <a:ext cx="11064240" cy="1097280"/>
          </a:xfrm>
          <a:prstGeom prst="rect">
            <a:avLst/>
          </a:prstGeom>
          <a:noFill/>
          <a:ln/>
        </p:spPr>
        <p:txBody>
          <a:bodyPr wrap="square" lIns="0" tIns="0" rIns="0" bIns="0" rtlCol="0" anchor="ctr"/>
          <a:lstStyle/>
          <a:p>
            <a:pPr indent="0" marL="0">
              <a:lnSpc>
                <a:spcPts val="3800"/>
              </a:lnSpc>
              <a:buNone/>
            </a:pPr>
            <a:r>
              <a:rPr lang="en-US" sz="3000" b="1" dirty="0">
                <a:solidFill>
                  <a:srgbClr val="FFFFFF"/>
                </a:solidFill>
                <a:latin typeface="Arial" pitchFamily="34" charset="0"/>
                <a:ea typeface="Arial" pitchFamily="34" charset="-122"/>
                <a:cs typeface="Arial" pitchFamily="34" charset="-120"/>
              </a:rPr>
              <a:t>Personalisation may only move a price in the customer’s favour.</a:t>
            </a:r>
            <a:endParaRPr lang="en-US" sz="3000" dirty="0"/>
          </a:p>
        </p:txBody>
      </p:sp>
      <p:sp>
        <p:nvSpPr>
          <p:cNvPr id="6" name="Text 4"/>
          <p:cNvSpPr txBox="1"/>
          <p:nvPr/>
        </p:nvSpPr>
        <p:spPr>
          <a:xfrm>
            <a:off x="566928" y="2962656"/>
            <a:ext cx="10881360" cy="457200"/>
          </a:xfrm>
          <a:prstGeom prst="rect">
            <a:avLst/>
          </a:prstGeom>
          <a:noFill/>
          <a:ln/>
        </p:spPr>
        <p:txBody>
          <a:bodyPr wrap="square" lIns="0" tIns="0" rIns="0" bIns="0" rtlCol="0" anchor="ctr"/>
          <a:lstStyle/>
          <a:p>
            <a:pPr indent="0" marL="0">
              <a:lnSpc>
                <a:spcPts val="2000"/>
              </a:lnSpc>
              <a:buNone/>
            </a:pPr>
            <a:r>
              <a:rPr lang="en-US" sz="1500" dirty="0">
                <a:solidFill>
                  <a:srgbClr val="B65CE8"/>
                </a:solidFill>
                <a:latin typeface="Calibri" pitchFamily="34" charset="0"/>
                <a:ea typeface="Calibri" pitchFamily="34" charset="-122"/>
                <a:cs typeface="Calibri" pitchFamily="34" charset="-120"/>
              </a:rPr>
              <a:t>AI decides eligibility, limits, timing and experience. It never decides that this customer will tolerate a worse price.</a:t>
            </a:r>
            <a:endParaRPr lang="en-US" sz="1500" dirty="0"/>
          </a:p>
        </p:txBody>
      </p:sp>
      <p:sp>
        <p:nvSpPr>
          <p:cNvPr id="7" name="Text 5"/>
          <p:cNvSpPr txBox="1"/>
          <p:nvPr/>
        </p:nvSpPr>
        <p:spPr>
          <a:xfrm>
            <a:off x="566928" y="3456432"/>
            <a:ext cx="5943600" cy="1737360"/>
          </a:xfrm>
          <a:prstGeom prst="rect">
            <a:avLst/>
          </a:prstGeom>
          <a:noFill/>
          <a:ln/>
        </p:spPr>
        <p:txBody>
          <a:bodyPr wrap="square" lIns="0" tIns="0" rIns="0" bIns="0" rtlCol="0" anchor="ctr"/>
          <a:lstStyle/>
          <a:p>
            <a:pPr indent="0" marL="0">
              <a:lnSpc>
                <a:spcPts val="1900"/>
              </a:lnSpc>
              <a:buNone/>
            </a:pPr>
            <a:r>
              <a:rPr lang="en-US" sz="1300" dirty="0">
                <a:solidFill>
                  <a:srgbClr val="C4B8D8"/>
                </a:solidFill>
                <a:latin typeface="Calibri" pitchFamily="34" charset="0"/>
                <a:ea typeface="Calibri" pitchFamily="34" charset="-122"/>
                <a:cs typeface="Calibri" pitchFamily="34" charset="-120"/>
              </a:rPr>
              <a:t>The risk in mass-market pricing AI is not a biased model. It is a model working exactly as designed: price elasticity correlates with financial desperation, so a model optimising for willingness-to-pay charges the most to those least able to bear it. That is not a bug you catch in monitoring — it is the objective function. So constrain the objective rather than audit the outcome.</a:t>
            </a:r>
            <a:endParaRPr lang="en-US" sz="1300" dirty="0"/>
          </a:p>
        </p:txBody>
      </p:sp>
      <p:sp>
        <p:nvSpPr>
          <p:cNvPr id="8" name="Shape 6"/>
          <p:cNvSpPr/>
          <p:nvPr/>
        </p:nvSpPr>
        <p:spPr>
          <a:xfrm>
            <a:off x="6766560" y="3401568"/>
            <a:ext cx="4873752" cy="2286000"/>
          </a:xfrm>
          <a:prstGeom prst="roundRect">
            <a:avLst>
              <a:gd name="adj" fmla="val 2400"/>
            </a:avLst>
          </a:prstGeom>
          <a:solidFill>
            <a:srgbClr val="2A1D3D"/>
          </a:solidFill>
          <a:ln w="12700">
            <a:solidFill>
              <a:srgbClr val="E2DCEC"/>
            </a:solidFill>
            <a:prstDash val="solid"/>
          </a:ln>
        </p:spPr>
      </p:sp>
      <p:sp>
        <p:nvSpPr>
          <p:cNvPr id="9" name="Shape 7"/>
          <p:cNvSpPr/>
          <p:nvPr/>
        </p:nvSpPr>
        <p:spPr>
          <a:xfrm>
            <a:off x="6766560" y="3401568"/>
            <a:ext cx="4873752" cy="2286000"/>
          </a:xfrm>
          <a:prstGeom prst="roundRect">
            <a:avLst>
              <a:gd name="adj" fmla="val 2400"/>
            </a:avLst>
          </a:prstGeom>
          <a:solidFill>
            <a:srgbClr val="2A1D3D"/>
          </a:solidFill>
          <a:ln w="12700">
            <a:solidFill>
              <a:srgbClr val="473259"/>
            </a:solidFill>
            <a:prstDash val="solid"/>
          </a:ln>
        </p:spPr>
      </p:sp>
      <p:sp>
        <p:nvSpPr>
          <p:cNvPr id="10" name="Text 8"/>
          <p:cNvSpPr txBox="1"/>
          <p:nvPr/>
        </p:nvSpPr>
        <p:spPr>
          <a:xfrm>
            <a:off x="7022592" y="3566160"/>
            <a:ext cx="4389120" cy="274320"/>
          </a:xfrm>
          <a:prstGeom prst="rect">
            <a:avLst/>
          </a:prstGeom>
          <a:noFill/>
          <a:ln/>
        </p:spPr>
        <p:txBody>
          <a:bodyPr wrap="square" lIns="0" tIns="0" rIns="0" bIns="0" rtlCol="0" anchor="ctr"/>
          <a:lstStyle/>
          <a:p>
            <a:pPr indent="0" marL="0">
              <a:buNone/>
            </a:pPr>
            <a:r>
              <a:rPr lang="en-US" sz="1300" b="1" dirty="0">
                <a:solidFill>
                  <a:srgbClr val="B65CE8"/>
                </a:solidFill>
                <a:latin typeface="Arial" pitchFamily="34" charset="0"/>
                <a:ea typeface="Arial" pitchFamily="34" charset="-122"/>
                <a:cs typeface="Arial" pitchFamily="34" charset="-120"/>
              </a:rPr>
              <a:t>Guardrails</a:t>
            </a:r>
            <a:endParaRPr lang="en-US" sz="1300" dirty="0"/>
          </a:p>
        </p:txBody>
      </p:sp>
      <p:sp>
        <p:nvSpPr>
          <p:cNvPr id="11" name="Text 9"/>
          <p:cNvSpPr txBox="1"/>
          <p:nvPr/>
        </p:nvSpPr>
        <p:spPr>
          <a:xfrm>
            <a:off x="7022592" y="3895344"/>
            <a:ext cx="4389120" cy="1691640"/>
          </a:xfrm>
          <a:prstGeom prst="rect">
            <a:avLst/>
          </a:prstGeom>
          <a:noFill/>
          <a:ln/>
        </p:spPr>
        <p:txBody>
          <a:bodyPr wrap="square" lIns="0" tIns="0" rIns="0" bIns="0" rtlCol="0" anchor="ctr"/>
          <a:lstStyle/>
          <a:p>
            <a:pPr marL="342900" indent="-342900">
              <a:lnSpc>
                <a:spcPts val="1800"/>
              </a:lnSpc>
              <a:spcAft>
                <a:spcPts val="700"/>
              </a:spcAft>
              <a:buSzPct val="100000"/>
              <a:buChar char="•"/>
            </a:pPr>
            <a:r>
              <a:rPr lang="en-US" sz="1100" dirty="0">
                <a:solidFill>
                  <a:srgbClr val="D6CCE6"/>
                </a:solidFill>
                <a:latin typeface="Calibri" pitchFamily="34" charset="0"/>
                <a:ea typeface="Calibri" pitchFamily="34" charset="-122"/>
                <a:cs typeface="Calibri" pitchFamily="34" charset="-120"/>
              </a:rPr>
              <a:t>Excluded features by policy, not by review</a:t>
            </a:r>
            <a:endParaRPr lang="en-US" sz="1100" dirty="0"/>
          </a:p>
          <a:p>
            <a:pPr marL="342900" indent="-342900">
              <a:lnSpc>
                <a:spcPts val="1800"/>
              </a:lnSpc>
              <a:spcAft>
                <a:spcPts val="700"/>
              </a:spcAft>
              <a:buSzPct val="100000"/>
              <a:buChar char="•"/>
            </a:pPr>
            <a:r>
              <a:rPr lang="en-US" sz="1100" dirty="0">
                <a:solidFill>
                  <a:srgbClr val="D6CCE6"/>
                </a:solidFill>
                <a:latin typeface="Calibri" pitchFamily="34" charset="0"/>
                <a:ea typeface="Calibri" pitchFamily="34" charset="-122"/>
                <a:cs typeface="Calibri" pitchFamily="34" charset="-120"/>
              </a:rPr>
              <a:t>Fairness tested on outcomes — approval, limit and price parity by gender and state</a:t>
            </a:r>
            <a:endParaRPr lang="en-US" sz="1100" dirty="0"/>
          </a:p>
          <a:p>
            <a:pPr marL="342900" indent="-342900">
              <a:lnSpc>
                <a:spcPts val="1800"/>
              </a:lnSpc>
              <a:spcAft>
                <a:spcPts val="700"/>
              </a:spcAft>
              <a:buSzPct val="100000"/>
              <a:buChar char="•"/>
            </a:pPr>
            <a:r>
              <a:rPr lang="en-US" sz="1100" dirty="0">
                <a:solidFill>
                  <a:srgbClr val="D6CCE6"/>
                </a:solidFill>
                <a:latin typeface="Calibri" pitchFamily="34" charset="0"/>
                <a:ea typeface="Calibri" pitchFamily="34" charset="-122"/>
                <a:cs typeface="Calibri" pitchFamily="34" charset="-120"/>
              </a:rPr>
              <a:t>Consent that costs nothing to decline. If declining raises your price, it is not consent</a:t>
            </a:r>
            <a:endParaRPr lang="en-US" sz="1100" dirty="0"/>
          </a:p>
          <a:p>
            <a:pPr marL="342900" indent="-342900">
              <a:lnSpc>
                <a:spcPts val="1800"/>
              </a:lnSpc>
              <a:spcAft>
                <a:spcPts val="700"/>
              </a:spcAft>
              <a:buSzPct val="100000"/>
              <a:buChar char="•"/>
            </a:pPr>
            <a:r>
              <a:rPr lang="en-US" sz="1100" dirty="0">
                <a:solidFill>
                  <a:srgbClr val="D6CCE6"/>
                </a:solidFill>
                <a:latin typeface="Calibri" pitchFamily="34" charset="0"/>
                <a:ea typeface="Calibri" pitchFamily="34" charset="-122"/>
                <a:cs typeface="Calibri" pitchFamily="34" charset="-120"/>
              </a:rPr>
              <a:t>Counterfactual recourse — every capped or declined customer sees what would have to be different, not a reason code</a:t>
            </a:r>
            <a:endParaRPr lang="en-US" sz="1100" dirty="0"/>
          </a:p>
          <a:p>
            <a:pPr marL="342900" indent="-342900">
              <a:lnSpc>
                <a:spcPts val="1800"/>
              </a:lnSpc>
              <a:spcAft>
                <a:spcPts val="700"/>
              </a:spcAft>
              <a:buSzPct val="100000"/>
              <a:buChar char="•"/>
            </a:pPr>
            <a:r>
              <a:rPr lang="en-US" sz="1100" dirty="0">
                <a:solidFill>
                  <a:srgbClr val="D6CCE6"/>
                </a:solidFill>
                <a:latin typeface="Calibri" pitchFamily="34" charset="0"/>
                <a:ea typeface="Calibri" pitchFamily="34" charset="-122"/>
                <a:cs typeface="Calibri" pitchFamily="34" charset="-120"/>
              </a:rPr>
              <a:t>Model risk governance under CNBV; reasons explainable to CONDUSEF</a:t>
            </a:r>
            <a:endParaRPr lang="en-US" sz="1100" dirty="0"/>
          </a:p>
        </p:txBody>
      </p:sp>
      <p:sp>
        <p:nvSpPr>
          <p:cNvPr id="12" name="Text 10"/>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ENIF 2024 shows a 10 percentage-point gender gap in formal credit access — 28.2% of men against 18.3% of women. We should be closing that, not encoding it.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2.1.5  TEAM AND ORG DESIGN</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Designing the pod, not just staffing it</a:t>
            </a:r>
            <a:endParaRPr lang="en-US" sz="3100" dirty="0"/>
          </a:p>
        </p:txBody>
      </p:sp>
      <p:sp>
        <p:nvSpPr>
          <p:cNvPr id="5" name="Shape 3"/>
          <p:cNvSpPr/>
          <p:nvPr/>
        </p:nvSpPr>
        <p:spPr>
          <a:xfrm>
            <a:off x="566928" y="1783080"/>
            <a:ext cx="5669280" cy="3566160"/>
          </a:xfrm>
          <a:prstGeom prst="roundRect">
            <a:avLst>
              <a:gd name="adj" fmla="val 1538"/>
            </a:avLst>
          </a:prstGeom>
          <a:solidFill>
            <a:srgbClr val="FAF8FD"/>
          </a:solidFill>
          <a:ln w="12700">
            <a:solidFill>
              <a:srgbClr val="E2DCEC"/>
            </a:solidFill>
            <a:prstDash val="solid"/>
          </a:ln>
        </p:spPr>
      </p:sp>
      <p:sp>
        <p:nvSpPr>
          <p:cNvPr id="6" name="Text 4"/>
          <p:cNvSpPr txBox="1"/>
          <p:nvPr/>
        </p:nvSpPr>
        <p:spPr>
          <a:xfrm>
            <a:off x="841248" y="1965960"/>
            <a:ext cx="5029200" cy="274320"/>
          </a:xfrm>
          <a:prstGeom prst="rect">
            <a:avLst/>
          </a:prstGeom>
          <a:noFill/>
          <a:ln/>
        </p:spPr>
        <p:txBody>
          <a:bodyPr wrap="square" lIns="0" tIns="0" rIns="0" bIns="0" rtlCol="0" anchor="ctr"/>
          <a:lstStyle/>
          <a:p>
            <a:pPr indent="0" marL="0">
              <a:buNone/>
            </a:pPr>
            <a:r>
              <a:rPr lang="en-US" sz="1500" b="1" dirty="0">
                <a:solidFill>
                  <a:srgbClr val="19102A"/>
                </a:solidFill>
                <a:latin typeface="Arial" pitchFamily="34" charset="0"/>
                <a:ea typeface="Arial" pitchFamily="34" charset="-122"/>
                <a:cs typeface="Arial" pitchFamily="34" charset="-120"/>
              </a:rPr>
              <a:t>The pod I would build</a:t>
            </a:r>
            <a:endParaRPr lang="en-US" sz="1500" dirty="0"/>
          </a:p>
        </p:txBody>
      </p:sp>
      <p:sp>
        <p:nvSpPr>
          <p:cNvPr id="7" name="Text 5"/>
          <p:cNvSpPr txBox="1"/>
          <p:nvPr/>
        </p:nvSpPr>
        <p:spPr>
          <a:xfrm>
            <a:off x="841248" y="2359152"/>
            <a:ext cx="2286000" cy="256032"/>
          </a:xfrm>
          <a:prstGeom prst="rect">
            <a:avLst/>
          </a:prstGeom>
          <a:noFill/>
          <a:ln/>
        </p:spPr>
        <p:txBody>
          <a:bodyPr wrap="square" lIns="0" tIns="0" rIns="0" bIns="0" rtlCol="0" anchor="ctr"/>
          <a:lstStyle/>
          <a:p>
            <a:pPr indent="0" marL="0">
              <a:buNone/>
            </a:pPr>
            <a:r>
              <a:rPr lang="en-US" sz="1200" b="1" dirty="0">
                <a:solidFill>
                  <a:srgbClr val="820AD1"/>
                </a:solidFill>
                <a:latin typeface="Arial" pitchFamily="34" charset="0"/>
                <a:ea typeface="Arial" pitchFamily="34" charset="-122"/>
                <a:cs typeface="Arial" pitchFamily="34" charset="-120"/>
              </a:rPr>
              <a:t>Me</a:t>
            </a:r>
            <a:endParaRPr lang="en-US" sz="1200" dirty="0"/>
          </a:p>
        </p:txBody>
      </p:sp>
      <p:sp>
        <p:nvSpPr>
          <p:cNvPr id="8" name="Text 6"/>
          <p:cNvSpPr txBox="1"/>
          <p:nvPr/>
        </p:nvSpPr>
        <p:spPr>
          <a:xfrm>
            <a:off x="3218688" y="2359152"/>
            <a:ext cx="3017520" cy="384048"/>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Value proposition, bundles, pricing</a:t>
            </a:r>
            <a:endParaRPr lang="en-US" sz="1150" dirty="0"/>
          </a:p>
        </p:txBody>
      </p:sp>
      <p:sp>
        <p:nvSpPr>
          <p:cNvPr id="9" name="Text 7"/>
          <p:cNvSpPr txBox="1"/>
          <p:nvPr/>
        </p:nvSpPr>
        <p:spPr>
          <a:xfrm>
            <a:off x="841248" y="2843784"/>
            <a:ext cx="2286000" cy="256032"/>
          </a:xfrm>
          <a:prstGeom prst="rect">
            <a:avLst/>
          </a:prstGeom>
          <a:noFill/>
          <a:ln/>
        </p:spPr>
        <p:txBody>
          <a:bodyPr wrap="square" lIns="0" tIns="0" rIns="0" bIns="0" rtlCol="0" anchor="ctr"/>
          <a:lstStyle/>
          <a:p>
            <a:pPr indent="0" marL="0">
              <a:buNone/>
            </a:pPr>
            <a:r>
              <a:rPr lang="en-US" sz="1200" b="1" dirty="0">
                <a:solidFill>
                  <a:srgbClr val="19102A"/>
                </a:solidFill>
                <a:latin typeface="Arial" pitchFamily="34" charset="0"/>
                <a:ea typeface="Arial" pitchFamily="34" charset="-122"/>
                <a:cs typeface="Arial" pitchFamily="34" charset="-120"/>
              </a:rPr>
              <a:t>PM · Income &amp; Onboarding</a:t>
            </a:r>
            <a:endParaRPr lang="en-US" sz="1200" dirty="0"/>
          </a:p>
        </p:txBody>
      </p:sp>
      <p:sp>
        <p:nvSpPr>
          <p:cNvPr id="10" name="Text 8"/>
          <p:cNvSpPr txBox="1"/>
          <p:nvPr/>
        </p:nvSpPr>
        <p:spPr>
          <a:xfrm>
            <a:off x="3218688" y="2843784"/>
            <a:ext cx="3017520" cy="384048"/>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Tracks A and B acquisition</a:t>
            </a:r>
            <a:endParaRPr lang="en-US" sz="1150" dirty="0"/>
          </a:p>
        </p:txBody>
      </p:sp>
      <p:sp>
        <p:nvSpPr>
          <p:cNvPr id="11" name="Text 9"/>
          <p:cNvSpPr txBox="1"/>
          <p:nvPr/>
        </p:nvSpPr>
        <p:spPr>
          <a:xfrm>
            <a:off x="841248" y="3328416"/>
            <a:ext cx="2286000" cy="256032"/>
          </a:xfrm>
          <a:prstGeom prst="rect">
            <a:avLst/>
          </a:prstGeom>
          <a:noFill/>
          <a:ln/>
        </p:spPr>
        <p:txBody>
          <a:bodyPr wrap="square" lIns="0" tIns="0" rIns="0" bIns="0" rtlCol="0" anchor="ctr"/>
          <a:lstStyle/>
          <a:p>
            <a:pPr indent="0" marL="0">
              <a:buNone/>
            </a:pPr>
            <a:r>
              <a:rPr lang="en-US" sz="1200" b="1" dirty="0">
                <a:solidFill>
                  <a:srgbClr val="19102A"/>
                </a:solidFill>
                <a:latin typeface="Arial" pitchFamily="34" charset="0"/>
                <a:ea typeface="Arial" pitchFamily="34" charset="-122"/>
                <a:cs typeface="Arial" pitchFamily="34" charset="-120"/>
              </a:rPr>
              <a:t>PM/APM · Pricing &amp; Yield</a:t>
            </a:r>
            <a:endParaRPr lang="en-US" sz="1200" dirty="0"/>
          </a:p>
        </p:txBody>
      </p:sp>
      <p:sp>
        <p:nvSpPr>
          <p:cNvPr id="12" name="Text 10"/>
          <p:cNvSpPr txBox="1"/>
          <p:nvPr/>
        </p:nvSpPr>
        <p:spPr>
          <a:xfrm>
            <a:off x="3218688" y="3328416"/>
            <a:ext cx="3017520" cy="384048"/>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The model, the holdouts, the rate-committee interface</a:t>
            </a:r>
            <a:endParaRPr lang="en-US" sz="1150" dirty="0"/>
          </a:p>
        </p:txBody>
      </p:sp>
      <p:sp>
        <p:nvSpPr>
          <p:cNvPr id="13" name="Text 11"/>
          <p:cNvSpPr txBox="1"/>
          <p:nvPr/>
        </p:nvSpPr>
        <p:spPr>
          <a:xfrm>
            <a:off x="841248" y="3813048"/>
            <a:ext cx="2286000" cy="256032"/>
          </a:xfrm>
          <a:prstGeom prst="rect">
            <a:avLst/>
          </a:prstGeom>
          <a:noFill/>
          <a:ln/>
        </p:spPr>
        <p:txBody>
          <a:bodyPr wrap="square" lIns="0" tIns="0" rIns="0" bIns="0" rtlCol="0" anchor="ctr"/>
          <a:lstStyle/>
          <a:p>
            <a:pPr indent="0" marL="0">
              <a:buNone/>
            </a:pPr>
            <a:r>
              <a:rPr lang="en-US" sz="1200" b="1" dirty="0">
                <a:solidFill>
                  <a:srgbClr val="19102A"/>
                </a:solidFill>
                <a:latin typeface="Arial" pitchFamily="34" charset="0"/>
                <a:ea typeface="Arial" pitchFamily="34" charset="-122"/>
                <a:cs typeface="Arial" pitchFamily="34" charset="-120"/>
              </a:rPr>
              <a:t>Design lead</a:t>
            </a:r>
            <a:endParaRPr lang="en-US" sz="1200" dirty="0"/>
          </a:p>
        </p:txBody>
      </p:sp>
      <p:sp>
        <p:nvSpPr>
          <p:cNvPr id="14" name="Text 12"/>
          <p:cNvSpPr txBox="1"/>
          <p:nvPr/>
        </p:nvSpPr>
        <p:spPr>
          <a:xfrm>
            <a:off x="3218688" y="3813048"/>
            <a:ext cx="3017520" cy="384048"/>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The other open role — placed on Track B</a:t>
            </a:r>
            <a:endParaRPr lang="en-US" sz="1150" dirty="0"/>
          </a:p>
        </p:txBody>
      </p:sp>
      <p:sp>
        <p:nvSpPr>
          <p:cNvPr id="15" name="Text 13"/>
          <p:cNvSpPr txBox="1"/>
          <p:nvPr/>
        </p:nvSpPr>
        <p:spPr>
          <a:xfrm>
            <a:off x="841248" y="4297680"/>
            <a:ext cx="2286000" cy="256032"/>
          </a:xfrm>
          <a:prstGeom prst="rect">
            <a:avLst/>
          </a:prstGeom>
          <a:noFill/>
          <a:ln/>
        </p:spPr>
        <p:txBody>
          <a:bodyPr wrap="square" lIns="0" tIns="0" rIns="0" bIns="0" rtlCol="0" anchor="ctr"/>
          <a:lstStyle/>
          <a:p>
            <a:pPr indent="0" marL="0">
              <a:buNone/>
            </a:pPr>
            <a:r>
              <a:rPr lang="en-US" sz="1200" b="1" dirty="0">
                <a:solidFill>
                  <a:srgbClr val="19102A"/>
                </a:solidFill>
                <a:latin typeface="Arial" pitchFamily="34" charset="0"/>
                <a:ea typeface="Arial" pitchFamily="34" charset="-122"/>
                <a:cs typeface="Arial" pitchFamily="34" charset="-120"/>
              </a:rPr>
              <a:t>Embedded</a:t>
            </a:r>
            <a:endParaRPr lang="en-US" sz="1200" dirty="0"/>
          </a:p>
        </p:txBody>
      </p:sp>
      <p:sp>
        <p:nvSpPr>
          <p:cNvPr id="16" name="Text 14"/>
          <p:cNvSpPr txBox="1"/>
          <p:nvPr/>
        </p:nvSpPr>
        <p:spPr>
          <a:xfrm>
            <a:off x="3218688" y="4297680"/>
            <a:ext cx="3017520" cy="384048"/>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2 analysts (pricing, credit-adjacent) + 1 data scientist</a:t>
            </a:r>
            <a:endParaRPr lang="en-US" sz="1150" dirty="0"/>
          </a:p>
        </p:txBody>
      </p:sp>
      <p:sp>
        <p:nvSpPr>
          <p:cNvPr id="17" name="Text 15"/>
          <p:cNvSpPr txBox="1"/>
          <p:nvPr/>
        </p:nvSpPr>
        <p:spPr>
          <a:xfrm>
            <a:off x="841248" y="4782312"/>
            <a:ext cx="2286000" cy="256032"/>
          </a:xfrm>
          <a:prstGeom prst="rect">
            <a:avLst/>
          </a:prstGeom>
          <a:noFill/>
          <a:ln/>
        </p:spPr>
        <p:txBody>
          <a:bodyPr wrap="square" lIns="0" tIns="0" rIns="0" bIns="0" rtlCol="0" anchor="ctr"/>
          <a:lstStyle/>
          <a:p>
            <a:pPr indent="0" marL="0">
              <a:buNone/>
            </a:pPr>
            <a:r>
              <a:rPr lang="en-US" sz="1200" b="1" dirty="0">
                <a:solidFill>
                  <a:srgbClr val="19102A"/>
                </a:solidFill>
                <a:latin typeface="Arial" pitchFamily="34" charset="0"/>
                <a:ea typeface="Arial" pitchFamily="34" charset="-122"/>
                <a:cs typeface="Arial" pitchFamily="34" charset="-120"/>
              </a:rPr>
              <a:t>Dotted</a:t>
            </a:r>
            <a:endParaRPr lang="en-US" sz="1200" dirty="0"/>
          </a:p>
        </p:txBody>
      </p:sp>
      <p:sp>
        <p:nvSpPr>
          <p:cNvPr id="18" name="Text 16"/>
          <p:cNvSpPr txBox="1"/>
          <p:nvPr/>
        </p:nvSpPr>
        <p:spPr>
          <a:xfrm>
            <a:off x="3218688" y="4782312"/>
            <a:ext cx="3017520" cy="384048"/>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Model risk · legal and regulatory · treasury</a:t>
            </a:r>
            <a:endParaRPr lang="en-US" sz="1150" dirty="0"/>
          </a:p>
        </p:txBody>
      </p:sp>
      <p:sp>
        <p:nvSpPr>
          <p:cNvPr id="19" name="Shape 17"/>
          <p:cNvSpPr/>
          <p:nvPr/>
        </p:nvSpPr>
        <p:spPr>
          <a:xfrm>
            <a:off x="6492240" y="1783080"/>
            <a:ext cx="5148072" cy="3566160"/>
          </a:xfrm>
          <a:prstGeom prst="roundRect">
            <a:avLst>
              <a:gd name="adj" fmla="val 1538"/>
            </a:avLst>
          </a:prstGeom>
          <a:solidFill>
            <a:srgbClr val="F3E8FD"/>
          </a:solidFill>
          <a:ln w="12700">
            <a:solidFill>
              <a:srgbClr val="E2DCEC"/>
            </a:solidFill>
            <a:prstDash val="solid"/>
          </a:ln>
        </p:spPr>
      </p:sp>
      <p:sp>
        <p:nvSpPr>
          <p:cNvPr id="20" name="Text 18"/>
          <p:cNvSpPr txBox="1"/>
          <p:nvPr/>
        </p:nvSpPr>
        <p:spPr>
          <a:xfrm>
            <a:off x="6748272" y="1965960"/>
            <a:ext cx="4663440" cy="274320"/>
          </a:xfrm>
          <a:prstGeom prst="rect">
            <a:avLst/>
          </a:prstGeom>
          <a:noFill/>
          <a:ln/>
        </p:spPr>
        <p:txBody>
          <a:bodyPr wrap="square" lIns="0" tIns="0" rIns="0" bIns="0" rtlCol="0" anchor="ctr"/>
          <a:lstStyle/>
          <a:p>
            <a:pPr indent="0" marL="0">
              <a:buNone/>
            </a:pPr>
            <a:r>
              <a:rPr lang="en-US" sz="1500" b="1" dirty="0">
                <a:solidFill>
                  <a:srgbClr val="820AD1"/>
                </a:solidFill>
                <a:latin typeface="Arial" pitchFamily="34" charset="0"/>
                <a:ea typeface="Arial" pitchFamily="34" charset="-122"/>
                <a:cs typeface="Arial" pitchFamily="34" charset="-120"/>
              </a:rPr>
              <a:t>Three org calls I would defend</a:t>
            </a:r>
            <a:endParaRPr lang="en-US" sz="1500" dirty="0"/>
          </a:p>
        </p:txBody>
      </p:sp>
      <p:sp>
        <p:nvSpPr>
          <p:cNvPr id="21" name="Text 19"/>
          <p:cNvSpPr txBox="1"/>
          <p:nvPr/>
        </p:nvSpPr>
        <p:spPr>
          <a:xfrm>
            <a:off x="6748272" y="2395728"/>
            <a:ext cx="274320" cy="274320"/>
          </a:xfrm>
          <a:prstGeom prst="rect">
            <a:avLst/>
          </a:prstGeom>
          <a:noFill/>
          <a:ln/>
        </p:spPr>
        <p:txBody>
          <a:bodyPr wrap="square" lIns="0" tIns="0" rIns="0" bIns="0" rtlCol="0" anchor="ctr"/>
          <a:lstStyle/>
          <a:p>
            <a:pPr indent="0" marL="0">
              <a:buNone/>
            </a:pPr>
            <a:r>
              <a:rPr lang="en-US" sz="1300" b="1" dirty="0">
                <a:solidFill>
                  <a:srgbClr val="820AD1"/>
                </a:solidFill>
                <a:latin typeface="Arial" pitchFamily="34" charset="0"/>
                <a:ea typeface="Arial" pitchFamily="34" charset="-122"/>
                <a:cs typeface="Arial" pitchFamily="34" charset="-120"/>
              </a:rPr>
              <a:t>1</a:t>
            </a:r>
            <a:endParaRPr lang="en-US" sz="1300" dirty="0"/>
          </a:p>
        </p:txBody>
      </p:sp>
      <p:sp>
        <p:nvSpPr>
          <p:cNvPr id="22" name="Text 20"/>
          <p:cNvSpPr txBox="1"/>
          <p:nvPr/>
        </p:nvSpPr>
        <p:spPr>
          <a:xfrm>
            <a:off x="7059168" y="2377440"/>
            <a:ext cx="4389120" cy="274320"/>
          </a:xfrm>
          <a:prstGeom prst="rect">
            <a:avLst/>
          </a:prstGeom>
          <a:noFill/>
          <a:ln/>
        </p:spPr>
        <p:txBody>
          <a:bodyPr wrap="square" lIns="0" tIns="0" rIns="0" bIns="0" rtlCol="0" anchor="ctr"/>
          <a:lstStyle/>
          <a:p>
            <a:pPr indent="0" marL="0">
              <a:buNone/>
            </a:pPr>
            <a:r>
              <a:rPr lang="en-US" sz="1250" b="1" dirty="0">
                <a:solidFill>
                  <a:srgbClr val="19102A"/>
                </a:solidFill>
                <a:latin typeface="Arial" pitchFamily="34" charset="0"/>
                <a:ea typeface="Arial" pitchFamily="34" charset="-122"/>
                <a:cs typeface="Arial" pitchFamily="34" charset="-120"/>
              </a:rPr>
              <a:t>Hire the pricing analyst before the second PM.</a:t>
            </a:r>
            <a:endParaRPr lang="en-US" sz="1250" dirty="0"/>
          </a:p>
        </p:txBody>
      </p:sp>
      <p:sp>
        <p:nvSpPr>
          <p:cNvPr id="23" name="Text 21"/>
          <p:cNvSpPr txBox="1"/>
          <p:nvPr/>
        </p:nvSpPr>
        <p:spPr>
          <a:xfrm>
            <a:off x="7059168" y="2670048"/>
            <a:ext cx="4389120" cy="6400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The bottleneck here is decision quality, not shipping throughput.</a:t>
            </a:r>
            <a:endParaRPr lang="en-US" sz="1150" dirty="0"/>
          </a:p>
        </p:txBody>
      </p:sp>
      <p:sp>
        <p:nvSpPr>
          <p:cNvPr id="24" name="Text 22"/>
          <p:cNvSpPr txBox="1"/>
          <p:nvPr/>
        </p:nvSpPr>
        <p:spPr>
          <a:xfrm>
            <a:off x="6748272" y="3383280"/>
            <a:ext cx="274320" cy="274320"/>
          </a:xfrm>
          <a:prstGeom prst="rect">
            <a:avLst/>
          </a:prstGeom>
          <a:noFill/>
          <a:ln/>
        </p:spPr>
        <p:txBody>
          <a:bodyPr wrap="square" lIns="0" tIns="0" rIns="0" bIns="0" rtlCol="0" anchor="ctr"/>
          <a:lstStyle/>
          <a:p>
            <a:pPr indent="0" marL="0">
              <a:buNone/>
            </a:pPr>
            <a:r>
              <a:rPr lang="en-US" sz="1300" b="1" dirty="0">
                <a:solidFill>
                  <a:srgbClr val="820AD1"/>
                </a:solidFill>
                <a:latin typeface="Arial" pitchFamily="34" charset="0"/>
                <a:ea typeface="Arial" pitchFamily="34" charset="-122"/>
                <a:cs typeface="Arial" pitchFamily="34" charset="-120"/>
              </a:rPr>
              <a:t>2</a:t>
            </a:r>
            <a:endParaRPr lang="en-US" sz="1300" dirty="0"/>
          </a:p>
        </p:txBody>
      </p:sp>
      <p:sp>
        <p:nvSpPr>
          <p:cNvPr id="25" name="Text 23"/>
          <p:cNvSpPr txBox="1"/>
          <p:nvPr/>
        </p:nvSpPr>
        <p:spPr>
          <a:xfrm>
            <a:off x="7059168" y="3364992"/>
            <a:ext cx="4389120" cy="274320"/>
          </a:xfrm>
          <a:prstGeom prst="rect">
            <a:avLst/>
          </a:prstGeom>
          <a:noFill/>
          <a:ln/>
        </p:spPr>
        <p:txBody>
          <a:bodyPr wrap="square" lIns="0" tIns="0" rIns="0" bIns="0" rtlCol="0" anchor="ctr"/>
          <a:lstStyle/>
          <a:p>
            <a:pPr indent="0" marL="0">
              <a:buNone/>
            </a:pPr>
            <a:r>
              <a:rPr lang="en-US" sz="1250" b="1" dirty="0">
                <a:solidFill>
                  <a:srgbClr val="19102A"/>
                </a:solidFill>
                <a:latin typeface="Arial" pitchFamily="34" charset="0"/>
                <a:ea typeface="Arial" pitchFamily="34" charset="-122"/>
                <a:cs typeface="Arial" pitchFamily="34" charset="-120"/>
              </a:rPr>
              <a:t>Do not ask to own Card or Account surfaces.</a:t>
            </a:r>
            <a:endParaRPr lang="en-US" sz="1250" dirty="0"/>
          </a:p>
        </p:txBody>
      </p:sp>
      <p:sp>
        <p:nvSpPr>
          <p:cNvPr id="26" name="Text 24"/>
          <p:cNvSpPr txBox="1"/>
          <p:nvPr/>
        </p:nvSpPr>
        <p:spPr>
          <a:xfrm>
            <a:off x="7059168" y="3657600"/>
            <a:ext cx="4389120" cy="6400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Own the spec and the customer-level P&amp;L. Asking for org control costs six months and the relationship — and you lose anyway.</a:t>
            </a:r>
            <a:endParaRPr lang="en-US" sz="1150" dirty="0"/>
          </a:p>
        </p:txBody>
      </p:sp>
      <p:sp>
        <p:nvSpPr>
          <p:cNvPr id="27" name="Text 25"/>
          <p:cNvSpPr txBox="1"/>
          <p:nvPr/>
        </p:nvSpPr>
        <p:spPr>
          <a:xfrm>
            <a:off x="6748272" y="4370832"/>
            <a:ext cx="274320" cy="274320"/>
          </a:xfrm>
          <a:prstGeom prst="rect">
            <a:avLst/>
          </a:prstGeom>
          <a:noFill/>
          <a:ln/>
        </p:spPr>
        <p:txBody>
          <a:bodyPr wrap="square" lIns="0" tIns="0" rIns="0" bIns="0" rtlCol="0" anchor="ctr"/>
          <a:lstStyle/>
          <a:p>
            <a:pPr indent="0" marL="0">
              <a:buNone/>
            </a:pPr>
            <a:r>
              <a:rPr lang="en-US" sz="1300" b="1" dirty="0">
                <a:solidFill>
                  <a:srgbClr val="820AD1"/>
                </a:solidFill>
                <a:latin typeface="Arial" pitchFamily="34" charset="0"/>
                <a:ea typeface="Arial" pitchFamily="34" charset="-122"/>
                <a:cs typeface="Arial" pitchFamily="34" charset="-120"/>
              </a:rPr>
              <a:t>3</a:t>
            </a:r>
            <a:endParaRPr lang="en-US" sz="1300" dirty="0"/>
          </a:p>
        </p:txBody>
      </p:sp>
      <p:sp>
        <p:nvSpPr>
          <p:cNvPr id="28" name="Text 26"/>
          <p:cNvSpPr txBox="1"/>
          <p:nvPr/>
        </p:nvSpPr>
        <p:spPr>
          <a:xfrm>
            <a:off x="7059168" y="4352544"/>
            <a:ext cx="4389120" cy="274320"/>
          </a:xfrm>
          <a:prstGeom prst="rect">
            <a:avLst/>
          </a:prstGeom>
          <a:noFill/>
          <a:ln/>
        </p:spPr>
        <p:txBody>
          <a:bodyPr wrap="square" lIns="0" tIns="0" rIns="0" bIns="0" rtlCol="0" anchor="ctr"/>
          <a:lstStyle/>
          <a:p>
            <a:pPr indent="0" marL="0">
              <a:buNone/>
            </a:pPr>
            <a:r>
              <a:rPr lang="en-US" sz="1250" b="1" dirty="0">
                <a:solidFill>
                  <a:srgbClr val="19102A"/>
                </a:solidFill>
                <a:latin typeface="Arial" pitchFamily="34" charset="0"/>
                <a:ea typeface="Arial" pitchFamily="34" charset="-122"/>
                <a:cs typeface="Arial" pitchFamily="34" charset="-120"/>
              </a:rPr>
              <a:t>Put the designer on Track B, not Track A.</a:t>
            </a:r>
            <a:endParaRPr lang="en-US" sz="1250" dirty="0"/>
          </a:p>
        </p:txBody>
      </p:sp>
      <p:sp>
        <p:nvSpPr>
          <p:cNvPr id="29" name="Text 27"/>
          <p:cNvSpPr txBox="1"/>
          <p:nvPr/>
        </p:nvSpPr>
        <p:spPr>
          <a:xfrm>
            <a:off x="7059168" y="4645152"/>
            <a:ext cx="4389120" cy="6400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Track A is a known pattern. Track B’s consent and explanation flows are where craft decides whether it works at all.</a:t>
            </a:r>
            <a:endParaRPr lang="en-US" sz="1150" dirty="0"/>
          </a:p>
        </p:txBody>
      </p:sp>
      <p:sp>
        <p:nvSpPr>
          <p:cNvPr id="30" name="Text 28"/>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One of two open roles on the team, and the first PM reporting into this structure — how the pod is shaped now is how it scales.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2.2  CROSS-FUNCTIONAL ALIGNMENT</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Change what we are arguing about</a:t>
            </a:r>
            <a:endParaRPr lang="en-US" sz="3100" dirty="0"/>
          </a:p>
        </p:txBody>
      </p:sp>
      <p:sp>
        <p:nvSpPr>
          <p:cNvPr id="5" name="Text 3"/>
          <p:cNvSpPr txBox="1"/>
          <p:nvPr/>
        </p:nvSpPr>
        <p:spPr>
          <a:xfrm>
            <a:off x="566928" y="1810512"/>
            <a:ext cx="10881360" cy="411480"/>
          </a:xfrm>
          <a:prstGeom prst="rect">
            <a:avLst/>
          </a:prstGeom>
          <a:noFill/>
          <a:ln/>
        </p:spPr>
        <p:txBody>
          <a:bodyPr wrap="square" lIns="0" tIns="0" rIns="0" bIns="0" rtlCol="0" anchor="ctr"/>
          <a:lstStyle/>
          <a:p>
            <a:pPr indent="0" marL="0">
              <a:lnSpc>
                <a:spcPts val="1900"/>
              </a:lnSpc>
              <a:buNone/>
            </a:pPr>
            <a:r>
              <a:rPr lang="en-US" sz="1400" i="1" dirty="0">
                <a:solidFill>
                  <a:srgbClr val="6E6484"/>
                </a:solidFill>
                <a:latin typeface="Calibri" pitchFamily="34" charset="0"/>
                <a:ea typeface="Calibri" pitchFamily="34" charset="-122"/>
                <a:cs typeface="Calibri" pitchFamily="34" charset="-120"/>
              </a:rPr>
              <a:t>Scenario: the Credit Card roadmap collides with a mass-market bundle on a regulatory clock.  </a:t>
            </a:r>
            <a:pPr indent="0" marL="0">
              <a:lnSpc>
                <a:spcPts val="1900"/>
              </a:lnSpc>
              <a:buNone/>
            </a:pPr>
            <a:r>
              <a:rPr lang="en-US" sz="1400" b="1" dirty="0">
                <a:solidFill>
                  <a:srgbClr val="19102A"/>
                </a:solidFill>
                <a:latin typeface="Calibri" pitchFamily="34" charset="0"/>
                <a:ea typeface="Calibri" pitchFamily="34" charset="-122"/>
                <a:cs typeface="Calibri" pitchFamily="34" charset="-120"/>
              </a:rPr>
              <a:t>I would not try to win that argument on its own terms.</a:t>
            </a:r>
            <a:endParaRPr lang="en-US" sz="1400" dirty="0"/>
          </a:p>
        </p:txBody>
      </p:sp>
      <p:sp>
        <p:nvSpPr>
          <p:cNvPr id="6" name="Shape 4"/>
          <p:cNvSpPr/>
          <p:nvPr/>
        </p:nvSpPr>
        <p:spPr>
          <a:xfrm>
            <a:off x="566928" y="2350008"/>
            <a:ext cx="292608" cy="292608"/>
          </a:xfrm>
          <a:prstGeom prst="ellipse">
            <a:avLst/>
          </a:prstGeom>
          <a:solidFill>
            <a:srgbClr val="F3E8FD"/>
          </a:solidFill>
          <a:ln/>
        </p:spPr>
      </p:sp>
      <p:sp>
        <p:nvSpPr>
          <p:cNvPr id="7" name="Text 5"/>
          <p:cNvSpPr txBox="1"/>
          <p:nvPr/>
        </p:nvSpPr>
        <p:spPr>
          <a:xfrm>
            <a:off x="566928" y="2377440"/>
            <a:ext cx="292608" cy="237744"/>
          </a:xfrm>
          <a:prstGeom prst="rect">
            <a:avLst/>
          </a:prstGeom>
          <a:noFill/>
          <a:ln/>
        </p:spPr>
        <p:txBody>
          <a:bodyPr wrap="square" lIns="0" tIns="0" rIns="0" bIns="0" rtlCol="0" anchor="ctr"/>
          <a:lstStyle/>
          <a:p>
            <a:pPr algn="ctr" indent="0" marL="0">
              <a:buNone/>
            </a:pPr>
            <a:r>
              <a:rPr lang="en-US" sz="1250" b="1" dirty="0">
                <a:solidFill>
                  <a:srgbClr val="820AD1"/>
                </a:solidFill>
                <a:latin typeface="Arial" pitchFamily="34" charset="0"/>
                <a:ea typeface="Arial" pitchFamily="34" charset="-122"/>
                <a:cs typeface="Arial" pitchFamily="34" charset="-120"/>
              </a:rPr>
              <a:t>1</a:t>
            </a:r>
            <a:endParaRPr lang="en-US" sz="1250" dirty="0"/>
          </a:p>
        </p:txBody>
      </p:sp>
      <p:sp>
        <p:nvSpPr>
          <p:cNvPr id="8" name="Text 6"/>
          <p:cNvSpPr txBox="1"/>
          <p:nvPr/>
        </p:nvSpPr>
        <p:spPr>
          <a:xfrm>
            <a:off x="969264" y="2331720"/>
            <a:ext cx="3108960" cy="502920"/>
          </a:xfrm>
          <a:prstGeom prst="rect">
            <a:avLst/>
          </a:prstGeom>
          <a:noFill/>
          <a:ln/>
        </p:spPr>
        <p:txBody>
          <a:bodyPr wrap="square" lIns="0" tIns="0" rIns="0" bIns="0" rtlCol="0" anchor="ctr"/>
          <a:lstStyle/>
          <a:p>
            <a:pPr indent="0" marL="0">
              <a:lnSpc>
                <a:spcPts val="1600"/>
              </a:lnSpc>
              <a:buNone/>
            </a:pPr>
            <a:r>
              <a:rPr lang="en-US" sz="1250" b="1" dirty="0">
                <a:solidFill>
                  <a:srgbClr val="19102A"/>
                </a:solidFill>
                <a:latin typeface="Arial" pitchFamily="34" charset="0"/>
                <a:ea typeface="Arial" pitchFamily="34" charset="-122"/>
                <a:cs typeface="Arial" pitchFamily="34" charset="-120"/>
              </a:rPr>
              <a:t>Make it one P&amp;L, not three roadmaps.</a:t>
            </a:r>
            <a:endParaRPr lang="en-US" sz="1250" dirty="0"/>
          </a:p>
        </p:txBody>
      </p:sp>
      <p:sp>
        <p:nvSpPr>
          <p:cNvPr id="9" name="Text 7"/>
          <p:cNvSpPr txBox="1"/>
          <p:nvPr/>
        </p:nvSpPr>
        <p:spPr>
          <a:xfrm>
            <a:off x="969264" y="2862072"/>
            <a:ext cx="3063240" cy="10972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Core owns neither Card nor GBA, so Core should own the currency. At Tala my launch criterion was neutral-or-positive monthly credit margin — not my feature’s engagement, not Credit’s default rate. One number downstream of all of us.</a:t>
            </a:r>
            <a:endParaRPr lang="en-US" sz="1150" dirty="0"/>
          </a:p>
        </p:txBody>
      </p:sp>
      <p:sp>
        <p:nvSpPr>
          <p:cNvPr id="10" name="Shape 8"/>
          <p:cNvSpPr/>
          <p:nvPr/>
        </p:nvSpPr>
        <p:spPr>
          <a:xfrm>
            <a:off x="4270248" y="2350008"/>
            <a:ext cx="292608" cy="292608"/>
          </a:xfrm>
          <a:prstGeom prst="ellipse">
            <a:avLst/>
          </a:prstGeom>
          <a:solidFill>
            <a:srgbClr val="F3E8FD"/>
          </a:solidFill>
          <a:ln/>
        </p:spPr>
      </p:sp>
      <p:sp>
        <p:nvSpPr>
          <p:cNvPr id="11" name="Text 9"/>
          <p:cNvSpPr txBox="1"/>
          <p:nvPr/>
        </p:nvSpPr>
        <p:spPr>
          <a:xfrm>
            <a:off x="4270248" y="2377440"/>
            <a:ext cx="292608" cy="237744"/>
          </a:xfrm>
          <a:prstGeom prst="rect">
            <a:avLst/>
          </a:prstGeom>
          <a:noFill/>
          <a:ln/>
        </p:spPr>
        <p:txBody>
          <a:bodyPr wrap="square" lIns="0" tIns="0" rIns="0" bIns="0" rtlCol="0" anchor="ctr"/>
          <a:lstStyle/>
          <a:p>
            <a:pPr algn="ctr" indent="0" marL="0">
              <a:buNone/>
            </a:pPr>
            <a:r>
              <a:rPr lang="en-US" sz="1250" b="1" dirty="0">
                <a:solidFill>
                  <a:srgbClr val="820AD1"/>
                </a:solidFill>
                <a:latin typeface="Arial" pitchFamily="34" charset="0"/>
                <a:ea typeface="Arial" pitchFamily="34" charset="-122"/>
                <a:cs typeface="Arial" pitchFamily="34" charset="-120"/>
              </a:rPr>
              <a:t>2</a:t>
            </a:r>
            <a:endParaRPr lang="en-US" sz="1250" dirty="0"/>
          </a:p>
        </p:txBody>
      </p:sp>
      <p:sp>
        <p:nvSpPr>
          <p:cNvPr id="12" name="Text 10"/>
          <p:cNvSpPr txBox="1"/>
          <p:nvPr/>
        </p:nvSpPr>
        <p:spPr>
          <a:xfrm>
            <a:off x="4672584" y="2331720"/>
            <a:ext cx="3108960" cy="502920"/>
          </a:xfrm>
          <a:prstGeom prst="rect">
            <a:avLst/>
          </a:prstGeom>
          <a:noFill/>
          <a:ln/>
        </p:spPr>
        <p:txBody>
          <a:bodyPr wrap="square" lIns="0" tIns="0" rIns="0" bIns="0" rtlCol="0" anchor="ctr"/>
          <a:lstStyle/>
          <a:p>
            <a:pPr indent="0" marL="0">
              <a:lnSpc>
                <a:spcPts val="1600"/>
              </a:lnSpc>
              <a:buNone/>
            </a:pPr>
            <a:r>
              <a:rPr lang="en-US" sz="1250" b="1" dirty="0">
                <a:solidFill>
                  <a:srgbClr val="19102A"/>
                </a:solidFill>
                <a:latin typeface="Arial" pitchFamily="34" charset="0"/>
                <a:ea typeface="Arial" pitchFamily="34" charset="-122"/>
                <a:cs typeface="Arial" pitchFamily="34" charset="-120"/>
              </a:rPr>
              <a:t>Trade assets, not favours.</a:t>
            </a:r>
            <a:endParaRPr lang="en-US" sz="1250" dirty="0"/>
          </a:p>
        </p:txBody>
      </p:sp>
      <p:sp>
        <p:nvSpPr>
          <p:cNvPr id="13" name="Text 11"/>
          <p:cNvSpPr txBox="1"/>
          <p:nvPr/>
        </p:nvSpPr>
        <p:spPr>
          <a:xfrm>
            <a:off x="4672584" y="2862072"/>
            <a:ext cx="3063240" cy="10972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Concretely: payday-aligned autopay. Card has autopay and a selectable due date; what it lacks is knowing when payday is. Income landing supplies it, and the delinquency gain lands on their P&amp;L. They give me placement.</a:t>
            </a:r>
            <a:endParaRPr lang="en-US" sz="1150" dirty="0"/>
          </a:p>
        </p:txBody>
      </p:sp>
      <p:sp>
        <p:nvSpPr>
          <p:cNvPr id="14" name="Shape 12"/>
          <p:cNvSpPr/>
          <p:nvPr/>
        </p:nvSpPr>
        <p:spPr>
          <a:xfrm>
            <a:off x="7973568" y="2350008"/>
            <a:ext cx="292608" cy="292608"/>
          </a:xfrm>
          <a:prstGeom prst="ellipse">
            <a:avLst/>
          </a:prstGeom>
          <a:solidFill>
            <a:srgbClr val="F3E8FD"/>
          </a:solidFill>
          <a:ln/>
        </p:spPr>
      </p:sp>
      <p:sp>
        <p:nvSpPr>
          <p:cNvPr id="15" name="Text 13"/>
          <p:cNvSpPr txBox="1"/>
          <p:nvPr/>
        </p:nvSpPr>
        <p:spPr>
          <a:xfrm>
            <a:off x="7973568" y="2377440"/>
            <a:ext cx="292608" cy="237744"/>
          </a:xfrm>
          <a:prstGeom prst="rect">
            <a:avLst/>
          </a:prstGeom>
          <a:noFill/>
          <a:ln/>
        </p:spPr>
        <p:txBody>
          <a:bodyPr wrap="square" lIns="0" tIns="0" rIns="0" bIns="0" rtlCol="0" anchor="ctr"/>
          <a:lstStyle/>
          <a:p>
            <a:pPr algn="ctr" indent="0" marL="0">
              <a:buNone/>
            </a:pPr>
            <a:r>
              <a:rPr lang="en-US" sz="1250" b="1" dirty="0">
                <a:solidFill>
                  <a:srgbClr val="820AD1"/>
                </a:solidFill>
                <a:latin typeface="Arial" pitchFamily="34" charset="0"/>
                <a:ea typeface="Arial" pitchFamily="34" charset="-122"/>
                <a:cs typeface="Arial" pitchFamily="34" charset="-120"/>
              </a:rPr>
              <a:t>3</a:t>
            </a:r>
            <a:endParaRPr lang="en-US" sz="1250" dirty="0"/>
          </a:p>
        </p:txBody>
      </p:sp>
      <p:sp>
        <p:nvSpPr>
          <p:cNvPr id="16" name="Text 14"/>
          <p:cNvSpPr txBox="1"/>
          <p:nvPr/>
        </p:nvSpPr>
        <p:spPr>
          <a:xfrm>
            <a:off x="8375904" y="2331720"/>
            <a:ext cx="3108960" cy="502920"/>
          </a:xfrm>
          <a:prstGeom prst="rect">
            <a:avLst/>
          </a:prstGeom>
          <a:noFill/>
          <a:ln/>
        </p:spPr>
        <p:txBody>
          <a:bodyPr wrap="square" lIns="0" tIns="0" rIns="0" bIns="0" rtlCol="0" anchor="ctr"/>
          <a:lstStyle/>
          <a:p>
            <a:pPr indent="0" marL="0">
              <a:lnSpc>
                <a:spcPts val="1600"/>
              </a:lnSpc>
              <a:buNone/>
            </a:pPr>
            <a:r>
              <a:rPr lang="en-US" sz="1250" b="1" dirty="0">
                <a:solidFill>
                  <a:srgbClr val="19102A"/>
                </a:solidFill>
                <a:latin typeface="Arial" pitchFamily="34" charset="0"/>
                <a:ea typeface="Arial" pitchFamily="34" charset="-122"/>
                <a:cs typeface="Arial" pitchFamily="34" charset="-120"/>
              </a:rPr>
              <a:t>Never let the regulatory date be my deadline.</a:t>
            </a:r>
            <a:endParaRPr lang="en-US" sz="1250" dirty="0"/>
          </a:p>
        </p:txBody>
      </p:sp>
      <p:sp>
        <p:nvSpPr>
          <p:cNvPr id="17" name="Text 15"/>
          <p:cNvSpPr txBox="1"/>
          <p:nvPr/>
        </p:nvSpPr>
        <p:spPr>
          <a:xfrm>
            <a:off x="8375904" y="2862072"/>
            <a:ext cx="3063240" cy="10972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The moment it is my launch date it is my problem and their favour. It is a shared compliance exposure — agreed with Legal before the conversation with Card, so it arrives as a fact.</a:t>
            </a:r>
            <a:endParaRPr lang="en-US" sz="1150" dirty="0"/>
          </a:p>
        </p:txBody>
      </p:sp>
      <p:sp>
        <p:nvSpPr>
          <p:cNvPr id="18" name="Shape 16"/>
          <p:cNvSpPr/>
          <p:nvPr/>
        </p:nvSpPr>
        <p:spPr>
          <a:xfrm>
            <a:off x="566928" y="4041648"/>
            <a:ext cx="292608" cy="292608"/>
          </a:xfrm>
          <a:prstGeom prst="ellipse">
            <a:avLst/>
          </a:prstGeom>
          <a:solidFill>
            <a:srgbClr val="F3E8FD"/>
          </a:solidFill>
          <a:ln/>
        </p:spPr>
      </p:sp>
      <p:sp>
        <p:nvSpPr>
          <p:cNvPr id="19" name="Text 17"/>
          <p:cNvSpPr txBox="1"/>
          <p:nvPr/>
        </p:nvSpPr>
        <p:spPr>
          <a:xfrm>
            <a:off x="566928" y="4069080"/>
            <a:ext cx="292608" cy="237744"/>
          </a:xfrm>
          <a:prstGeom prst="rect">
            <a:avLst/>
          </a:prstGeom>
          <a:noFill/>
          <a:ln/>
        </p:spPr>
        <p:txBody>
          <a:bodyPr wrap="square" lIns="0" tIns="0" rIns="0" bIns="0" rtlCol="0" anchor="ctr"/>
          <a:lstStyle/>
          <a:p>
            <a:pPr algn="ctr" indent="0" marL="0">
              <a:buNone/>
            </a:pPr>
            <a:r>
              <a:rPr lang="en-US" sz="1250" b="1" dirty="0">
                <a:solidFill>
                  <a:srgbClr val="820AD1"/>
                </a:solidFill>
                <a:latin typeface="Arial" pitchFamily="34" charset="0"/>
                <a:ea typeface="Arial" pitchFamily="34" charset="-122"/>
                <a:cs typeface="Arial" pitchFamily="34" charset="-120"/>
              </a:rPr>
              <a:t>4</a:t>
            </a:r>
            <a:endParaRPr lang="en-US" sz="1250" dirty="0"/>
          </a:p>
        </p:txBody>
      </p:sp>
      <p:sp>
        <p:nvSpPr>
          <p:cNvPr id="20" name="Text 18"/>
          <p:cNvSpPr txBox="1"/>
          <p:nvPr/>
        </p:nvSpPr>
        <p:spPr>
          <a:xfrm>
            <a:off x="969264" y="4023360"/>
            <a:ext cx="3108960" cy="502920"/>
          </a:xfrm>
          <a:prstGeom prst="rect">
            <a:avLst/>
          </a:prstGeom>
          <a:noFill/>
          <a:ln/>
        </p:spPr>
        <p:txBody>
          <a:bodyPr wrap="square" lIns="0" tIns="0" rIns="0" bIns="0" rtlCol="0" anchor="ctr"/>
          <a:lstStyle/>
          <a:p>
            <a:pPr indent="0" marL="0">
              <a:lnSpc>
                <a:spcPts val="1600"/>
              </a:lnSpc>
              <a:buNone/>
            </a:pPr>
            <a:r>
              <a:rPr lang="en-US" sz="1250" b="1" dirty="0">
                <a:solidFill>
                  <a:srgbClr val="19102A"/>
                </a:solidFill>
                <a:latin typeface="Arial" pitchFamily="34" charset="0"/>
                <a:ea typeface="Arial" pitchFamily="34" charset="-122"/>
                <a:cs typeface="Arial" pitchFamily="34" charset="-120"/>
              </a:rPr>
              <a:t>Pre-agree the escalation path before you need it.</a:t>
            </a:r>
            <a:endParaRPr lang="en-US" sz="1250" dirty="0"/>
          </a:p>
        </p:txBody>
      </p:sp>
      <p:sp>
        <p:nvSpPr>
          <p:cNvPr id="21" name="Text 19"/>
          <p:cNvSpPr txBox="1"/>
          <p:nvPr/>
        </p:nvSpPr>
        <p:spPr>
          <a:xfrm>
            <a:off x="969264" y="4553712"/>
            <a:ext cx="3063240" cy="10972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With Diego and the Card/GBA leads: what is mine, what is theirs, what goes up, and a time-box. Escalating without one wins a decision and costs the relationship.</a:t>
            </a:r>
            <a:endParaRPr lang="en-US" sz="1150" dirty="0"/>
          </a:p>
        </p:txBody>
      </p:sp>
      <p:sp>
        <p:nvSpPr>
          <p:cNvPr id="22" name="Shape 20"/>
          <p:cNvSpPr/>
          <p:nvPr/>
        </p:nvSpPr>
        <p:spPr>
          <a:xfrm>
            <a:off x="4270248" y="4041648"/>
            <a:ext cx="292608" cy="292608"/>
          </a:xfrm>
          <a:prstGeom prst="ellipse">
            <a:avLst/>
          </a:prstGeom>
          <a:solidFill>
            <a:srgbClr val="F3E8FD"/>
          </a:solidFill>
          <a:ln/>
        </p:spPr>
      </p:sp>
      <p:sp>
        <p:nvSpPr>
          <p:cNvPr id="23" name="Text 21"/>
          <p:cNvSpPr txBox="1"/>
          <p:nvPr/>
        </p:nvSpPr>
        <p:spPr>
          <a:xfrm>
            <a:off x="4270248" y="4069080"/>
            <a:ext cx="292608" cy="237744"/>
          </a:xfrm>
          <a:prstGeom prst="rect">
            <a:avLst/>
          </a:prstGeom>
          <a:noFill/>
          <a:ln/>
        </p:spPr>
        <p:txBody>
          <a:bodyPr wrap="square" lIns="0" tIns="0" rIns="0" bIns="0" rtlCol="0" anchor="ctr"/>
          <a:lstStyle/>
          <a:p>
            <a:pPr algn="ctr" indent="0" marL="0">
              <a:buNone/>
            </a:pPr>
            <a:r>
              <a:rPr lang="en-US" sz="1250" b="1" dirty="0">
                <a:solidFill>
                  <a:srgbClr val="820AD1"/>
                </a:solidFill>
                <a:latin typeface="Arial" pitchFamily="34" charset="0"/>
                <a:ea typeface="Arial" pitchFamily="34" charset="-122"/>
                <a:cs typeface="Arial" pitchFamily="34" charset="-120"/>
              </a:rPr>
              <a:t>5</a:t>
            </a:r>
            <a:endParaRPr lang="en-US" sz="1250" dirty="0"/>
          </a:p>
        </p:txBody>
      </p:sp>
      <p:sp>
        <p:nvSpPr>
          <p:cNvPr id="24" name="Text 22"/>
          <p:cNvSpPr txBox="1"/>
          <p:nvPr/>
        </p:nvSpPr>
        <p:spPr>
          <a:xfrm>
            <a:off x="4672584" y="4023360"/>
            <a:ext cx="3108960" cy="502920"/>
          </a:xfrm>
          <a:prstGeom prst="rect">
            <a:avLst/>
          </a:prstGeom>
          <a:noFill/>
          <a:ln/>
        </p:spPr>
        <p:txBody>
          <a:bodyPr wrap="square" lIns="0" tIns="0" rIns="0" bIns="0" rtlCol="0" anchor="ctr"/>
          <a:lstStyle/>
          <a:p>
            <a:pPr indent="0" marL="0">
              <a:lnSpc>
                <a:spcPts val="1600"/>
              </a:lnSpc>
              <a:buNone/>
            </a:pPr>
            <a:r>
              <a:rPr lang="en-US" sz="1250" b="1" dirty="0">
                <a:solidFill>
                  <a:srgbClr val="19102A"/>
                </a:solidFill>
                <a:latin typeface="Arial" pitchFamily="34" charset="0"/>
                <a:ea typeface="Arial" pitchFamily="34" charset="-122"/>
                <a:cs typeface="Arial" pitchFamily="34" charset="-120"/>
              </a:rPr>
              <a:t>Take the smaller ask.</a:t>
            </a:r>
            <a:endParaRPr lang="en-US" sz="1250" dirty="0"/>
          </a:p>
        </p:txBody>
      </p:sp>
      <p:sp>
        <p:nvSpPr>
          <p:cNvPr id="25" name="Text 23"/>
          <p:cNvSpPr txBox="1"/>
          <p:nvPr/>
        </p:nvSpPr>
        <p:spPr>
          <a:xfrm>
            <a:off x="4672584" y="4553712"/>
            <a:ext cx="3063240" cy="10972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If Card genuinely cannot move, I ship without the card component and add it later. Shipping on time beats winning the argument.</a:t>
            </a:r>
            <a:endParaRPr lang="en-US" sz="1150" dirty="0"/>
          </a:p>
        </p:txBody>
      </p:sp>
      <p:sp>
        <p:nvSpPr>
          <p:cNvPr id="26" name="Shape 24"/>
          <p:cNvSpPr/>
          <p:nvPr/>
        </p:nvSpPr>
        <p:spPr>
          <a:xfrm>
            <a:off x="7973568" y="4041648"/>
            <a:ext cx="292608" cy="292608"/>
          </a:xfrm>
          <a:prstGeom prst="ellipse">
            <a:avLst/>
          </a:prstGeom>
          <a:solidFill>
            <a:srgbClr val="F3E8FD"/>
          </a:solidFill>
          <a:ln/>
        </p:spPr>
      </p:sp>
      <p:sp>
        <p:nvSpPr>
          <p:cNvPr id="27" name="Text 25"/>
          <p:cNvSpPr txBox="1"/>
          <p:nvPr/>
        </p:nvSpPr>
        <p:spPr>
          <a:xfrm>
            <a:off x="7973568" y="4069080"/>
            <a:ext cx="292608" cy="237744"/>
          </a:xfrm>
          <a:prstGeom prst="rect">
            <a:avLst/>
          </a:prstGeom>
          <a:noFill/>
          <a:ln/>
        </p:spPr>
        <p:txBody>
          <a:bodyPr wrap="square" lIns="0" tIns="0" rIns="0" bIns="0" rtlCol="0" anchor="ctr"/>
          <a:lstStyle/>
          <a:p>
            <a:pPr algn="ctr" indent="0" marL="0">
              <a:buNone/>
            </a:pPr>
            <a:r>
              <a:rPr lang="en-US" sz="1250" b="1" dirty="0">
                <a:solidFill>
                  <a:srgbClr val="820AD1"/>
                </a:solidFill>
                <a:latin typeface="Arial" pitchFamily="34" charset="0"/>
                <a:ea typeface="Arial" pitchFamily="34" charset="-122"/>
                <a:cs typeface="Arial" pitchFamily="34" charset="-120"/>
              </a:rPr>
              <a:t>6</a:t>
            </a:r>
            <a:endParaRPr lang="en-US" sz="1250" dirty="0"/>
          </a:p>
        </p:txBody>
      </p:sp>
      <p:sp>
        <p:nvSpPr>
          <p:cNvPr id="28" name="Text 26"/>
          <p:cNvSpPr txBox="1"/>
          <p:nvPr/>
        </p:nvSpPr>
        <p:spPr>
          <a:xfrm>
            <a:off x="8375904" y="4023360"/>
            <a:ext cx="3108960" cy="502920"/>
          </a:xfrm>
          <a:prstGeom prst="rect">
            <a:avLst/>
          </a:prstGeom>
          <a:noFill/>
          <a:ln/>
        </p:spPr>
        <p:txBody>
          <a:bodyPr wrap="square" lIns="0" tIns="0" rIns="0" bIns="0" rtlCol="0" anchor="ctr"/>
          <a:lstStyle/>
          <a:p>
            <a:pPr indent="0" marL="0">
              <a:lnSpc>
                <a:spcPts val="1600"/>
              </a:lnSpc>
              <a:buNone/>
            </a:pPr>
            <a:r>
              <a:rPr lang="en-US" sz="1250" b="1" dirty="0">
                <a:solidFill>
                  <a:srgbClr val="19102A"/>
                </a:solidFill>
                <a:latin typeface="Arial" pitchFamily="34" charset="0"/>
                <a:ea typeface="Arial" pitchFamily="34" charset="-122"/>
                <a:cs typeface="Arial" pitchFamily="34" charset="-120"/>
              </a:rPr>
              <a:t>Put the disagreement in a test design.</a:t>
            </a:r>
            <a:endParaRPr lang="en-US" sz="1250" dirty="0"/>
          </a:p>
        </p:txBody>
      </p:sp>
      <p:sp>
        <p:nvSpPr>
          <p:cNvPr id="29" name="Text 27"/>
          <p:cNvSpPr txBox="1"/>
          <p:nvPr/>
        </p:nvSpPr>
        <p:spPr>
          <a:xfrm>
            <a:off x="8375904" y="4553712"/>
            <a:ext cx="3063240" cy="109728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The fastest way to end a roadmap argument is to convert it into a testable question with a pre-agreed MDE and a guardrail metric the other team chooses. Then we argue about the design, which is solvable — instead of about priority, which is not.</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2.4  PRIORITISATION AND GLOBAL ALIGNMENT</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Three priorities, and why in this order</a:t>
            </a:r>
            <a:endParaRPr lang="en-US" sz="3100" dirty="0"/>
          </a:p>
        </p:txBody>
      </p:sp>
      <p:sp>
        <p:nvSpPr>
          <p:cNvPr id="5" name="Text 3"/>
          <p:cNvSpPr txBox="1"/>
          <p:nvPr/>
        </p:nvSpPr>
        <p:spPr>
          <a:xfrm>
            <a:off x="566928" y="1755648"/>
            <a:ext cx="548640" cy="365760"/>
          </a:xfrm>
          <a:prstGeom prst="rect">
            <a:avLst/>
          </a:prstGeom>
          <a:noFill/>
          <a:ln/>
        </p:spPr>
        <p:txBody>
          <a:bodyPr wrap="square" lIns="0" tIns="0" rIns="0" bIns="0" rtlCol="0" anchor="ctr"/>
          <a:lstStyle/>
          <a:p>
            <a:pPr indent="0" marL="0">
              <a:buNone/>
            </a:pPr>
            <a:r>
              <a:rPr lang="en-US" sz="2000" b="1" dirty="0">
                <a:solidFill>
                  <a:srgbClr val="820AD1"/>
                </a:solidFill>
                <a:latin typeface="Arial" pitchFamily="34" charset="0"/>
                <a:ea typeface="Arial" pitchFamily="34" charset="-122"/>
                <a:cs typeface="Arial" pitchFamily="34" charset="-120"/>
              </a:rPr>
              <a:t>01</a:t>
            </a:r>
            <a:endParaRPr lang="en-US" sz="2000" dirty="0"/>
          </a:p>
        </p:txBody>
      </p:sp>
      <p:sp>
        <p:nvSpPr>
          <p:cNvPr id="6" name="Text 4"/>
          <p:cNvSpPr txBox="1"/>
          <p:nvPr/>
        </p:nvSpPr>
        <p:spPr>
          <a:xfrm>
            <a:off x="1225296" y="1737360"/>
            <a:ext cx="3657600" cy="548640"/>
          </a:xfrm>
          <a:prstGeom prst="rect">
            <a:avLst/>
          </a:prstGeom>
          <a:noFill/>
          <a:ln/>
        </p:spPr>
        <p:txBody>
          <a:bodyPr wrap="square" lIns="0" tIns="0" rIns="0" bIns="0" rtlCol="0" anchor="ctr"/>
          <a:lstStyle/>
          <a:p>
            <a:pPr indent="0" marL="0">
              <a:lnSpc>
                <a:spcPts val="1800"/>
              </a:lnSpc>
              <a:buNone/>
            </a:pPr>
            <a:r>
              <a:rPr lang="en-US" sz="1400" b="1" dirty="0">
                <a:solidFill>
                  <a:srgbClr val="19102A"/>
                </a:solidFill>
                <a:latin typeface="Arial" pitchFamily="34" charset="0"/>
                <a:ea typeface="Arial" pitchFamily="34" charset="-122"/>
                <a:cs typeface="Arial" pitchFamily="34" charset="-120"/>
              </a:rPr>
              <a:t>Fix what we measure about deposits</a:t>
            </a:r>
            <a:endParaRPr lang="en-US" sz="1400" dirty="0"/>
          </a:p>
        </p:txBody>
      </p:sp>
      <p:sp>
        <p:nvSpPr>
          <p:cNvPr id="7" name="Text 5"/>
          <p:cNvSpPr txBox="1"/>
          <p:nvPr/>
        </p:nvSpPr>
        <p:spPr>
          <a:xfrm>
            <a:off x="1225296" y="2322576"/>
            <a:ext cx="2011680" cy="237744"/>
          </a:xfrm>
          <a:prstGeom prst="rect">
            <a:avLst/>
          </a:prstGeom>
          <a:noFill/>
          <a:ln/>
        </p:spPr>
        <p:txBody>
          <a:bodyPr wrap="square" lIns="0" tIns="0" rIns="0" bIns="0" rtlCol="0" anchor="ctr"/>
          <a:lstStyle/>
          <a:p>
            <a:pPr indent="0" marL="0">
              <a:buNone/>
            </a:pPr>
            <a:r>
              <a:rPr lang="en-US" sz="950" b="1" spc="120" kern="0" dirty="0">
                <a:solidFill>
                  <a:srgbClr val="6E6484"/>
                </a:solidFill>
                <a:latin typeface="Arial" pitchFamily="34" charset="0"/>
                <a:ea typeface="Arial" pitchFamily="34" charset="-122"/>
                <a:cs typeface="Arial" pitchFamily="34" charset="-120"/>
              </a:rPr>
              <a:t>WEEKS 1–6</a:t>
            </a:r>
            <a:endParaRPr lang="en-US" sz="950" dirty="0"/>
          </a:p>
        </p:txBody>
      </p:sp>
      <p:sp>
        <p:nvSpPr>
          <p:cNvPr id="8" name="Text 6"/>
          <p:cNvSpPr txBox="1"/>
          <p:nvPr/>
        </p:nvSpPr>
        <p:spPr>
          <a:xfrm>
            <a:off x="5047488" y="1737360"/>
            <a:ext cx="3200400" cy="100584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Run the gate test above as a geographic holdout, with MDE and guardrails pre-registered. Re-quote yield as a spread. Retire deposit growth in favour of deployable deposits and cost of funds against TIIE.</a:t>
            </a:r>
            <a:endParaRPr lang="en-US" sz="1150" dirty="0"/>
          </a:p>
        </p:txBody>
      </p:sp>
      <p:sp>
        <p:nvSpPr>
          <p:cNvPr id="9" name="Text 7"/>
          <p:cNvSpPr txBox="1"/>
          <p:nvPr/>
        </p:nvSpPr>
        <p:spPr>
          <a:xfrm>
            <a:off x="8430768" y="1737360"/>
            <a:ext cx="3246120" cy="1005840"/>
          </a:xfrm>
          <a:prstGeom prst="rect">
            <a:avLst/>
          </a:prstGeom>
          <a:noFill/>
          <a:ln/>
        </p:spPr>
        <p:txBody>
          <a:bodyPr wrap="square" lIns="0" tIns="0" rIns="0" bIns="0" rtlCol="0" anchor="ctr"/>
          <a:lstStyle/>
          <a:p>
            <a:pPr indent="0" marL="0">
              <a:lnSpc>
                <a:spcPts val="1500"/>
              </a:lnSpc>
              <a:buNone/>
            </a:pPr>
            <a:r>
              <a:rPr lang="en-US" sz="1150" i="1" dirty="0">
                <a:solidFill>
                  <a:srgbClr val="B45309"/>
                </a:solidFill>
                <a:latin typeface="Calibri" pitchFamily="34" charset="0"/>
                <a:ea typeface="Calibri" pitchFamily="34" charset="-122"/>
                <a:cs typeface="Calibri" pitchFamily="34" charset="-120"/>
              </a:rPr>
              <a:t>First because it is nearly free, it is fast, and it is the evidence base for everything else. A new person with no credibility balance should spend month one producing evidence, not asking for headcount.</a:t>
            </a:r>
            <a:endParaRPr lang="en-US" sz="1150" dirty="0"/>
          </a:p>
        </p:txBody>
      </p:sp>
      <p:sp>
        <p:nvSpPr>
          <p:cNvPr id="10" name="Text 8"/>
          <p:cNvSpPr txBox="1"/>
          <p:nvPr/>
        </p:nvSpPr>
        <p:spPr>
          <a:xfrm>
            <a:off x="566928" y="2834640"/>
            <a:ext cx="548640" cy="365760"/>
          </a:xfrm>
          <a:prstGeom prst="rect">
            <a:avLst/>
          </a:prstGeom>
          <a:noFill/>
          <a:ln/>
        </p:spPr>
        <p:txBody>
          <a:bodyPr wrap="square" lIns="0" tIns="0" rIns="0" bIns="0" rtlCol="0" anchor="ctr"/>
          <a:lstStyle/>
          <a:p>
            <a:pPr indent="0" marL="0">
              <a:buNone/>
            </a:pPr>
            <a:r>
              <a:rPr lang="en-US" sz="2000" b="1" dirty="0">
                <a:solidFill>
                  <a:srgbClr val="820AD1"/>
                </a:solidFill>
                <a:latin typeface="Arial" pitchFamily="34" charset="0"/>
                <a:ea typeface="Arial" pitchFamily="34" charset="-122"/>
                <a:cs typeface="Arial" pitchFamily="34" charset="-120"/>
              </a:rPr>
              <a:t>02</a:t>
            </a:r>
            <a:endParaRPr lang="en-US" sz="2000" dirty="0"/>
          </a:p>
        </p:txBody>
      </p:sp>
      <p:sp>
        <p:nvSpPr>
          <p:cNvPr id="11" name="Text 9"/>
          <p:cNvSpPr txBox="1"/>
          <p:nvPr/>
        </p:nvSpPr>
        <p:spPr>
          <a:xfrm>
            <a:off x="1225296" y="2816352"/>
            <a:ext cx="3657600" cy="548640"/>
          </a:xfrm>
          <a:prstGeom prst="rect">
            <a:avLst/>
          </a:prstGeom>
          <a:noFill/>
          <a:ln/>
        </p:spPr>
        <p:txBody>
          <a:bodyPr wrap="square" lIns="0" tIns="0" rIns="0" bIns="0" rtlCol="0" anchor="ctr"/>
          <a:lstStyle/>
          <a:p>
            <a:pPr indent="0" marL="0">
              <a:lnSpc>
                <a:spcPts val="1800"/>
              </a:lnSpc>
              <a:buNone/>
            </a:pPr>
            <a:r>
              <a:rPr lang="en-US" sz="1400" b="1" dirty="0">
                <a:solidFill>
                  <a:srgbClr val="19102A"/>
                </a:solidFill>
                <a:latin typeface="Arial" pitchFamily="34" charset="0"/>
                <a:ea typeface="Arial" pitchFamily="34" charset="-122"/>
                <a:cs typeface="Arial" pitchFamily="34" charset="-120"/>
              </a:rPr>
              <a:t>Ship Track A to the cohort we can already detect</a:t>
            </a:r>
            <a:endParaRPr lang="en-US" sz="1400" dirty="0"/>
          </a:p>
        </p:txBody>
      </p:sp>
      <p:sp>
        <p:nvSpPr>
          <p:cNvPr id="12" name="Text 10"/>
          <p:cNvSpPr txBox="1"/>
          <p:nvPr/>
        </p:nvSpPr>
        <p:spPr>
          <a:xfrm>
            <a:off x="1225296" y="3401568"/>
            <a:ext cx="2011680" cy="237744"/>
          </a:xfrm>
          <a:prstGeom prst="rect">
            <a:avLst/>
          </a:prstGeom>
          <a:noFill/>
          <a:ln/>
        </p:spPr>
        <p:txBody>
          <a:bodyPr wrap="square" lIns="0" tIns="0" rIns="0" bIns="0" rtlCol="0" anchor="ctr"/>
          <a:lstStyle/>
          <a:p>
            <a:pPr indent="0" marL="0">
              <a:buNone/>
            </a:pPr>
            <a:r>
              <a:rPr lang="en-US" sz="950" b="1" spc="120" kern="0" dirty="0">
                <a:solidFill>
                  <a:srgbClr val="6E6484"/>
                </a:solidFill>
                <a:latin typeface="Arial" pitchFamily="34" charset="0"/>
                <a:ea typeface="Arial" pitchFamily="34" charset="-122"/>
                <a:cs typeface="Arial" pitchFamily="34" charset="-120"/>
              </a:rPr>
              <a:t>WEEKS 4–16</a:t>
            </a:r>
            <a:endParaRPr lang="en-US" sz="950" dirty="0"/>
          </a:p>
        </p:txBody>
      </p:sp>
      <p:sp>
        <p:nvSpPr>
          <p:cNvPr id="13" name="Text 11"/>
          <p:cNvSpPr txBox="1"/>
          <p:nvPr/>
        </p:nvSpPr>
        <p:spPr>
          <a:xfrm>
            <a:off x="5047488" y="2816352"/>
            <a:ext cx="3200400" cy="100584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Portability for customers whose payroll pattern is already in our data. Measure completed first salary landings.</a:t>
            </a:r>
            <a:endParaRPr lang="en-US" sz="1150" dirty="0"/>
          </a:p>
        </p:txBody>
      </p:sp>
      <p:sp>
        <p:nvSpPr>
          <p:cNvPr id="14" name="Text 12"/>
          <p:cNvSpPr txBox="1"/>
          <p:nvPr/>
        </p:nvSpPr>
        <p:spPr>
          <a:xfrm>
            <a:off x="8430768" y="2816352"/>
            <a:ext cx="3246120" cy="1005840"/>
          </a:xfrm>
          <a:prstGeom prst="rect">
            <a:avLst/>
          </a:prstGeom>
          <a:noFill/>
          <a:ln/>
        </p:spPr>
        <p:txBody>
          <a:bodyPr wrap="square" lIns="0" tIns="0" rIns="0" bIns="0" rtlCol="0" anchor="ctr"/>
          <a:lstStyle/>
          <a:p>
            <a:pPr indent="0" marL="0">
              <a:lnSpc>
                <a:spcPts val="1500"/>
              </a:lnSpc>
              <a:buNone/>
            </a:pPr>
            <a:r>
              <a:rPr lang="en-US" sz="1150" i="1" dirty="0">
                <a:solidFill>
                  <a:srgbClr val="B45309"/>
                </a:solidFill>
                <a:latin typeface="Calibri" pitchFamily="34" charset="0"/>
                <a:ea typeface="Calibri" pitchFamily="34" charset="-122"/>
                <a:cs typeface="Calibri" pitchFamily="34" charset="-120"/>
              </a:rPr>
              <a:t>Second because it is the expiring opportunity.</a:t>
            </a:r>
            <a:endParaRPr lang="en-US" sz="1150" dirty="0"/>
          </a:p>
        </p:txBody>
      </p:sp>
      <p:sp>
        <p:nvSpPr>
          <p:cNvPr id="15" name="Text 13"/>
          <p:cNvSpPr txBox="1"/>
          <p:nvPr/>
        </p:nvSpPr>
        <p:spPr>
          <a:xfrm>
            <a:off x="566928" y="3913632"/>
            <a:ext cx="548640" cy="365760"/>
          </a:xfrm>
          <a:prstGeom prst="rect">
            <a:avLst/>
          </a:prstGeom>
          <a:noFill/>
          <a:ln/>
        </p:spPr>
        <p:txBody>
          <a:bodyPr wrap="square" lIns="0" tIns="0" rIns="0" bIns="0" rtlCol="0" anchor="ctr"/>
          <a:lstStyle/>
          <a:p>
            <a:pPr indent="0" marL="0">
              <a:buNone/>
            </a:pPr>
            <a:r>
              <a:rPr lang="en-US" sz="2000" b="1" dirty="0">
                <a:solidFill>
                  <a:srgbClr val="820AD1"/>
                </a:solidFill>
                <a:latin typeface="Arial" pitchFamily="34" charset="0"/>
                <a:ea typeface="Arial" pitchFamily="34" charset="-122"/>
                <a:cs typeface="Arial" pitchFamily="34" charset="-120"/>
              </a:rPr>
              <a:t>03</a:t>
            </a:r>
            <a:endParaRPr lang="en-US" sz="2000" dirty="0"/>
          </a:p>
        </p:txBody>
      </p:sp>
      <p:sp>
        <p:nvSpPr>
          <p:cNvPr id="16" name="Text 14"/>
          <p:cNvSpPr txBox="1"/>
          <p:nvPr/>
        </p:nvSpPr>
        <p:spPr>
          <a:xfrm>
            <a:off x="1225296" y="3895344"/>
            <a:ext cx="3657600" cy="548640"/>
          </a:xfrm>
          <a:prstGeom prst="rect">
            <a:avLst/>
          </a:prstGeom>
          <a:noFill/>
          <a:ln/>
        </p:spPr>
        <p:txBody>
          <a:bodyPr wrap="square" lIns="0" tIns="0" rIns="0" bIns="0" rtlCol="0" anchor="ctr"/>
          <a:lstStyle/>
          <a:p>
            <a:pPr indent="0" marL="0">
              <a:lnSpc>
                <a:spcPts val="1800"/>
              </a:lnSpc>
              <a:buNone/>
            </a:pPr>
            <a:r>
              <a:rPr lang="en-US" sz="1400" b="1" dirty="0">
                <a:solidFill>
                  <a:srgbClr val="19102A"/>
                </a:solidFill>
                <a:latin typeface="Arial" pitchFamily="34" charset="0"/>
                <a:ea typeface="Arial" pitchFamily="34" charset="-122"/>
                <a:cs typeface="Arial" pitchFamily="34" charset="-120"/>
              </a:rPr>
              <a:t>Stand up Track B’s consent and estimate spine</a:t>
            </a:r>
            <a:endParaRPr lang="en-US" sz="1400" dirty="0"/>
          </a:p>
        </p:txBody>
      </p:sp>
      <p:sp>
        <p:nvSpPr>
          <p:cNvPr id="17" name="Text 15"/>
          <p:cNvSpPr txBox="1"/>
          <p:nvPr/>
        </p:nvSpPr>
        <p:spPr>
          <a:xfrm>
            <a:off x="1225296" y="4480560"/>
            <a:ext cx="2011680" cy="237744"/>
          </a:xfrm>
          <a:prstGeom prst="rect">
            <a:avLst/>
          </a:prstGeom>
          <a:noFill/>
          <a:ln/>
        </p:spPr>
        <p:txBody>
          <a:bodyPr wrap="square" lIns="0" tIns="0" rIns="0" bIns="0" rtlCol="0" anchor="ctr"/>
          <a:lstStyle/>
          <a:p>
            <a:pPr indent="0" marL="0">
              <a:buNone/>
            </a:pPr>
            <a:r>
              <a:rPr lang="en-US" sz="950" b="1" spc="120" kern="0" dirty="0">
                <a:solidFill>
                  <a:srgbClr val="6E6484"/>
                </a:solidFill>
                <a:latin typeface="Arial" pitchFamily="34" charset="0"/>
                <a:ea typeface="Arial" pitchFamily="34" charset="-122"/>
                <a:cs typeface="Arial" pitchFamily="34" charset="-120"/>
              </a:rPr>
              <a:t>WEEKS 10–26</a:t>
            </a:r>
            <a:endParaRPr lang="en-US" sz="950" dirty="0"/>
          </a:p>
        </p:txBody>
      </p:sp>
      <p:sp>
        <p:nvSpPr>
          <p:cNvPr id="18" name="Text 16"/>
          <p:cNvSpPr txBox="1"/>
          <p:nvPr/>
        </p:nvSpPr>
        <p:spPr>
          <a:xfrm>
            <a:off x="5047488" y="3895344"/>
            <a:ext cx="3200400" cy="1005840"/>
          </a:xfrm>
          <a:prstGeom prst="rect">
            <a:avLst/>
          </a:prstGeom>
          <a:noFill/>
          <a:ln/>
        </p:spPr>
        <p:txBody>
          <a:bodyPr wrap="square" lIns="0" tIns="0" rIns="0" bIns="0" rtlCol="0" anchor="ctr"/>
          <a:lstStyle/>
          <a:p>
            <a:pPr indent="0" marL="0">
              <a:lnSpc>
                <a:spcPts val="1500"/>
              </a:lnSpc>
              <a:buNone/>
            </a:pPr>
            <a:r>
              <a:rPr lang="en-US" sz="1150" dirty="0">
                <a:solidFill>
                  <a:srgbClr val="2F2740"/>
                </a:solidFill>
                <a:latin typeface="Calibri" pitchFamily="34" charset="0"/>
                <a:ea typeface="Calibri" pitchFamily="34" charset="-122"/>
                <a:cs typeface="Calibri" pitchFamily="34" charset="-120"/>
              </a:rPr>
              <a:t>Not the whole product — the consent flow, the estimator and the fairness harness, so H2 is an extension rather than a new build.</a:t>
            </a:r>
            <a:endParaRPr lang="en-US" sz="1150" dirty="0"/>
          </a:p>
        </p:txBody>
      </p:sp>
      <p:sp>
        <p:nvSpPr>
          <p:cNvPr id="19" name="Text 17"/>
          <p:cNvSpPr txBox="1"/>
          <p:nvPr/>
        </p:nvSpPr>
        <p:spPr>
          <a:xfrm>
            <a:off x="8430768" y="3895344"/>
            <a:ext cx="3246120" cy="1005840"/>
          </a:xfrm>
          <a:prstGeom prst="rect">
            <a:avLst/>
          </a:prstGeom>
          <a:noFill/>
          <a:ln/>
        </p:spPr>
        <p:txBody>
          <a:bodyPr wrap="square" lIns="0" tIns="0" rIns="0" bIns="0" rtlCol="0" anchor="ctr"/>
          <a:lstStyle/>
          <a:p>
            <a:pPr indent="0" marL="0">
              <a:lnSpc>
                <a:spcPts val="1500"/>
              </a:lnSpc>
              <a:buNone/>
            </a:pPr>
            <a:r>
              <a:rPr lang="en-US" sz="1150" i="1" dirty="0">
                <a:solidFill>
                  <a:srgbClr val="B45309"/>
                </a:solidFill>
                <a:latin typeface="Calibri" pitchFamily="34" charset="0"/>
                <a:ea typeface="Calibri" pitchFamily="34" charset="-122"/>
                <a:cs typeface="Calibri" pitchFamily="34" charset="-120"/>
              </a:rPr>
              <a:t>Third because it has the longest lead time, so it has to start early even though it lands late.</a:t>
            </a:r>
            <a:endParaRPr lang="en-US" sz="1150" dirty="0"/>
          </a:p>
        </p:txBody>
      </p:sp>
      <p:sp>
        <p:nvSpPr>
          <p:cNvPr id="20" name="Shape 18"/>
          <p:cNvSpPr/>
          <p:nvPr/>
        </p:nvSpPr>
        <p:spPr>
          <a:xfrm>
            <a:off x="566928" y="5047488"/>
            <a:ext cx="11073384" cy="1261872"/>
          </a:xfrm>
          <a:prstGeom prst="roundRect">
            <a:avLst>
              <a:gd name="adj" fmla="val 4348"/>
            </a:avLst>
          </a:prstGeom>
          <a:solidFill>
            <a:srgbClr val="F3E8FD"/>
          </a:solidFill>
          <a:ln w="12700">
            <a:solidFill>
              <a:srgbClr val="E2DCEC"/>
            </a:solidFill>
            <a:prstDash val="solid"/>
          </a:ln>
        </p:spPr>
      </p:sp>
      <p:sp>
        <p:nvSpPr>
          <p:cNvPr id="21" name="Text 19"/>
          <p:cNvSpPr txBox="1"/>
          <p:nvPr/>
        </p:nvSpPr>
        <p:spPr>
          <a:xfrm>
            <a:off x="841248" y="5230368"/>
            <a:ext cx="10515600" cy="960120"/>
          </a:xfrm>
          <a:prstGeom prst="rect">
            <a:avLst/>
          </a:prstGeom>
          <a:noFill/>
          <a:ln/>
        </p:spPr>
        <p:txBody>
          <a:bodyPr wrap="square" lIns="0" tIns="0" rIns="0" bIns="0" rtlCol="0" anchor="ctr"/>
          <a:lstStyle/>
          <a:p>
            <a:pPr indent="0" marL="0">
              <a:lnSpc>
                <a:spcPts val="1650"/>
              </a:lnSpc>
              <a:buNone/>
            </a:pPr>
            <a:r>
              <a:rPr lang="en-US" sz="1200" b="1" dirty="0">
                <a:solidFill>
                  <a:srgbClr val="820AD1"/>
                </a:solidFill>
                <a:latin typeface="Calibri" pitchFamily="34" charset="0"/>
                <a:ea typeface="Calibri" pitchFamily="34" charset="-122"/>
                <a:cs typeface="Calibri" pitchFamily="34" charset="-120"/>
              </a:rPr>
              <a:t>Representing México globally:  </a:t>
            </a:r>
            <a:pPr indent="0" marL="0">
              <a:lnSpc>
                <a:spcPts val="1650"/>
              </a:lnSpc>
              <a:buNone/>
            </a:pPr>
            <a:r>
              <a:rPr lang="en-US" sz="1200" dirty="0">
                <a:solidFill>
                  <a:srgbClr val="2F2740"/>
                </a:solidFill>
                <a:latin typeface="Calibri" pitchFamily="34" charset="0"/>
                <a:ea typeface="Calibri" pitchFamily="34" charset="-122"/>
                <a:cs typeface="Calibri" pitchFamily="34" charset="-120"/>
              </a:rPr>
              <a:t>Croma — launched in Brazil in July for customers earning R$5,000+ — is the group’s newest bundle: platinum card, streaming cashback, telco, boosted box. The architecture is right, but it monetises spend and subscriptions, and my segment’s spend is small and irregular. México needs that architecture with a different anchor. Brazil anchors on spend; México anchors on income landing — and that is the instance every newly licensed market will need first.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RIGOUR</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What I assumed, and what I would ask on day one</a:t>
            </a:r>
            <a:endParaRPr lang="en-US" sz="3100" dirty="0"/>
          </a:p>
        </p:txBody>
      </p:sp>
      <p:sp>
        <p:nvSpPr>
          <p:cNvPr id="5" name="Shape 3"/>
          <p:cNvSpPr/>
          <p:nvPr/>
        </p:nvSpPr>
        <p:spPr>
          <a:xfrm>
            <a:off x="566928" y="1783080"/>
            <a:ext cx="5486400" cy="3931920"/>
          </a:xfrm>
          <a:prstGeom prst="roundRect">
            <a:avLst>
              <a:gd name="adj" fmla="val 1395"/>
            </a:avLst>
          </a:prstGeom>
          <a:solidFill>
            <a:srgbClr val="FAF8FD"/>
          </a:solidFill>
          <a:ln w="12700">
            <a:solidFill>
              <a:srgbClr val="E2DCEC"/>
            </a:solidFill>
            <a:prstDash val="solid"/>
          </a:ln>
        </p:spPr>
      </p:sp>
      <p:sp>
        <p:nvSpPr>
          <p:cNvPr id="6" name="Text 4"/>
          <p:cNvSpPr txBox="1"/>
          <p:nvPr/>
        </p:nvSpPr>
        <p:spPr>
          <a:xfrm>
            <a:off x="841248" y="1965960"/>
            <a:ext cx="4937760" cy="274320"/>
          </a:xfrm>
          <a:prstGeom prst="rect">
            <a:avLst/>
          </a:prstGeom>
          <a:noFill/>
          <a:ln/>
        </p:spPr>
        <p:txBody>
          <a:bodyPr wrap="square" lIns="0" tIns="0" rIns="0" bIns="0" rtlCol="0" anchor="ctr"/>
          <a:lstStyle/>
          <a:p>
            <a:pPr indent="0" marL="0">
              <a:buNone/>
            </a:pPr>
            <a:r>
              <a:rPr lang="en-US" sz="1400" b="1" dirty="0">
                <a:solidFill>
                  <a:srgbClr val="B45309"/>
                </a:solidFill>
                <a:latin typeface="Arial" pitchFamily="34" charset="0"/>
                <a:ea typeface="Arial" pitchFamily="34" charset="-122"/>
                <a:cs typeface="Arial" pitchFamily="34" charset="-120"/>
              </a:rPr>
              <a:t>Treated as assumptions — including your own numbers</a:t>
            </a:r>
            <a:endParaRPr lang="en-US" sz="1400" dirty="0"/>
          </a:p>
        </p:txBody>
      </p:sp>
      <p:sp>
        <p:nvSpPr>
          <p:cNvPr id="7" name="Text 5"/>
          <p:cNvSpPr txBox="1"/>
          <p:nvPr/>
        </p:nvSpPr>
        <p:spPr>
          <a:xfrm>
            <a:off x="841248" y="2359152"/>
            <a:ext cx="4892040" cy="3108960"/>
          </a:xfrm>
          <a:prstGeom prst="rect">
            <a:avLst/>
          </a:prstGeom>
          <a:noFill/>
          <a:ln/>
        </p:spPr>
        <p:txBody>
          <a:bodyPr wrap="square" lIns="0" tIns="0" rIns="0" bIns="0" rtlCol="0" anchor="ctr"/>
          <a:lstStyle/>
          <a:p>
            <a:pPr marL="342900" indent="-342900">
              <a:lnSpc>
                <a:spcPts val="1800"/>
              </a:lnSpc>
              <a:spcAft>
                <a:spcPts val="700"/>
              </a:spcAft>
              <a:buSzPct val="100000"/>
              <a:buChar char="•"/>
            </a:pPr>
            <a:r>
              <a:rPr lang="en-US" sz="1150" dirty="0">
                <a:solidFill>
                  <a:srgbClr val="2F2740"/>
                </a:solidFill>
                <a:latin typeface="Calibri" pitchFamily="34" charset="0"/>
                <a:ea typeface="Calibri" pitchFamily="34" charset="-122"/>
                <a:cs typeface="Calibri" pitchFamily="34" charset="-120"/>
              </a:rPr>
              <a:t>Your figures, read from public sources: 35% LDR and US$5.7B deposits (Q2 2026 release); the published rate card; Nu+ point value. I have treated all of these as assumptions rather than facts</a:t>
            </a:r>
            <a:endParaRPr lang="en-US" sz="1150" dirty="0"/>
          </a:p>
          <a:p>
            <a:pPr marL="342900" indent="-342900">
              <a:lnSpc>
                <a:spcPts val="1800"/>
              </a:lnSpc>
              <a:spcAft>
                <a:spcPts val="700"/>
              </a:spcAft>
              <a:buSzPct val="100000"/>
              <a:buChar char="•"/>
            </a:pPr>
            <a:r>
              <a:rPr lang="en-US" sz="1150" dirty="0">
                <a:solidFill>
                  <a:srgbClr val="2F2740"/>
                </a:solidFill>
                <a:latin typeface="Calibri" pitchFamily="34" charset="0"/>
                <a:ea typeface="Calibri" pitchFamily="34" charset="-122"/>
                <a:cs typeface="Calibri" pitchFamily="34" charset="-120"/>
              </a:rPr>
              <a:t>Mine: 25% net credit yield after expected losses</a:t>
            </a:r>
            <a:endParaRPr lang="en-US" sz="1150" dirty="0"/>
          </a:p>
          <a:p>
            <a:pPr marL="342900" indent="-342900">
              <a:lnSpc>
                <a:spcPts val="1800"/>
              </a:lnSpc>
              <a:spcAft>
                <a:spcPts val="700"/>
              </a:spcAft>
              <a:buSzPct val="100000"/>
              <a:buChar char="•"/>
            </a:pPr>
            <a:r>
              <a:rPr lang="en-US" sz="1150" dirty="0">
                <a:solidFill>
                  <a:srgbClr val="2F2740"/>
                </a:solidFill>
                <a:latin typeface="Calibri" pitchFamily="34" charset="0"/>
                <a:ea typeface="Calibri" pitchFamily="34" charset="-122"/>
                <a:cs typeface="Calibri" pitchFamily="34" charset="-120"/>
              </a:rPr>
              <a:t>Mine: 28% LDR floor with no income signal, 70% ceiling with it, reached at 45% attach</a:t>
            </a:r>
            <a:endParaRPr lang="en-US" sz="1150" dirty="0"/>
          </a:p>
          <a:p>
            <a:pPr marL="342900" indent="-342900">
              <a:lnSpc>
                <a:spcPts val="1800"/>
              </a:lnSpc>
              <a:spcAft>
                <a:spcPts val="700"/>
              </a:spcAft>
              <a:buSzPct val="100000"/>
              <a:buChar char="•"/>
            </a:pPr>
            <a:r>
              <a:rPr lang="en-US" sz="1150" dirty="0">
                <a:solidFill>
                  <a:srgbClr val="2F2740"/>
                </a:solidFill>
                <a:latin typeface="Calibri" pitchFamily="34" charset="0"/>
                <a:ea typeface="Calibri" pitchFamily="34" charset="-122"/>
                <a:cs typeface="Calibri" pitchFamily="34" charset="-120"/>
              </a:rPr>
              <a:t>Mine: 8% income landing today — this calibrates to a 35.5% LDR against the 35% reported</a:t>
            </a:r>
            <a:endParaRPr lang="en-US" sz="1150" dirty="0"/>
          </a:p>
          <a:p>
            <a:pPr marL="342900" indent="-342900">
              <a:lnSpc>
                <a:spcPts val="1800"/>
              </a:lnSpc>
              <a:spcAft>
                <a:spcPts val="700"/>
              </a:spcAft>
              <a:buSzPct val="100000"/>
              <a:buChar char="•"/>
            </a:pPr>
            <a:r>
              <a:rPr lang="en-US" sz="1150" dirty="0">
                <a:solidFill>
                  <a:srgbClr val="2F2740"/>
                </a:solidFill>
                <a:latin typeface="Calibri" pitchFamily="34" charset="0"/>
                <a:ea typeface="Calibri" pitchFamily="34" charset="-122"/>
                <a:cs typeface="Calibri" pitchFamily="34" charset="-120"/>
              </a:rPr>
              <a:t>Mine: balance sensitivity constant. It is not — it rises once a licensed competitor advertises against us</a:t>
            </a:r>
            <a:endParaRPr lang="en-US" sz="1150" dirty="0"/>
          </a:p>
        </p:txBody>
      </p:sp>
      <p:sp>
        <p:nvSpPr>
          <p:cNvPr id="8" name="Shape 6"/>
          <p:cNvSpPr/>
          <p:nvPr/>
        </p:nvSpPr>
        <p:spPr>
          <a:xfrm>
            <a:off x="6327648" y="1783080"/>
            <a:ext cx="5312664" cy="3931920"/>
          </a:xfrm>
          <a:prstGeom prst="roundRect">
            <a:avLst>
              <a:gd name="adj" fmla="val 1395"/>
            </a:avLst>
          </a:prstGeom>
          <a:solidFill>
            <a:srgbClr val="F3E8FD"/>
          </a:solidFill>
          <a:ln w="12700">
            <a:solidFill>
              <a:srgbClr val="E2DCEC"/>
            </a:solidFill>
            <a:prstDash val="solid"/>
          </a:ln>
        </p:spPr>
      </p:sp>
      <p:sp>
        <p:nvSpPr>
          <p:cNvPr id="9" name="Text 7"/>
          <p:cNvSpPr txBox="1"/>
          <p:nvPr/>
        </p:nvSpPr>
        <p:spPr>
          <a:xfrm>
            <a:off x="6583680" y="1965960"/>
            <a:ext cx="4846320" cy="274320"/>
          </a:xfrm>
          <a:prstGeom prst="rect">
            <a:avLst/>
          </a:prstGeom>
          <a:noFill/>
          <a:ln/>
        </p:spPr>
        <p:txBody>
          <a:bodyPr wrap="square" lIns="0" tIns="0" rIns="0" bIns="0" rtlCol="0" anchor="ctr"/>
          <a:lstStyle/>
          <a:p>
            <a:pPr indent="0" marL="0">
              <a:buNone/>
            </a:pPr>
            <a:r>
              <a:rPr lang="en-US" sz="1400" b="1" dirty="0">
                <a:solidFill>
                  <a:srgbClr val="820AD1"/>
                </a:solidFill>
                <a:latin typeface="Arial" pitchFamily="34" charset="0"/>
                <a:ea typeface="Arial" pitchFamily="34" charset="-122"/>
                <a:cs typeface="Arial" pitchFamily="34" charset="-120"/>
              </a:rPr>
              <a:t>Six questions for week one</a:t>
            </a:r>
            <a:endParaRPr lang="en-US" sz="1400" dirty="0"/>
          </a:p>
        </p:txBody>
      </p:sp>
      <p:sp>
        <p:nvSpPr>
          <p:cNvPr id="10" name="Text 8"/>
          <p:cNvSpPr txBox="1"/>
          <p:nvPr/>
        </p:nvSpPr>
        <p:spPr>
          <a:xfrm>
            <a:off x="6583680" y="2359152"/>
            <a:ext cx="4800600" cy="3108960"/>
          </a:xfrm>
          <a:prstGeom prst="rect">
            <a:avLst/>
          </a:prstGeom>
          <a:noFill/>
          <a:ln/>
        </p:spPr>
        <p:txBody>
          <a:bodyPr wrap="square" lIns="0" tIns="0" rIns="0" bIns="0" rtlCol="0" anchor="ctr"/>
          <a:lstStyle/>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Is balance sensitivity blended, or do you have it by segment?</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What share of the US$5.7B sits in the top decile of balances?</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What is the income-landing rate today? I assumed 8%.</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What is the real risk-adjusted marginal credit yield?</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What did the 15→11.5 cut do to new acquisition, not just retention?</a:t>
            </a:r>
            <a:endParaRPr lang="en-US" sz="1200" dirty="0"/>
          </a:p>
          <a:p>
            <a:pPr marL="342900" indent="-342900">
              <a:lnSpc>
                <a:spcPts val="1800"/>
              </a:lnSpc>
              <a:spcAft>
                <a:spcPts val="700"/>
              </a:spcAft>
              <a:buSzPct val="100000"/>
              <a:buChar char="•"/>
            </a:pPr>
            <a:r>
              <a:rPr lang="en-US" sz="1200" dirty="0">
                <a:solidFill>
                  <a:srgbClr val="2F2740"/>
                </a:solidFill>
                <a:latin typeface="Calibri" pitchFamily="34" charset="0"/>
                <a:ea typeface="Calibri" pitchFamily="34" charset="-122"/>
                <a:cs typeface="Calibri" pitchFamily="34" charset="-120"/>
              </a:rPr>
              <a:t>Why did retention hold — brand, inertia, or switching cost? That answer changes the entire pricing strategy.</a:t>
            </a:r>
            <a:endParaRPr lang="en-US" sz="1200" dirty="0"/>
          </a:p>
        </p:txBody>
      </p:sp>
      <p:sp>
        <p:nvSpPr>
          <p:cNvPr id="11" name="Text 9"/>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I would expect at least one of these assumptions to be wrong in a way that changes the plan. Finding out which is the first job.</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9102A"/>
        </a:solidFill>
      </p:bgPr>
    </p:bg>
    <p:spTree>
      <p:nvGrpSpPr>
        <p:cNvPr id="1" name=""/>
        <p:cNvGrpSpPr/>
        <p:nvPr/>
      </p:nvGrpSpPr>
      <p:grpSpPr>
        <a:xfrm>
          <a:off x="0" y="0"/>
          <a:ext cx="0" cy="0"/>
          <a:chOff x="0" y="0"/>
          <a:chExt cx="0" cy="0"/>
        </a:xfrm>
      </p:grpSpPr>
      <p:sp>
        <p:nvSpPr>
          <p:cNvPr id="2" name="Shape 0"/>
          <p:cNvSpPr/>
          <p:nvPr/>
        </p:nvSpPr>
        <p:spPr>
          <a:xfrm>
            <a:off x="566928" y="2286000"/>
            <a:ext cx="137160" cy="137160"/>
          </a:xfrm>
          <a:prstGeom prst="ellipse">
            <a:avLst/>
          </a:prstGeom>
          <a:solidFill>
            <a:srgbClr val="B65CE8"/>
          </a:solidFill>
          <a:ln/>
        </p:spPr>
      </p:sp>
      <p:sp>
        <p:nvSpPr>
          <p:cNvPr id="3" name="Text 1"/>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200" kern="0" dirty="0">
                <a:solidFill>
                  <a:srgbClr val="B65CE8"/>
                </a:solidFill>
                <a:latin typeface="Arial" pitchFamily="34" charset="0"/>
                <a:ea typeface="Arial" pitchFamily="34" charset="-122"/>
                <a:cs typeface="Arial" pitchFamily="34" charset="-120"/>
              </a:rPr>
              <a:t>IN ONE SENTENCE</a:t>
            </a:r>
            <a:endParaRPr lang="en-US" sz="1100" dirty="0"/>
          </a:p>
        </p:txBody>
      </p:sp>
      <p:sp>
        <p:nvSpPr>
          <p:cNvPr id="4" name="Text 2"/>
          <p:cNvSpPr txBox="1"/>
          <p:nvPr/>
        </p:nvSpPr>
        <p:spPr>
          <a:xfrm>
            <a:off x="566928" y="2633472"/>
            <a:ext cx="11064240" cy="2331720"/>
          </a:xfrm>
          <a:prstGeom prst="rect">
            <a:avLst/>
          </a:prstGeom>
          <a:noFill/>
          <a:ln/>
        </p:spPr>
        <p:txBody>
          <a:bodyPr wrap="square" lIns="0" tIns="0" rIns="0" bIns="0" rtlCol="0" anchor="ctr"/>
          <a:lstStyle/>
          <a:p>
            <a:pPr indent="0" marL="0">
              <a:lnSpc>
                <a:spcPts val="4400"/>
              </a:lnSpc>
              <a:buNone/>
            </a:pPr>
            <a:r>
              <a:rPr lang="en-US" sz="3100" b="1" dirty="0">
                <a:solidFill>
                  <a:srgbClr val="FFFFFF"/>
                </a:solidFill>
                <a:latin typeface="Arial" pitchFamily="34" charset="0"/>
                <a:ea typeface="Arial" pitchFamily="34" charset="-122"/>
                <a:cs typeface="Arial" pitchFamily="34" charset="-120"/>
              </a:rPr>
              <a:t>You are not short of deposits.</a:t>
            </a:r>
            <a:endParaRPr lang="en-US" sz="3100" dirty="0"/>
          </a:p>
          <a:p>
            <a:pPr indent="0" marL="0">
              <a:lnSpc>
                <a:spcPts val="4400"/>
              </a:lnSpc>
              <a:buNone/>
            </a:pPr>
            <a:r>
              <a:rPr lang="en-US" sz="3100" b="1" dirty="0">
                <a:solidFill>
                  <a:srgbClr val="FFFFFF"/>
                </a:solidFill>
                <a:latin typeface="Arial" pitchFamily="34" charset="0"/>
                <a:ea typeface="Arial" pitchFamily="34" charset="-122"/>
                <a:cs typeface="Arial" pitchFamily="34" charset="-120"/>
              </a:rPr>
              <a:t>You are short of visible income —</a:t>
            </a:r>
            <a:endParaRPr lang="en-US" sz="3100" dirty="0"/>
          </a:p>
          <a:p>
            <a:pPr indent="0" marL="0">
              <a:lnSpc>
                <a:spcPts val="4400"/>
              </a:lnSpc>
              <a:buNone/>
            </a:pPr>
            <a:r>
              <a:rPr lang="en-US" sz="3100" b="1" dirty="0">
                <a:solidFill>
                  <a:srgbClr val="FFFFFF"/>
                </a:solidFill>
                <a:latin typeface="Arial" pitchFamily="34" charset="0"/>
                <a:ea typeface="Arial" pitchFamily="34" charset="-122"/>
                <a:cs typeface="Arial" pitchFamily="34" charset="-120"/>
              </a:rPr>
              <a:t>and that is a product problem before it is a pricing one.</a:t>
            </a:r>
            <a:endParaRPr lang="en-US" sz="3100" dirty="0"/>
          </a:p>
        </p:txBody>
      </p:sp>
      <p:sp>
        <p:nvSpPr>
          <p:cNvPr id="5" name="Text 3"/>
          <p:cNvSpPr txBox="1"/>
          <p:nvPr/>
        </p:nvSpPr>
        <p:spPr>
          <a:xfrm>
            <a:off x="566928" y="5120640"/>
            <a:ext cx="10881360" cy="320040"/>
          </a:xfrm>
          <a:prstGeom prst="rect">
            <a:avLst/>
          </a:prstGeom>
          <a:noFill/>
          <a:ln/>
        </p:spPr>
        <p:txBody>
          <a:bodyPr wrap="square" lIns="0" tIns="0" rIns="0" bIns="0" rtlCol="0" anchor="ctr"/>
          <a:lstStyle/>
          <a:p>
            <a:pPr indent="0" marL="0">
              <a:buNone/>
            </a:pPr>
            <a:r>
              <a:rPr lang="en-US" sz="1200" dirty="0">
                <a:solidFill>
                  <a:srgbClr val="9C8CB5"/>
                </a:solidFill>
                <a:latin typeface="Calibri" pitchFamily="34" charset="0"/>
                <a:ea typeface="Calibri" pitchFamily="34" charset="-122"/>
                <a:cs typeface="Calibri" pitchFamily="34" charset="-120"/>
              </a:rPr>
              <a:t>Interactive model and both product flows:  claude.ai/code/artifact/93da0992-7c28-4c92-81cd-f67f16a3cfaa</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630936"/>
            <a:ext cx="100584" cy="100584"/>
          </a:xfrm>
          <a:prstGeom prst="ellipse">
            <a:avLst/>
          </a:prstGeom>
          <a:solidFill>
            <a:srgbClr val="820AD1"/>
          </a:solidFill>
          <a:ln/>
        </p:spPr>
      </p:sp>
      <p:sp>
        <p:nvSpPr>
          <p:cNvPr id="3" name="Text 1"/>
          <p:cNvSpPr txBox="1"/>
          <p:nvPr/>
        </p:nvSpPr>
        <p:spPr>
          <a:xfrm>
            <a:off x="768096" y="548640"/>
            <a:ext cx="10058400" cy="237744"/>
          </a:xfrm>
          <a:prstGeom prst="rect">
            <a:avLst/>
          </a:prstGeom>
          <a:noFill/>
          <a:ln/>
        </p:spPr>
        <p:txBody>
          <a:bodyPr wrap="square" lIns="0" tIns="0" rIns="0" bIns="0" rtlCol="0" anchor="ctr"/>
          <a:lstStyle/>
          <a:p>
            <a:pPr indent="0" marL="0">
              <a:buNone/>
            </a:pPr>
            <a:r>
              <a:rPr lang="en-US" sz="1050" b="1" spc="160" kern="0" dirty="0">
                <a:solidFill>
                  <a:srgbClr val="820AD1"/>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66928" y="859536"/>
            <a:ext cx="11057839" cy="777240"/>
          </a:xfrm>
          <a:prstGeom prst="rect">
            <a:avLst/>
          </a:prstGeom>
          <a:noFill/>
          <a:ln/>
        </p:spPr>
        <p:txBody>
          <a:bodyPr wrap="square" lIns="0" tIns="0" rIns="0" bIns="0" rtlCol="0" anchor="ctr"/>
          <a:lstStyle/>
          <a:p>
            <a:pPr indent="0" marL="0">
              <a:lnSpc>
                <a:spcPts val="3400"/>
              </a:lnSpc>
              <a:buNone/>
            </a:pPr>
            <a:r>
              <a:rPr lang="en-US" sz="3100" b="1" dirty="0">
                <a:solidFill>
                  <a:srgbClr val="19102A"/>
                </a:solidFill>
                <a:latin typeface="Arial" pitchFamily="34" charset="0"/>
                <a:ea typeface="Arial" pitchFamily="34" charset="-122"/>
                <a:cs typeface="Arial" pitchFamily="34" charset="-120"/>
              </a:rPr>
              <a:t>Sources</a:t>
            </a:r>
            <a:endParaRPr lang="en-US" sz="3100" dirty="0"/>
          </a:p>
        </p:txBody>
      </p:sp>
      <p:sp>
        <p:nvSpPr>
          <p:cNvPr id="5" name="Text 3"/>
          <p:cNvSpPr txBox="1"/>
          <p:nvPr/>
        </p:nvSpPr>
        <p:spPr>
          <a:xfrm>
            <a:off x="566928" y="1783080"/>
            <a:ext cx="11064240" cy="3931920"/>
          </a:xfrm>
          <a:prstGeom prst="rect">
            <a:avLst/>
          </a:prstGeom>
          <a:noFill/>
          <a:ln/>
        </p:spPr>
        <p:txBody>
          <a:bodyPr wrap="square" lIns="0" tIns="0" rIns="0" bIns="0" rtlCol="0" anchor="ctr"/>
          <a:lstStyle/>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Nu Holdings Q2 2026 results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16M customers, US$5.7B Mexico deposits, 35% loan-to-deposit, ARPAC US$17.10, cost of deposits at 88% of interbank rates, Mexico break-even in Q1 2026.</a:t>
            </a:r>
            <a:endParaRPr lang="en-US" sz="1200" dirty="0"/>
          </a:p>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CNBV / SHCP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banking licence authorised 10 July 2026; Nu México operating as a bank from 6 August 2026; SOFIPO conversion completed.</a:t>
            </a:r>
            <a:endParaRPr lang="en-US" sz="1200" dirty="0"/>
          </a:p>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IPAB vs. SOFIPO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deposit insurance from roughly US$12,614 to roughly US$201,000 per person.</a:t>
            </a:r>
            <a:endParaRPr lang="en-US" sz="1200" dirty="0"/>
          </a:p>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Banco de México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target rate 6.50%; CETES 28-day 6.49% at the auction of 1 September 2026; remittances US$30.76B in H1 2026.</a:t>
            </a:r>
            <a:endParaRPr lang="en-US" sz="1200" dirty="0"/>
          </a:p>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INEGI / CNBV ENIF 2024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76.5% of adults hold a formal product; 63% a savings account; 37.3% access to formal credit (men 28.2%, women 18.3%).</a:t>
            </a:r>
            <a:endParaRPr lang="en-US" sz="1200" dirty="0"/>
          </a:p>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INEGI ENOE Q2 2026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55.1% labour informality, 33.1 million workers. IMSS July 2026 — 22.76 million formal jobs.</a:t>
            </a:r>
            <a:endParaRPr lang="en-US" sz="1200" dirty="0"/>
          </a:p>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CONDUSEF / Banxico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portabilidad de nómina: worker-initiated, free of charge, begins within 11 business days, cancellable in 3.</a:t>
            </a:r>
            <a:endParaRPr lang="en-US" sz="1200" dirty="0"/>
          </a:p>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Nu México product pages, Sept 2026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published rate card (Cajita 24/7 6.50%, Cajita Turbo 13.00% capped MX$25,000 on one card purchase a month, Ahorro Congelado 6.55–6.80%); credit-card automatic payment, funded from the Nu debit account, on a customer-selected cut-off or due date; Nu+ rewards, 3% in points at MX$0.10 a point on a MX$33.34 minimum, redeemable into a Cajita.</a:t>
            </a:r>
            <a:endParaRPr lang="en-US" sz="1200" dirty="0"/>
          </a:p>
          <a:p>
            <a:pPr indent="0" marL="0">
              <a:lnSpc>
                <a:spcPts val="1900"/>
              </a:lnSpc>
              <a:spcAft>
                <a:spcPts val="600"/>
              </a:spcAft>
              <a:buNone/>
            </a:pPr>
            <a:r>
              <a:rPr lang="en-US" sz="1200" b="1" dirty="0">
                <a:solidFill>
                  <a:srgbClr val="2F2740"/>
                </a:solidFill>
                <a:latin typeface="Calibri" pitchFamily="34" charset="0"/>
                <a:ea typeface="Calibri" pitchFamily="34" charset="-122"/>
                <a:cs typeface="Calibri" pitchFamily="34" charset="-120"/>
              </a:rPr>
              <a:t>Competitive — </a:t>
            </a:r>
            <a:pPr indent="0" marL="0">
              <a:lnSpc>
                <a:spcPts val="1900"/>
              </a:lnSpc>
              <a:spcAft>
                <a:spcPts val="600"/>
              </a:spcAft>
              <a:buNone/>
            </a:pPr>
            <a:r>
              <a:rPr lang="en-US" sz="1200" dirty="0">
                <a:solidFill>
                  <a:srgbClr val="2F2740"/>
                </a:solidFill>
                <a:latin typeface="Calibri" pitchFamily="34" charset="0"/>
                <a:ea typeface="Calibri" pitchFamily="34" charset="-122"/>
                <a:cs typeface="Calibri" pitchFamily="34" charset="-120"/>
              </a:rPr>
              <a:t>Stori licensed 2023, Revolut 2024; Mercado Pago and Klar applications pending with CNBV. BBVA México ~26.7% market share, strong in cards and payroll lending.</a:t>
            </a:r>
            <a:endParaRPr lang="en-US" sz="1200" dirty="0"/>
          </a:p>
        </p:txBody>
      </p:sp>
      <p:sp>
        <p:nvSpPr>
          <p:cNvPr id="6" name="Text 4"/>
          <p:cNvSpPr txBox="1"/>
          <p:nvPr/>
        </p:nvSpPr>
        <p:spPr>
          <a:xfrm>
            <a:off x="566928" y="6382512"/>
            <a:ext cx="11057839" cy="274320"/>
          </a:xfrm>
          <a:prstGeom prst="rect">
            <a:avLst/>
          </a:prstGeom>
          <a:noFill/>
          <a:ln/>
        </p:spPr>
        <p:txBody>
          <a:bodyPr wrap="square" lIns="0" tIns="0" rIns="0" bIns="0" rtlCol="0" anchor="ctr"/>
          <a:lstStyle/>
          <a:p>
            <a:pPr indent="0" marL="0">
              <a:buNone/>
            </a:pPr>
            <a:r>
              <a:rPr lang="en-US" sz="950" i="1" dirty="0">
                <a:solidFill>
                  <a:srgbClr val="6E6484"/>
                </a:solidFill>
                <a:latin typeface="Calibri" pitchFamily="34" charset="0"/>
                <a:ea typeface="Calibri" pitchFamily="34" charset="-122"/>
                <a:cs typeface="Calibri" pitchFamily="34" charset="-120"/>
              </a:rPr>
              <a:t>Public sources only. Every figure not attributed above is my assumption and is marked as such in the model.</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Income Lands - Core Mexico Business Case</dc:title>
  <dc:subject>PptxGenJS Presentation</dc:subject>
  <dc:creator>Product Director candidate, Core Mexico</dc:creator>
  <cp:lastModifiedBy>Product Director candidate, Core Mexico</cp:lastModifiedBy>
  <cp:revision>1</cp:revision>
  <dcterms:created xsi:type="dcterms:W3CDTF">2026-09-02T17:52:19Z</dcterms:created>
  <dcterms:modified xsi:type="dcterms:W3CDTF">2026-09-02T17:52:19Z</dcterms:modified>
</cp:coreProperties>
</file>