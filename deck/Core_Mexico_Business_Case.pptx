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9102A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9102A"/>
                </a:solidFill>
                <a:latin typeface="Arial"/>
              </a:rPr>
              <a:t>Marginal spread on the next peso (pp)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Marginal spread</c:v>
                </c:pt>
              </c:strCache>
            </c:strRef>
          </c:tx>
          <c:spPr>
            <a:solidFill>
              <a:srgbClr val="B01030"/>
            </a:solidFill>
            <a:effectLst/>
          </c:spPr>
          <c:invertIfNegative val="0"/>
          <c:dLbls>
            <c:numFmt formatCode="0.0&quot;pp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910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0103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20AD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Today · 35% LDR</c:v>
                  </c:pt>
                  <c:pt idx="1">
                    <c:v>With income visibility · 60% LDR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1.5</c:v>
                </c:pt>
                <c:pt idx="1">
                  <c:v>6.1</c:v>
                </c:pt>
              </c:numCache>
            </c:numRef>
          </c:val>
        </c:ser>
        <c:dLbls>
          <c:numFmt formatCode="0.0&quot;pp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910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48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12700" cap="flat">
              <a:solidFill>
                <a:srgbClr val="E2DC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Open: I have built a working pricing model and two clickable product flows rather than only slides. I will demo both, and every assumption in the model is a slider you can move while I am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Sixty seconds, warmly, then move. This is the credibility opener, not a gotcha. Stori has been a bank since 2023, Revolut since 2024. Every strategy for preparing for a licence is now a strategy for spending an advantage before it is competed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challenged on 25%, open the simulator here rather than defending it verbally. Say the word assumption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Forty seconds of clicking, then talk over it. Do not narrate the UI — narrate the number that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stop talking. Do not add a summary after this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212848"/>
            <a:ext cx="137160" cy="137160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214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CASE  ·  PRODUCT DIRECTOR, CORE MÉXICO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542032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income lands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3730752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D8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 México is not deposit-constrained. It is constrained by how much income it can see.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029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name]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59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Diego Sierra, Oscar Vargas, Amanda Legge, Ana Acosta, and global product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59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September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already past the starting line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3429000" cy="1298448"/>
          </a:xfrm>
          <a:prstGeom prst="roundRect">
            <a:avLst>
              <a:gd name="adj" fmla="val 4225"/>
            </a:avLst>
          </a:prstGeom>
          <a:solidFill>
            <a:srgbClr val="2A1D3D"/>
          </a:solidFill>
          <a:ln w="12700">
            <a:solidFill>
              <a:srgbClr val="47325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JUL 2026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4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CNBV and SHCP authorise the licence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270248" y="1874520"/>
            <a:ext cx="3429000" cy="1298448"/>
          </a:xfrm>
          <a:prstGeom prst="roundRect">
            <a:avLst>
              <a:gd name="adj" fmla="val 4225"/>
            </a:avLst>
          </a:prstGeom>
          <a:solidFill>
            <a:srgbClr val="2A1D3D"/>
          </a:solidFill>
          <a:ln w="12700">
            <a:solidFill>
              <a:srgbClr val="47325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2057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AUG 2026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37744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4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 México begins operating as a full bank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973568" y="1874520"/>
            <a:ext cx="3429000" cy="1298448"/>
          </a:xfrm>
          <a:prstGeom prst="roundRect">
            <a:avLst>
              <a:gd name="adj" fmla="val 4225"/>
            </a:avLst>
          </a:prstGeom>
          <a:solidFill>
            <a:srgbClr val="2A1D3D"/>
          </a:solidFill>
          <a:ln w="12700">
            <a:solidFill>
              <a:srgbClr val="47325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2057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SEP 2026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37744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4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days in. Mercado Pago and Klar still queuing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01568"/>
            <a:ext cx="10881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BFB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 asks how I would sequence the transition into a licensed bank. From the public record, that transition is done.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91363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question is not how to prepare for a licence.</a:t>
            </a:r>
            <a:endParaRPr lang="en-US" sz="25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what to do with a window that is already closing.</a:t>
            </a:r>
            <a:endParaRPr lang="en-US" sz="25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513892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B65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licence uniquely unlocks: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9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 hosting  ·  IPAB insurance, up from ~US$12.6K to ~US$201K per person  ·  payroll portability  ·  higher deposit limits  ·  investments  ·  higher-value lending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that should be running the roadmap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556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16M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25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~16.5% of Mexican adults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18688" y="17556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US$5.7B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218688" y="23225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218688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deliberately shrinking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7556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5870448" y="23225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LOAN-TO-DEPOSIT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870448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thirds sits in CETES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522208" y="17556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522208" y="232257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 EVEN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522208" y="2560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years faster than Brazil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310128"/>
            <a:ext cx="5989320" cy="2240280"/>
          </a:xfrm>
          <a:prstGeom prst="roundRect">
            <a:avLst>
              <a:gd name="adj" fmla="val 244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" y="34930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marginal peso of deposit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" y="384048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35% LDR    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0.35 × 25% + 0.65 × 6.49%  =  13.0% asset yield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11.5% cost of funds   =  </a:t>
            </a:r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B01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1.5pp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49560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60% LDR the same peso earns  </a:t>
            </a:r>
            <a:pPr indent="0" marL="0">
              <a:buNone/>
            </a:pPr>
            <a:r>
              <a:rPr lang="en-US" sz="1600" b="1" dirty="0">
                <a:solidFill>
                  <a:srgbClr val="0E7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6.1pp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6858000" y="3246120"/>
          <a:ext cx="475488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66928" y="577900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peso is not unprofitable. It earns about a quarter of what it should — a deployment problem, not a pricing problem.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 results. Net credit yield of 25% is my assumption, not company data — it is a slider in the model and the conclusion holds from 15% to 35%.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2.1.1  CORE VALUE PROPOSITION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account your money arrives in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i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“La cuenta donde llega tu dinero.”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317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account it sits in.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2852928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0175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9184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lands here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576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Nómina · remesas · plataformas · recurring deposits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55371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acquisition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70248" y="2852928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6280" y="30175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329184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Relationship-priced yield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36576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Quoted as a spread over CETES, premium attached to income landing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455371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cost of funds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73568" y="2852928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0" y="30175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MULTIPLIER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329184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and protection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36576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Sized on income we can actually see, not on a thin-file score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55371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the 35% LDR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2578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“the best rate in Mexico”?  </a:t>
            </a:r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it is matchable in a week by any licensed competitor, and it selects for exactly the customers we least want. Income landing is a habit. A rate is a price. Habits are defensible.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2.1.1  MASS-MARKET BUNDLES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tiers, earned by behaviour — not by balance</a:t>
            </a:r>
            <a:endParaRPr lang="en-US" sz="3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6492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920240"/>
                <a:gridCol w="28346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910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 Base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20AD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 Nómina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E64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you qualify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customer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91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Recurring income lands at Nu — documented or observed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E64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CETES + 1.5%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91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CETES + 4.0%, up to a balance cap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E64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Score-based, thin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91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 sized on observed income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E64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91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Micro-cover included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E64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costs 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91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per peso of balance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360920" y="1783080"/>
            <a:ext cx="4279392" cy="3977640"/>
          </a:xfrm>
          <a:prstGeom prst="roundRect">
            <a:avLst>
              <a:gd name="adj" fmla="val 137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16952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design decisions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616952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936992" y="23591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tiers, not five.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936992" y="263347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market punishes complexity. Every tier is a support call.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616952" y="3200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936992" y="31821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premium is a behaviour, not a balance.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936992" y="345643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pay up only for money that arrives with data behind it.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616952" y="4023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936992" y="40050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 the premium balance.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7936992" y="427939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buying the relationship, not the treasury balance.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616952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936992" y="48280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tier, two doors.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7936992" y="510235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and observed income reach identical terms.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“One tier, two doors” is the inclusion argument and the fairness argument at once: if the informal tier is not a lower tier, there is no disparate outcome to explain.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2.1.2  STRATEGY AND SEQUENCING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months, ordered by what expires first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1907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A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principle:  </a:t>
            </a:r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thing that expires is licence exclusivity. Anything a licensed competitor could also do goes later. Anything only we can do right now goes first.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3429000" cy="3246120"/>
          </a:xfrm>
          <a:prstGeom prst="roundRect">
            <a:avLst>
              <a:gd name="adj" fmla="val 1690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4688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 · MONTHS 0–6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4320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the funding thesis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401568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Re-quote yield as a spread over CETES — no headline cut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portability to the cohort already visible in our data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β by segment via a geographic holdout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956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completed first salary landings — not sign-ups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70248" y="2286000"/>
            <a:ext cx="3429000" cy="3246120"/>
          </a:xfrm>
          <a:prstGeom prst="roundRect">
            <a:avLst>
              <a:gd name="adj" fmla="val 1690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24688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· MONTHS 7–12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74320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the anchor before the window closes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3401568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B: consent flow, income estimator, same tier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lines sized on observed income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GA and protection attach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4956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LDR, and cost of funds against TIIE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973568" y="2286000"/>
            <a:ext cx="3429000" cy="3246120"/>
          </a:xfrm>
          <a:prstGeom prst="roundRect">
            <a:avLst>
              <a:gd name="adj" fmla="val 1690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0" y="24688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 · MONTHS 13–24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274320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the anchor into ARPAC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3401568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Investments — newly licensable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de nómina and higher-value lending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Employer-side offer, only now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956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with an HR sales motion is how a challenger loses this market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Employer-side distribution is deliberately last: the incumbents have sold to HR for thirty years, and consumer pull is the only motion where a challenger starts ahead.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2.1.3  PRICING AND YIELD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moves, and the data behind each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801368"/>
            <a:ext cx="310896" cy="310896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83794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783080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Quote a spread, not a number.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203704"/>
            <a:ext cx="3310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“CETES + 4.00%”, not “10.49%”. As Banxico cuts, funding cost falls automatically and there is never a “Nu cut your rate” headline — because we did not.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98848" y="1801368"/>
            <a:ext cx="310896" cy="310896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98848" y="183794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919472" y="1783080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the relationship, not the balance.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919472" y="2203704"/>
            <a:ext cx="3310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premium requires income landing and is capped. We pay up only for money that brings data and stickiness with it.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282696"/>
            <a:ext cx="310896" cy="310896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331927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3264408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β. Never blend it.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3685032"/>
            <a:ext cx="3310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is two populations: brand-acquired at β near zero, and rate-shoppers. A blended β makes every cut look safe until it suddenly is not.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498848" y="3282696"/>
            <a:ext cx="310896" cy="310896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98848" y="331927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919472" y="3264408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Retire “deposit growth” as a goal.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919472" y="3685032"/>
            <a:ext cx="3310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35% LDR it is a cost line wearing a growth metric’s clothes. Replace with deployable deposits and cost of funds against TIIE.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229600" y="1783080"/>
            <a:ext cx="3410712" cy="3931920"/>
          </a:xfrm>
          <a:prstGeom prst="roundRect">
            <a:avLst>
              <a:gd name="adj" fmla="val 160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85632" y="1965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 would ask for in week one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485632" y="2542032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by segment, from a geographic rate holdout — not a blended number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by acquisition source: yield-acquired vs. income-acquired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concentration — does the premium cap even bind?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Attrition elasticity vs. the competitor gap, not vs. our own rate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risk-adjusted credit yield — is deployment actually accretive?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48920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9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trade-off, said out loud: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is our biggest acquisition asset and our biggest cost line at the same time. That is exactly why I would not cut the headline — I would change what it is quoted against, and what it is attached to.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2.1.3  LIVE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pricing decision, not the pricing principle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08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“…including the actual trade-offs and data you would use to make a pricing decision, not just the strategic principles behind it.”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523744"/>
            <a:ext cx="365760" cy="365760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5786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48716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675888" y="25146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1.6pp on the next peso. The business as the public numbers describe it.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3483864"/>
            <a:ext cx="365760" cy="365760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5387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" y="344728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the rate only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75888" y="34747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improves — and we lose about a tenth of the balances. It works once.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4443984"/>
            <a:ext cx="365760" cy="365760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4498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15568" y="44074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24-month plan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675888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rate. Never touched the yield slider. LDR to ~56%, spread to ~6pp.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03920" y="2377440"/>
            <a:ext cx="3136392" cy="2651760"/>
          </a:xfrm>
          <a:prstGeom prst="roundRect">
            <a:avLst>
              <a:gd name="adj" fmla="val 2069"/>
            </a:avLst>
          </a:prstGeom>
          <a:solidFill>
            <a:srgbClr val="2A1D3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03920" y="2377440"/>
            <a:ext cx="3136392" cy="2651760"/>
          </a:xfrm>
          <a:prstGeom prst="roundRect">
            <a:avLst>
              <a:gd name="adj" fmla="val 2069"/>
            </a:avLst>
          </a:prstGeom>
          <a:solidFill>
            <a:srgbClr val="2A1D3D"/>
          </a:solidFill>
          <a:ln w="12700">
            <a:solidFill>
              <a:srgbClr val="54397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759952" y="2560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invite the attack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759952" y="2907792"/>
            <a:ext cx="2651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“Move any slider. The one I would move first is β — push it to 6 and the rate-cut story stops working. That asymmetry is the argument: a rate cut is a one-time harvest with rising risk. Income visibility compounds.”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6235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65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model and both product flows:  claude.ai/code/artifact/93da0992-7c28-4c92-81cd-f67f16a3cfaa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2.1.4  PRODUCT · TRACK 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Trae tu nómina — the wedge only a licensed bank has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22.76M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500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JOBS (IMSS)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8775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record, July 2026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355848" y="17830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~36%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355848" y="23500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ADULTS HAVE ONE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355848" y="258775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payroll account at all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144768" y="17830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~90%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144768" y="23500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THOSE AT BIG BANKS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144768" y="258775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incumbent moat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33688" y="17830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days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933688" y="235000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PORT ONE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933688" y="258775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by law, worker-initiated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310128"/>
            <a:ext cx="5669280" cy="2286000"/>
          </a:xfrm>
          <a:prstGeom prst="roundRect">
            <a:avLst>
              <a:gd name="adj" fmla="val 2400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" y="34930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wedge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" y="3822192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Portabilidad de nómina is the worker’s legal right. Banks cannot charge for it and cannot refuse it. No employer sale is required.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incumbent moat is a corporate contract signed years ago. Portability makes it irrelevant — the decision belongs to the worker.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92240" y="3310128"/>
            <a:ext cx="5148072" cy="2286000"/>
          </a:xfrm>
          <a:prstGeom prst="roundRect">
            <a:avLst>
              <a:gd name="adj" fmla="val 2400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48272" y="34930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I would hold the team to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748272" y="384048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the credit line, not the rate — the rate attracts the deposits we least want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completed first salary landings, never requests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11-day gap is where the funnel leaks: naming a date is the retention mechanic, not polish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one play that stops working the day Mercado Pago is licensed — which is what makes the next twelve months the whole strategy.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2.1.4  PRODUCT · TRACK B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 observado — same tier, different proof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373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55.1%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218688" y="178308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Mexico’s workforce is informal — 33.1 million people with no payslip to port. A formal-only strategy serves 44.6% of workers, in a country where only 37.3% of adults can access formal credit at all.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2788920"/>
            <a:ext cx="3566160" cy="2331720"/>
          </a:xfrm>
          <a:prstGeom prst="roundRect">
            <a:avLst>
              <a:gd name="adj" fmla="val 2353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9626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signals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91840"/>
            <a:ext cx="3063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rhythm and regularity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Remittances — US$30.76B in H1 2026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and gig payouts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deposit patterns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79392" y="2788920"/>
            <a:ext cx="3566160" cy="2331720"/>
          </a:xfrm>
          <a:prstGeom prst="roundRect">
            <a:avLst>
              <a:gd name="adj" fmla="val 2353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35424" y="29626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1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used — by policy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35424" y="3291840"/>
            <a:ext cx="30632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model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trails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 and messages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graph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35424" y="455371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predicts repayment. Every one is a proxy for class, region and ethnicity.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74152" y="2788920"/>
            <a:ext cx="3566160" cy="2331720"/>
          </a:xfrm>
          <a:prstGeom prst="roundRect">
            <a:avLst>
              <a:gd name="adj" fmla="val 2353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30184" y="29626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move nobody else makes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30184" y="329184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customer our income estimate — with the reasoning and an appeal path — before we price them on it.</a:t>
            </a:r>
            <a:endParaRPr lang="en-US" sz="1200" dirty="0"/>
          </a:p>
          <a:p>
            <a:pPr indent="0" marL="0">
              <a:lnSpc>
                <a:spcPts val="1650"/>
              </a:lnSpc>
              <a:buNone/>
            </a:pPr>
            <a:endParaRPr lang="en-US" sz="12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Contestability is what makes automated decisioning defensible, to the customer and to a supervisor.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have built this underwriting spine before, at Tala, for exactly this customer. The appeal path consistently produced better data than any feature we added.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  RESPONSIBLE AI AND PERSONALISATION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rule, then the guardrails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47088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Personalisation may only move a price in the customer’s favour.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962656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B65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decides eligibility, limits, timing and experience. It never decides that this customer will tolerate a worse price.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456432"/>
            <a:ext cx="5943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4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in mass-market pricing AI is not a biased model. It is a model working exactly as designed: price elasticity correlates with financial desperation, so a model optimising for willingness-to-pay charges the most to those least able to bear it. That is not a bug you catch in monitoring — it is the objective function. So constrain the objective rather than audit the outcome.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766560" y="3401568"/>
            <a:ext cx="4873752" cy="2286000"/>
          </a:xfrm>
          <a:prstGeom prst="roundRect">
            <a:avLst>
              <a:gd name="adj" fmla="val 2400"/>
            </a:avLst>
          </a:prstGeom>
          <a:solidFill>
            <a:srgbClr val="2A1D3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0" y="3401568"/>
            <a:ext cx="4873752" cy="2286000"/>
          </a:xfrm>
          <a:prstGeom prst="roundRect">
            <a:avLst>
              <a:gd name="adj" fmla="val 2400"/>
            </a:avLst>
          </a:prstGeom>
          <a:solidFill>
            <a:srgbClr val="2A1D3D"/>
          </a:solidFill>
          <a:ln w="12700">
            <a:solidFill>
              <a:srgbClr val="47325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22592" y="35661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22592" y="3895344"/>
            <a:ext cx="4389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features by policy, not by review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tested on outcomes — approval, limit and price parity by gender and state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that costs nothing to decline. If declining raises your price, it is not consent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risk governance under CNBV; reasons explainable to CONDUSEF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ENIF 2024 shows a 10 percentage-point gender gap in formal credit access — 28.2% of men against 18.3% of women. We should be closing that, not encoding it.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2.1.5  TEAM AND ORG DESIGN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Designing the pod, not just staffing it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5669280" cy="3566160"/>
          </a:xfrm>
          <a:prstGeom prst="roundRect">
            <a:avLst>
              <a:gd name="adj" fmla="val 1538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965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pod I would build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3591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218688" y="235915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proposition, bundles, pricing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84378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· Income &amp; Onboarding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218688" y="284378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A and B acquisition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32841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PM/APM · Pricing &amp; Yield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218688" y="332841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model, the holdouts, the rate-committee interface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38130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lead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218688" y="381304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open role — placed on Track B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42976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Embedded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218688" y="42976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analysts (pricing, credit-adjacent) + 1 data scientist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47823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Dotted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218688" y="478231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risk · legal and regulatory · treasury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92240" y="1783080"/>
            <a:ext cx="5148072" cy="3566160"/>
          </a:xfrm>
          <a:prstGeom prst="roundRect">
            <a:avLst>
              <a:gd name="adj" fmla="val 1538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48272" y="19659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org calls I would defend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748272" y="2395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59168" y="23774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 the pricing analyst before the second PM.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059168" y="2670048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here is decision quality, not shipping throughput.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748272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33649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ask to own Card or Account surfaces.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7059168" y="365760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the spec and the customer-level P&amp;L. Asking for org control costs six months and the relationship — and you lose anyway.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748272" y="43708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435254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the designer on Track B, not Track A.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7059168" y="4645152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 is a known pattern. Track B’s consent and explanation flows are where craft decides whether it works at all.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two open roles on the team, and the first PM reporting into this structure — how the pod is shaped now is how it scales.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  CROSS-FUNCTIONAL ALIGNMENT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what we are arguing about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1051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the Credit Card roadmap collides with a mass-market bundle on a regulatory clock.  </a:t>
            </a:r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would not try to win that argument on its own terms.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35000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3774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it one P&amp;L, not three roadmaps.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28620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does not own Card or GBA — so Core should own the currency. “My roadmap versus yours” cannot be won on evidence. “Which sequence makes this customer worth more” can.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70248" y="235000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270248" y="23774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672584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assets, not favours.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672584" y="28620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bring Card verified income: better approval rates, higher limits, lower losses. They give me placement. That is a trade with a number on it.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73568" y="235000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973568" y="23774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75904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let the regulatory date be my deadline.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375904" y="28620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 it is my launch date it is my problem and their favour. It is a shared compliance exposure — agreed with Legal before the conversation with Card, so it arrives as a fact.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164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90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Pre-agree the escalation path before you need it.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55371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Diego and the Card/GBA leads: what is mine, what is theirs, what goes up, and a time-box. Escalating without one wins a decision and costs the relationship.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270248" y="404164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70248" y="40690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672584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the smaller ask.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4672584" y="455371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Card genuinely cannot move, I ship without the card component and add it later. Shipping on time beats winning the argument.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  PRIORITISATION AND GLOBAL ALIGNMENT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priorities, and why in this order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176479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what we measure about deposits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235000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1–6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047488" y="1764792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 β via a geographic holdout. Re-quote yield as a spread. Retire deposit growth in favour of deployable deposits and cost of funds against TIIE.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430768" y="1764792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because it is nearly free, it is fast, and it is the evidence base for everything else. A new person with no credibility balance should spend month one producing evidence, not asking for headcount.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9169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225296" y="28986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Track A to the cohort we can already detect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25296" y="348386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4–16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047488" y="2898648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 for customers whose payroll pattern is already in our data. Measure completed first salary landings.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430768" y="2898648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because it is the expiring opportunity.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050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25296" y="40325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up Track B’s consent and estimate spine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25296" y="461772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10–26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047488" y="4032504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whole product — the consent flow, the estimator and the fairness harness, so H2 is an extension rather than a new build.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430768" y="4032504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because it has the longest lead time, so it has to start early even though it lands late.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5230368"/>
            <a:ext cx="11073384" cy="1060704"/>
          </a:xfrm>
          <a:prstGeom prst="roundRect">
            <a:avLst>
              <a:gd name="adj" fmla="val 5172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54315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820A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México globally: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argument is not “México is different”, it is “México is the proving ground”. Every market Nu enters next will arrive newly licensed, with a low LDR and no income visibility — exactly where México is now. Asks framed as local exceptions lose. Asks framed as reusable platform capability win.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RIGOUR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assumed, and what I would ask on day one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5486400" cy="3931920"/>
          </a:xfrm>
          <a:prstGeom prst="roundRect">
            <a:avLst>
              <a:gd name="adj" fmla="val 1395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965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Assumptions — all of them sliders in the model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359152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net credit yield after expected losses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 LDR floor with no income signal; 70% ceiling with it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income-landing attach reaches that ceiling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income landing today (calibration check: this yields 35.5% LDR against the 35% reported)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yield paid on all balances — deliberately conservative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constant. It is not: it rises once a licensed competitor advertises against us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27648" y="1783080"/>
            <a:ext cx="5312664" cy="3931920"/>
          </a:xfrm>
          <a:prstGeom prst="roundRect">
            <a:avLst>
              <a:gd name="adj" fmla="val 1395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1965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questions for week one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359152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β blended, or do you have it by segment?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share of the US$5.7B sits in the top decile of balances?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income-landing rate today? I assumed 8%.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real risk-adjusted marginal credit yield?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the 15→11.5 cut do to new acquisition, not just retention?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did retention hold — brand, inertia, or switching cost? That answer changes the entire pricing strategy.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would expect at least one of these assumptions to be wrong in a way that changes the plan. Finding out which is the first job.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286000"/>
            <a:ext cx="137160" cy="137160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94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SENTENCE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633472"/>
            <a:ext cx="110642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not short of deposits.</a:t>
            </a:r>
            <a:endParaRPr lang="en-US" sz="31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short of visible income —</a:t>
            </a:r>
            <a:endParaRPr lang="en-US" sz="31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that is a product problem before it is a pricing one.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51206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8C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model and both product flows:  claude.ai/code/artifact/93da0992-7c28-4c92-81cd-f67f16a3cfaa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11064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 Holdings Q2 2026 results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16M customers, US$5.7B Mexico deposits, 35% loan-to-deposit, ARPAC US$17.10, cost of deposits at 88% of interbank rates, Mexico break-even in Q1 2026.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CNBV / SHCP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licence authorised 10 July 2026; Nu México operating as a bank from 6 August 2026; SOFIPO conversion completed.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IPAB vs. SOFIPO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insurance from roughly US$12,614 to roughly US$201,000 per person.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México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rate 6.50%; CETES 28-day 6.49% at the auction of 1 September 2026; remittances US$30.76B in H1 2026.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INEGI / CNBV ENIF 2024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 of adults hold a formal product; 63% a savings account; 37.3% access to formal credit (men 28.2%, women 18.3%).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INEGI ENOE Q2 2026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55.1% labour informality, 33.1 million workers. IMSS July 2026 — 22.76 million formal jobs.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CONDUSEF / Banxico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portabilidad de nómina: worker-initiated, free of charge, begins within 11 business days, cancellable in 3.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 licensed 2023, Revolut 2024; Mercado Pago and Klar applications pending with CNBV. BBVA México ~26.7% market share, strong in cards and payroll lending.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 only. Every figure not attributed above is my assumption and is marked as such in the model.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Where Income Lands - Core Mexico Business Case</dc:title>
  <dc:subject>PptxGenJS Presentation</dc:subject>
  <dc:creator>Product Director candidate, Core Mexico</dc:creator>
  <cp:lastModifiedBy>Product Director candidate, Core Mexico</cp:lastModifiedBy>
  <cp:revision>1</cp:revision>
  <dcterms:created xsi:type="dcterms:W3CDTF">2026-09-02T16:29:36Z</dcterms:created>
  <dcterms:modified xsi:type="dcterms:W3CDTF">2026-09-02T16:29:36Z</dcterms:modified>
</cp:coreProperties>
</file>